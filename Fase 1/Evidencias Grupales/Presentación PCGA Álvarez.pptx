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Gotham" panose="020B0604020202020204" charset="0"/>
      <p:regular r:id="rId22"/>
    </p:embeddedFont>
    <p:embeddedFont>
      <p:font typeface="Gotham Bold" panose="020B0604020202020204" charset="0"/>
      <p:regular r:id="rId23"/>
    </p:embeddedFont>
    <p:embeddedFont>
      <p:font typeface="Open Sans" panose="020F0502020204030204" pitchFamily="34" charset="0"/>
      <p:regular r:id="rId24"/>
    </p:embeddedFont>
    <p:embeddedFont>
      <p:font typeface="Open Sa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45670" y="-4786679"/>
            <a:ext cx="12083401" cy="1208340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CD3CA">
                <a:alpha val="66667"/>
              </a:srgbClr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045670" y="-4786679"/>
            <a:ext cx="12083401" cy="1208340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38000"/>
              </a:blip>
              <a:stretch>
                <a:fillRect l="-24418" r="-2441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49389" y="-1482960"/>
            <a:ext cx="5475963" cy="54759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3670" y="3088308"/>
            <a:ext cx="12717821" cy="196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9"/>
              </a:lnSpc>
            </a:pPr>
            <a:r>
              <a:rPr lang="en-US" sz="1149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PCGA Álvarez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214862"/>
            <a:ext cx="2220602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Integrantes:</a:t>
            </a:r>
          </a:p>
          <a:p>
            <a:pPr algn="l">
              <a:lnSpc>
                <a:spcPts val="3479"/>
              </a:lnSpc>
            </a:pPr>
            <a:endParaRPr lang="en-US" sz="2400" b="1">
              <a:solidFill>
                <a:srgbClr val="45B9AD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Docente:</a:t>
            </a:r>
          </a:p>
          <a:p>
            <a:pPr algn="l">
              <a:lnSpc>
                <a:spcPts val="3479"/>
              </a:lnSpc>
            </a:pPr>
            <a:r>
              <a:rPr lang="en-US" sz="2400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Asignatura: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01621" y="8202467"/>
            <a:ext cx="8952757" cy="97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Jesús Bustamante Sandoval</a:t>
            </a:r>
          </a:p>
          <a:p>
            <a:pPr algn="l">
              <a:lnSpc>
                <a:spcPts val="2551"/>
              </a:lnSpc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Juakin Fredes Tapia</a:t>
            </a:r>
          </a:p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Antonia Sanhueza Parraguez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1621" y="9187774"/>
            <a:ext cx="8952757" cy="32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Mauricio Figueroa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01621" y="9581191"/>
            <a:ext cx="8952757" cy="32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1"/>
              </a:lnSpc>
              <a:spcBef>
                <a:spcPct val="0"/>
              </a:spcBef>
            </a:pPr>
            <a:r>
              <a:rPr lang="en-US" sz="1947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Capstone 002D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670" y="5879241"/>
            <a:ext cx="10785285" cy="54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6"/>
              </a:lnSpc>
              <a:spcBef>
                <a:spcPct val="0"/>
              </a:spcBef>
            </a:pPr>
            <a:r>
              <a:rPr lang="en-US" sz="2699">
                <a:solidFill>
                  <a:srgbClr val="45B9AD"/>
                </a:solidFill>
                <a:latin typeface="Gotham"/>
                <a:ea typeface="Gotham"/>
                <a:cs typeface="Gotham"/>
                <a:sym typeface="Gotham"/>
              </a:rPr>
              <a:t>Empresa Contratista en Enfierradura Carlos Álvarez Villar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670" y="5368319"/>
            <a:ext cx="11220708" cy="60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9"/>
              </a:lnSpc>
              <a:spcBef>
                <a:spcPct val="0"/>
              </a:spcBef>
            </a:pPr>
            <a:r>
              <a:rPr lang="en-US" sz="299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Plataforma Web Corporativa y de Gestión Administrativa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30" y="0"/>
            <a:ext cx="6769179" cy="10287000"/>
            <a:chOff x="0" y="0"/>
            <a:chExt cx="178282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2829" cy="2709333"/>
            </a:xfrm>
            <a:custGeom>
              <a:avLst/>
              <a:gdLst/>
              <a:ahLst/>
              <a:cxnLst/>
              <a:rect l="l" t="t" r="r" b="b"/>
              <a:pathLst>
                <a:path w="1782829" h="2709333">
                  <a:moveTo>
                    <a:pt x="0" y="0"/>
                  </a:moveTo>
                  <a:lnTo>
                    <a:pt x="1782829" y="0"/>
                  </a:lnTo>
                  <a:lnTo>
                    <a:pt x="178282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782829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26758" y="1333411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0" y="0"/>
            <a:ext cx="6792308" cy="10287000"/>
            <a:chOff x="0" y="0"/>
            <a:chExt cx="1052306" cy="15937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2306" cy="1593725"/>
            </a:xfrm>
            <a:custGeom>
              <a:avLst/>
              <a:gdLst/>
              <a:ahLst/>
              <a:cxnLst/>
              <a:rect l="l" t="t" r="r" b="b"/>
              <a:pathLst>
                <a:path w="1052306" h="1593725">
                  <a:moveTo>
                    <a:pt x="0" y="0"/>
                  </a:moveTo>
                  <a:lnTo>
                    <a:pt x="1052306" y="0"/>
                  </a:lnTo>
                  <a:lnTo>
                    <a:pt x="105230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62707" r="-6270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 rot="-5400000">
            <a:off x="273332" y="4096144"/>
            <a:ext cx="8762938" cy="209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0"/>
              </a:lnSpc>
              <a:spcBef>
                <a:spcPct val="0"/>
              </a:spcBef>
            </a:pPr>
            <a:r>
              <a:rPr lang="en-US" sz="10444" b="1">
                <a:solidFill>
                  <a:srgbClr val="FEFFFF"/>
                </a:solidFill>
                <a:latin typeface="Gotham Bold"/>
                <a:ea typeface="Gotham Bold"/>
                <a:cs typeface="Gotham Bold"/>
                <a:sym typeface="Gotham Bold"/>
              </a:rPr>
              <a:t>Contenido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7378" y="2038496"/>
            <a:ext cx="4516755" cy="692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Contexto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Problema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Necesidad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Solución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Requisitos Funcionales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Requisitos No Funcionales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Épicas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Arquitectura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Metodología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Evidencias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Cronograma</a:t>
            </a:r>
          </a:p>
          <a:p>
            <a:pPr algn="l">
              <a:lnSpc>
                <a:spcPts val="4640"/>
              </a:lnSpc>
            </a:pPr>
            <a:r>
              <a:rPr lang="en-US" sz="2563" spc="76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Conclusión 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202438" y="1695196"/>
            <a:ext cx="1113357" cy="7563104"/>
            <a:chOff x="0" y="0"/>
            <a:chExt cx="293230" cy="19919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93230" cy="1991929"/>
            </a:xfrm>
            <a:custGeom>
              <a:avLst/>
              <a:gdLst/>
              <a:ahLst/>
              <a:cxnLst/>
              <a:rect l="l" t="t" r="r" b="b"/>
              <a:pathLst>
                <a:path w="293230" h="1991929">
                  <a:moveTo>
                    <a:pt x="0" y="0"/>
                  </a:moveTo>
                  <a:lnTo>
                    <a:pt x="293230" y="0"/>
                  </a:lnTo>
                  <a:lnTo>
                    <a:pt x="293230" y="1991929"/>
                  </a:lnTo>
                  <a:lnTo>
                    <a:pt x="0" y="1991929"/>
                  </a:lnTo>
                  <a:close/>
                </a:path>
              </a:pathLst>
            </a:custGeom>
            <a:solidFill>
              <a:srgbClr val="E7E9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52400"/>
              <a:ext cx="293230" cy="2144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01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02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03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04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05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06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07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08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09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10</a:t>
              </a:r>
            </a:p>
            <a:p>
              <a:pPr algn="ctr">
                <a:lnSpc>
                  <a:spcPts val="4640"/>
                </a:lnSpc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11</a:t>
              </a:r>
            </a:p>
            <a:p>
              <a:pPr marL="0" lvl="0" indent="0" algn="ctr">
                <a:lnSpc>
                  <a:spcPts val="4640"/>
                </a:lnSpc>
                <a:spcBef>
                  <a:spcPct val="0"/>
                </a:spcBef>
              </a:pPr>
              <a:r>
                <a:rPr lang="en-US" sz="2563" b="1" spc="76">
                  <a:solidFill>
                    <a:srgbClr val="332B22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04208" y="0"/>
            <a:ext cx="6783792" cy="10287000"/>
            <a:chOff x="0" y="0"/>
            <a:chExt cx="178667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678" cy="2709333"/>
            </a:xfrm>
            <a:custGeom>
              <a:avLst/>
              <a:gdLst/>
              <a:ahLst/>
              <a:cxnLst/>
              <a:rect l="l" t="t" r="r" b="b"/>
              <a:pathLst>
                <a:path w="1786678" h="2709333">
                  <a:moveTo>
                    <a:pt x="0" y="0"/>
                  </a:moveTo>
                  <a:lnTo>
                    <a:pt x="1786678" y="0"/>
                  </a:lnTo>
                  <a:lnTo>
                    <a:pt x="17866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786678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04208" y="0"/>
            <a:ext cx="6783792" cy="7622135"/>
            <a:chOff x="0" y="0"/>
            <a:chExt cx="671593" cy="7545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1593" cy="754589"/>
            </a:xfrm>
            <a:custGeom>
              <a:avLst/>
              <a:gdLst/>
              <a:ahLst/>
              <a:cxnLst/>
              <a:rect l="l" t="t" r="r" b="b"/>
              <a:pathLst>
                <a:path w="671593" h="754589">
                  <a:moveTo>
                    <a:pt x="0" y="0"/>
                  </a:moveTo>
                  <a:lnTo>
                    <a:pt x="671593" y="0"/>
                  </a:lnTo>
                  <a:lnTo>
                    <a:pt x="671593" y="754589"/>
                  </a:lnTo>
                  <a:lnTo>
                    <a:pt x="0" y="754589"/>
                  </a:lnTo>
                  <a:close/>
                </a:path>
              </a:pathLst>
            </a:custGeom>
            <a:blipFill>
              <a:blip r:embed="rId2">
                <a:alphaModFix amt="56000"/>
              </a:blip>
              <a:stretch>
                <a:fillRect l="-50811" r="-1772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6173" y="2053029"/>
            <a:ext cx="10578048" cy="656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6"/>
              </a:lnSpc>
            </a:pPr>
            <a:endParaRPr/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Empresa fue fundada hace más de 25 años en Viña del Mar. 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Cuenta con un prestigio consolidado a través de tres generaciones familiares.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Vasto historial laboral en proyectos comprobables en el sector habitacional en altura (Concón, Reñaca), comercial (Tottus, Cencosud) e Industrial (Codelco)</a:t>
            </a:r>
          </a:p>
          <a:p>
            <a:pPr marL="677637" lvl="1" indent="-338818" algn="l">
              <a:lnSpc>
                <a:spcPts val="4582"/>
              </a:lnSpc>
              <a:buFont typeface="Arial"/>
              <a:buChar char="•"/>
            </a:pPr>
            <a:r>
              <a:rPr lang="en-US" sz="3138" spc="94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Cuentan con maquinaria industrial propia para garantizar rendimiento, calidad y cumplimiento de plazos en obra.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128" y="335898"/>
            <a:ext cx="7564416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92" y="-34742"/>
            <a:ext cx="18288000" cy="5314414"/>
            <a:chOff x="0" y="0"/>
            <a:chExt cx="3458436" cy="10050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58436" cy="1005006"/>
            </a:xfrm>
            <a:custGeom>
              <a:avLst/>
              <a:gdLst/>
              <a:ahLst/>
              <a:cxnLst/>
              <a:rect l="l" t="t" r="r" b="b"/>
              <a:pathLst>
                <a:path w="3458436" h="1005006">
                  <a:moveTo>
                    <a:pt x="0" y="0"/>
                  </a:moveTo>
                  <a:lnTo>
                    <a:pt x="3458436" y="0"/>
                  </a:lnTo>
                  <a:lnTo>
                    <a:pt x="3458436" y="1005006"/>
                  </a:lnTo>
                  <a:lnTo>
                    <a:pt x="0" y="1005006"/>
                  </a:ln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34742"/>
            <a:ext cx="18288000" cy="5314414"/>
            <a:chOff x="0" y="0"/>
            <a:chExt cx="3458436" cy="10050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8436" cy="1005006"/>
            </a:xfrm>
            <a:custGeom>
              <a:avLst/>
              <a:gdLst/>
              <a:ahLst/>
              <a:cxnLst/>
              <a:rect l="l" t="t" r="r" b="b"/>
              <a:pathLst>
                <a:path w="3458436" h="1005006">
                  <a:moveTo>
                    <a:pt x="0" y="0"/>
                  </a:moveTo>
                  <a:lnTo>
                    <a:pt x="3458436" y="0"/>
                  </a:lnTo>
                  <a:lnTo>
                    <a:pt x="3458436" y="1005006"/>
                  </a:lnTo>
                  <a:lnTo>
                    <a:pt x="0" y="1005006"/>
                  </a:lnTo>
                  <a:close/>
                </a:path>
              </a:pathLst>
            </a:custGeom>
            <a:blipFill>
              <a:blip r:embed="rId2">
                <a:alphaModFix amt="39000"/>
              </a:blip>
              <a:stretch>
                <a:fillRect t="-41557" b="-877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585655"/>
            <a:ext cx="8870578" cy="111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03"/>
              </a:lnSpc>
              <a:spcBef>
                <a:spcPct val="0"/>
              </a:spcBef>
            </a:pPr>
            <a:r>
              <a:rPr lang="en-US" sz="5557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9018" y="7063638"/>
            <a:ext cx="5827351" cy="228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 administrador de la empresa realiza los procedimientos analógicamente, perdiendo tiempo y sumando un esfuerzo extra a su trabajo.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5847" y="7063638"/>
            <a:ext cx="5137763" cy="226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Reciben pocas solicitudes de trabajo a pesar de los años de experiencia de la empresa.</a:t>
            </a:r>
          </a:p>
          <a:p>
            <a:pPr algn="l">
              <a:lnSpc>
                <a:spcPts val="3483"/>
              </a:lnSpc>
            </a:pPr>
            <a:endParaRPr lang="en-US" sz="2486" spc="74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33088" y="7063638"/>
            <a:ext cx="5603138" cy="273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767" lvl="1" indent="-268383" algn="l">
              <a:lnSpc>
                <a:spcPts val="3629"/>
              </a:lnSpc>
              <a:buFont typeface="Arial"/>
              <a:buChar char="•"/>
            </a:pPr>
            <a:r>
              <a:rPr lang="en-US" sz="2486" spc="74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información y documentación de la empresa se encuentra dispersa y desordenada, por lo que es difícil de navegar y de gestionar.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3681" y="0"/>
            <a:ext cx="8924319" cy="10287000"/>
            <a:chOff x="0" y="0"/>
            <a:chExt cx="23504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0438" cy="2709333"/>
            </a:xfrm>
            <a:custGeom>
              <a:avLst/>
              <a:gdLst/>
              <a:ahLst/>
              <a:cxnLst/>
              <a:rect l="l" t="t" r="r" b="b"/>
              <a:pathLst>
                <a:path w="2350438" h="2709333">
                  <a:moveTo>
                    <a:pt x="0" y="0"/>
                  </a:moveTo>
                  <a:lnTo>
                    <a:pt x="2350438" y="0"/>
                  </a:lnTo>
                  <a:lnTo>
                    <a:pt x="23504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50438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3681" y="0"/>
            <a:ext cx="8924319" cy="7622135"/>
            <a:chOff x="0" y="0"/>
            <a:chExt cx="883505" cy="7545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3505" cy="754589"/>
            </a:xfrm>
            <a:custGeom>
              <a:avLst/>
              <a:gdLst/>
              <a:ahLst/>
              <a:cxnLst/>
              <a:rect l="l" t="t" r="r" b="b"/>
              <a:pathLst>
                <a:path w="883505" h="754589">
                  <a:moveTo>
                    <a:pt x="0" y="0"/>
                  </a:moveTo>
                  <a:lnTo>
                    <a:pt x="883505" y="0"/>
                  </a:lnTo>
                  <a:lnTo>
                    <a:pt x="883505" y="754589"/>
                  </a:lnTo>
                  <a:lnTo>
                    <a:pt x="0" y="754589"/>
                  </a:lnTo>
                  <a:close/>
                </a:path>
              </a:pathLst>
            </a:custGeom>
            <a:blipFill>
              <a:blip r:embed="rId2">
                <a:alphaModFix amt="56000"/>
              </a:blip>
              <a:stretch>
                <a:fillRect l="-14025" r="-1402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5300" y="2762424"/>
            <a:ext cx="7564416" cy="612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Modernización del método de divulgación de sus servicios y de la ejecución de procesos administrativos. 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Mantener documentación centralizada, accesible y ordenada.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Gestionar la información de sus trabajadores y consecuentemente tener control de un historial de sus trabajadores.</a:t>
            </a:r>
          </a:p>
          <a:p>
            <a:pPr algn="l">
              <a:lnSpc>
                <a:spcPts val="3489"/>
              </a:lnSpc>
            </a:pPr>
            <a:endParaRPr lang="en-US" sz="2390" spc="71">
              <a:solidFill>
                <a:srgbClr val="332B22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516002" lvl="1" indent="-258001" algn="l">
              <a:lnSpc>
                <a:spcPts val="3489"/>
              </a:lnSpc>
              <a:buFont typeface="Arial"/>
              <a:buChar char="•"/>
            </a:pPr>
            <a:r>
              <a:rPr lang="en-US" sz="2390" spc="71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Calcular y registrar el costo de todas las áreas (cotización) en un entorno seguro y ordenado.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300" y="1126494"/>
            <a:ext cx="7564416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Necesidad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6168" y="3396918"/>
            <a:ext cx="4664478" cy="5546011"/>
            <a:chOff x="0" y="0"/>
            <a:chExt cx="1228504" cy="1460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01165" y="3811597"/>
            <a:ext cx="1374483" cy="13744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543326" y="4189540"/>
            <a:ext cx="690161" cy="690161"/>
          </a:xfrm>
          <a:custGeom>
            <a:avLst/>
            <a:gdLst/>
            <a:ahLst/>
            <a:cxnLst/>
            <a:rect l="l" t="t" r="r" b="b"/>
            <a:pathLst>
              <a:path w="690161" h="690161">
                <a:moveTo>
                  <a:pt x="0" y="0"/>
                </a:moveTo>
                <a:lnTo>
                  <a:pt x="690161" y="0"/>
                </a:lnTo>
                <a:lnTo>
                  <a:pt x="690161" y="690161"/>
                </a:lnTo>
                <a:lnTo>
                  <a:pt x="0" y="690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6812327" y="3396918"/>
            <a:ext cx="4664478" cy="5546011"/>
            <a:chOff x="0" y="0"/>
            <a:chExt cx="1228504" cy="14606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57324" y="3811597"/>
            <a:ext cx="1374483" cy="13744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67355" y="3428622"/>
            <a:ext cx="4664478" cy="5546011"/>
            <a:chOff x="0" y="0"/>
            <a:chExt cx="1228504" cy="14606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12352" y="3844914"/>
            <a:ext cx="1374483" cy="137448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750980" y="4006445"/>
            <a:ext cx="786039" cy="984787"/>
          </a:xfrm>
          <a:custGeom>
            <a:avLst/>
            <a:gdLst/>
            <a:ahLst/>
            <a:cxnLst/>
            <a:rect l="l" t="t" r="r" b="b"/>
            <a:pathLst>
              <a:path w="786039" h="984787">
                <a:moveTo>
                  <a:pt x="0" y="0"/>
                </a:moveTo>
                <a:lnTo>
                  <a:pt x="786040" y="0"/>
                </a:lnTo>
                <a:lnTo>
                  <a:pt x="786040" y="984787"/>
                </a:lnTo>
                <a:lnTo>
                  <a:pt x="0" y="984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916400" y="6291455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Evidenciar 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proyectos realizados, experiencia, maquinaria y equipo de la empresa para captar nuevos clientes.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6350" y="1322265"/>
            <a:ext cx="8115300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Solución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16400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Portafolio visual e informativo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72559" y="629145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Fac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ilitar el control de proyectos, trabajadores, maquinaria y documentación interna.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9239" y="2477131"/>
            <a:ext cx="12309523" cy="71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965" spc="58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Plataforma Web Corporativa y de Gestión Administrativa para la Empresa Contratista en Enfierradura Carlos Álvares Villar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71428" y="5624855"/>
            <a:ext cx="3945144" cy="41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Gestión administrativa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27587" y="6324772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Reunir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 en un solo lugar la información comercial, administrativa y operativa de la empresa.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27021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Plataforma web centralizada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960652" y="4093214"/>
            <a:ext cx="877882" cy="877882"/>
          </a:xfrm>
          <a:custGeom>
            <a:avLst/>
            <a:gdLst/>
            <a:ahLst/>
            <a:cxnLst/>
            <a:rect l="l" t="t" r="r" b="b"/>
            <a:pathLst>
              <a:path w="877882" h="877882">
                <a:moveTo>
                  <a:pt x="0" y="0"/>
                </a:moveTo>
                <a:lnTo>
                  <a:pt x="877883" y="0"/>
                </a:lnTo>
                <a:lnTo>
                  <a:pt x="877883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6168" y="3396918"/>
            <a:ext cx="4664478" cy="5546011"/>
            <a:chOff x="0" y="0"/>
            <a:chExt cx="1228504" cy="1460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01165" y="3811597"/>
            <a:ext cx="1374483" cy="13744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12327" y="3396918"/>
            <a:ext cx="4664478" cy="5546011"/>
            <a:chOff x="0" y="0"/>
            <a:chExt cx="1228504" cy="1460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57324" y="3811597"/>
            <a:ext cx="1374483" cy="13744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67355" y="3428622"/>
            <a:ext cx="4664478" cy="5546011"/>
            <a:chOff x="0" y="0"/>
            <a:chExt cx="1228504" cy="14606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8504" cy="1460678"/>
            </a:xfrm>
            <a:custGeom>
              <a:avLst/>
              <a:gdLst/>
              <a:ahLst/>
              <a:cxnLst/>
              <a:rect l="l" t="t" r="r" b="b"/>
              <a:pathLst>
                <a:path w="1228504" h="1460678">
                  <a:moveTo>
                    <a:pt x="48133" y="0"/>
                  </a:moveTo>
                  <a:lnTo>
                    <a:pt x="1180371" y="0"/>
                  </a:lnTo>
                  <a:cubicBezTo>
                    <a:pt x="1193137" y="0"/>
                    <a:pt x="1205380" y="5071"/>
                    <a:pt x="1214406" y="14098"/>
                  </a:cubicBezTo>
                  <a:cubicBezTo>
                    <a:pt x="1223433" y="23125"/>
                    <a:pt x="1228504" y="35367"/>
                    <a:pt x="1228504" y="48133"/>
                  </a:cubicBezTo>
                  <a:lnTo>
                    <a:pt x="1228504" y="1412545"/>
                  </a:lnTo>
                  <a:cubicBezTo>
                    <a:pt x="1228504" y="1425310"/>
                    <a:pt x="1223433" y="1437553"/>
                    <a:pt x="1214406" y="1446580"/>
                  </a:cubicBezTo>
                  <a:cubicBezTo>
                    <a:pt x="1205380" y="1455607"/>
                    <a:pt x="1193137" y="1460678"/>
                    <a:pt x="1180371" y="1460678"/>
                  </a:cubicBezTo>
                  <a:lnTo>
                    <a:pt x="48133" y="1460678"/>
                  </a:lnTo>
                  <a:cubicBezTo>
                    <a:pt x="21550" y="1460678"/>
                    <a:pt x="0" y="1439128"/>
                    <a:pt x="0" y="1412545"/>
                  </a:cubicBezTo>
                  <a:lnTo>
                    <a:pt x="0" y="48133"/>
                  </a:lnTo>
                  <a:cubicBezTo>
                    <a:pt x="0" y="35367"/>
                    <a:pt x="5071" y="23125"/>
                    <a:pt x="14098" y="14098"/>
                  </a:cubicBezTo>
                  <a:cubicBezTo>
                    <a:pt x="23125" y="5071"/>
                    <a:pt x="35367" y="0"/>
                    <a:pt x="48133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1228504" cy="158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12352" y="3844914"/>
            <a:ext cx="1374483" cy="137448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387421" y="4006415"/>
            <a:ext cx="1001971" cy="1001971"/>
          </a:xfrm>
          <a:custGeom>
            <a:avLst/>
            <a:gdLst/>
            <a:ahLst/>
            <a:cxnLst/>
            <a:rect l="l" t="t" r="r" b="b"/>
            <a:pathLst>
              <a:path w="1001971" h="1001971">
                <a:moveTo>
                  <a:pt x="0" y="0"/>
                </a:moveTo>
                <a:lnTo>
                  <a:pt x="1001971" y="0"/>
                </a:lnTo>
                <a:lnTo>
                  <a:pt x="1001971" y="1001971"/>
                </a:lnTo>
                <a:lnTo>
                  <a:pt x="0" y="1001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8635584" y="3989291"/>
            <a:ext cx="1019095" cy="1019095"/>
          </a:xfrm>
          <a:custGeom>
            <a:avLst/>
            <a:gdLst/>
            <a:ahLst/>
            <a:cxnLst/>
            <a:rect l="l" t="t" r="r" b="b"/>
            <a:pathLst>
              <a:path w="1019095" h="1019095">
                <a:moveTo>
                  <a:pt x="0" y="0"/>
                </a:moveTo>
                <a:lnTo>
                  <a:pt x="1019095" y="0"/>
                </a:lnTo>
                <a:lnTo>
                  <a:pt x="1019095" y="1019095"/>
                </a:lnTo>
                <a:lnTo>
                  <a:pt x="0" y="101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916400" y="629145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Convertir el historial de la empresa en información útil para planificar nuevos proyectos.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86350" y="1322265"/>
            <a:ext cx="8115300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Solución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16400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Toma de decisiones basada en datos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72559" y="6733225"/>
            <a:ext cx="3945144" cy="91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stimar costos, duración y riesgos de nuevos proyectos utilizando el historial de trabajos anteriores.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9239" y="2477131"/>
            <a:ext cx="12309523" cy="71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965" spc="58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Plataforma Web Corporativa y de Gestión Administrativa para la Empresa Contratista en Enfierradura Carlos Álvares Villar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72559" y="5410543"/>
            <a:ext cx="3945144" cy="127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Predicción de costos y duración mediante Machine Learning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27587" y="6324772"/>
            <a:ext cx="3945144" cy="122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1646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1646" u="none" strike="noStrike" spc="49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otificar al administrador sobre documentos próximos a vencer, retrasos u otras situaciones importantes.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27021" y="5410543"/>
            <a:ext cx="3945144" cy="84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346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Alertas y detección de riesgos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4033184" y="4163735"/>
            <a:ext cx="732820" cy="736839"/>
          </a:xfrm>
          <a:custGeom>
            <a:avLst/>
            <a:gdLst/>
            <a:ahLst/>
            <a:cxnLst/>
            <a:rect l="l" t="t" r="r" b="b"/>
            <a:pathLst>
              <a:path w="732820" h="736839">
                <a:moveTo>
                  <a:pt x="0" y="0"/>
                </a:moveTo>
                <a:lnTo>
                  <a:pt x="732819" y="0"/>
                </a:lnTo>
                <a:lnTo>
                  <a:pt x="732819" y="736839"/>
                </a:lnTo>
                <a:lnTo>
                  <a:pt x="0" y="736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2525" y="0"/>
            <a:ext cx="4705475" cy="10670512"/>
            <a:chOff x="0" y="0"/>
            <a:chExt cx="1239302" cy="2810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302" cy="2810341"/>
            </a:xfrm>
            <a:custGeom>
              <a:avLst/>
              <a:gdLst/>
              <a:ahLst/>
              <a:cxnLst/>
              <a:rect l="l" t="t" r="r" b="b"/>
              <a:pathLst>
                <a:path w="1239302" h="2810341">
                  <a:moveTo>
                    <a:pt x="0" y="0"/>
                  </a:moveTo>
                  <a:lnTo>
                    <a:pt x="1239302" y="0"/>
                  </a:lnTo>
                  <a:lnTo>
                    <a:pt x="1239302" y="2810341"/>
                  </a:lnTo>
                  <a:lnTo>
                    <a:pt x="0" y="2810341"/>
                  </a:ln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239302" cy="2877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l">
                <a:lnSpc>
                  <a:spcPts val="3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82525" y="0"/>
            <a:ext cx="4705475" cy="10287000"/>
            <a:chOff x="0" y="0"/>
            <a:chExt cx="72900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9001" cy="1593725"/>
            </a:xfrm>
            <a:custGeom>
              <a:avLst/>
              <a:gdLst/>
              <a:ahLst/>
              <a:cxnLst/>
              <a:rect l="l" t="t" r="r" b="b"/>
              <a:pathLst>
                <a:path w="729001" h="1593725">
                  <a:moveTo>
                    <a:pt x="0" y="0"/>
                  </a:moveTo>
                  <a:lnTo>
                    <a:pt x="729001" y="0"/>
                  </a:lnTo>
                  <a:lnTo>
                    <a:pt x="7290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31000"/>
              </a:blip>
              <a:stretch>
                <a:fillRect l="-112692" r="-11269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09226" y="1937770"/>
          <a:ext cx="12134673" cy="7124700"/>
        </p:xfrm>
        <a:graphic>
          <a:graphicData uri="http://schemas.openxmlformats.org/drawingml/2006/table">
            <a:tbl>
              <a:tblPr/>
              <a:tblGrid>
                <a:gridCol w="6067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4"/>
                        </a:lnSpc>
                        <a:defRPr/>
                      </a:pPr>
                      <a:r>
                        <a:rPr lang="en-US" sz="1881" b="1">
                          <a:solidFill>
                            <a:srgbClr val="FFFFFF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Requisito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4"/>
                        </a:lnSpc>
                        <a:defRPr/>
                      </a:pPr>
                      <a:r>
                        <a:rPr lang="en-US" sz="1881" b="1">
                          <a:solidFill>
                            <a:srgbClr val="FFFFFF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Usuario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D3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Portafolio de Proyectos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Libro de Asistencias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Cálculo de Liquidaciones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Cálculo de Finiquito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Registro de mandatos y leyes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Formulario de postulación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Postulante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Registro histórico trabajadores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Administracion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Visualización de Curriculum de empresa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Cliente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 u="none" strike="noStrike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Cálculo de presupuestos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2"/>
                        </a:lnSpc>
                        <a:defRPr/>
                      </a:pPr>
                      <a:r>
                        <a:rPr lang="en-US" sz="188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Cliente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09226" y="617443"/>
            <a:ext cx="8921756" cy="112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Requisitos Funcionales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0646" y="2036894"/>
            <a:ext cx="4700336" cy="3799594"/>
            <a:chOff x="0" y="0"/>
            <a:chExt cx="1228504" cy="9930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98289" y="2454761"/>
            <a:ext cx="1385049" cy="13850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37212" y="2036894"/>
            <a:ext cx="4700336" cy="3799594"/>
            <a:chOff x="0" y="0"/>
            <a:chExt cx="1228504" cy="9930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94855" y="2454761"/>
            <a:ext cx="1385049" cy="13850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32637" y="2068842"/>
            <a:ext cx="4700336" cy="3767646"/>
            <a:chOff x="0" y="0"/>
            <a:chExt cx="1228504" cy="9847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8504" cy="984732"/>
            </a:xfrm>
            <a:custGeom>
              <a:avLst/>
              <a:gdLst/>
              <a:ahLst/>
              <a:cxnLst/>
              <a:rect l="l" t="t" r="r" b="b"/>
              <a:pathLst>
                <a:path w="1228504" h="98473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36966"/>
                  </a:lnTo>
                  <a:cubicBezTo>
                    <a:pt x="1228504" y="949634"/>
                    <a:pt x="1223472" y="961784"/>
                    <a:pt x="1214514" y="970741"/>
                  </a:cubicBezTo>
                  <a:cubicBezTo>
                    <a:pt x="1205556" y="979699"/>
                    <a:pt x="1193407" y="984732"/>
                    <a:pt x="1180738" y="984732"/>
                  </a:cubicBezTo>
                  <a:lnTo>
                    <a:pt x="47766" y="984732"/>
                  </a:lnTo>
                  <a:cubicBezTo>
                    <a:pt x="35098" y="984732"/>
                    <a:pt x="22948" y="979699"/>
                    <a:pt x="13990" y="970741"/>
                  </a:cubicBezTo>
                  <a:cubicBezTo>
                    <a:pt x="5032" y="961784"/>
                    <a:pt x="0" y="949634"/>
                    <a:pt x="0" y="93696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1228504" cy="11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90280" y="2488334"/>
            <a:ext cx="1385049" cy="138504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690768" y="2651107"/>
            <a:ext cx="792082" cy="992358"/>
          </a:xfrm>
          <a:custGeom>
            <a:avLst/>
            <a:gdLst/>
            <a:ahLst/>
            <a:cxnLst/>
            <a:rect l="l" t="t" r="r" b="b"/>
            <a:pathLst>
              <a:path w="792082" h="992358">
                <a:moveTo>
                  <a:pt x="0" y="0"/>
                </a:moveTo>
                <a:lnTo>
                  <a:pt x="792082" y="0"/>
                </a:lnTo>
                <a:lnTo>
                  <a:pt x="792082" y="992358"/>
                </a:lnTo>
                <a:lnTo>
                  <a:pt x="0" y="9923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3940489" y="2738543"/>
            <a:ext cx="884631" cy="884631"/>
          </a:xfrm>
          <a:custGeom>
            <a:avLst/>
            <a:gdLst/>
            <a:ahLst/>
            <a:cxnLst/>
            <a:rect l="l" t="t" r="r" b="b"/>
            <a:pathLst>
              <a:path w="884631" h="884631">
                <a:moveTo>
                  <a:pt x="0" y="0"/>
                </a:moveTo>
                <a:lnTo>
                  <a:pt x="884631" y="0"/>
                </a:lnTo>
                <a:lnTo>
                  <a:pt x="884631" y="884631"/>
                </a:lnTo>
                <a:lnTo>
                  <a:pt x="0" y="884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2" name="Group 22"/>
          <p:cNvGrpSpPr/>
          <p:nvPr/>
        </p:nvGrpSpPr>
        <p:grpSpPr>
          <a:xfrm>
            <a:off x="1440076" y="6063001"/>
            <a:ext cx="4700336" cy="3799594"/>
            <a:chOff x="0" y="0"/>
            <a:chExt cx="1228504" cy="9930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97719" y="6480869"/>
            <a:ext cx="1385049" cy="138504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3442510" y="6861717"/>
            <a:ext cx="695466" cy="695466"/>
          </a:xfrm>
          <a:custGeom>
            <a:avLst/>
            <a:gdLst/>
            <a:ahLst/>
            <a:cxnLst/>
            <a:rect l="l" t="t" r="r" b="b"/>
            <a:pathLst>
              <a:path w="695466" h="695466">
                <a:moveTo>
                  <a:pt x="0" y="0"/>
                </a:moveTo>
                <a:lnTo>
                  <a:pt x="695467" y="0"/>
                </a:lnTo>
                <a:lnTo>
                  <a:pt x="695467" y="695466"/>
                </a:lnTo>
                <a:lnTo>
                  <a:pt x="0" y="695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9" name="Group 29"/>
          <p:cNvGrpSpPr/>
          <p:nvPr/>
        </p:nvGrpSpPr>
        <p:grpSpPr>
          <a:xfrm>
            <a:off x="6736642" y="6063001"/>
            <a:ext cx="4700336" cy="3799594"/>
            <a:chOff x="0" y="0"/>
            <a:chExt cx="1228504" cy="9930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28504" cy="993082"/>
            </a:xfrm>
            <a:custGeom>
              <a:avLst/>
              <a:gdLst/>
              <a:ahLst/>
              <a:cxnLst/>
              <a:rect l="l" t="t" r="r" b="b"/>
              <a:pathLst>
                <a:path w="1228504" h="99308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45316"/>
                  </a:lnTo>
                  <a:cubicBezTo>
                    <a:pt x="1228504" y="957984"/>
                    <a:pt x="1223472" y="970134"/>
                    <a:pt x="1214514" y="979091"/>
                  </a:cubicBezTo>
                  <a:cubicBezTo>
                    <a:pt x="1205556" y="988049"/>
                    <a:pt x="1193407" y="993082"/>
                    <a:pt x="1180738" y="993082"/>
                  </a:cubicBezTo>
                  <a:lnTo>
                    <a:pt x="47766" y="993082"/>
                  </a:lnTo>
                  <a:cubicBezTo>
                    <a:pt x="35098" y="993082"/>
                    <a:pt x="22948" y="988049"/>
                    <a:pt x="13990" y="979091"/>
                  </a:cubicBezTo>
                  <a:cubicBezTo>
                    <a:pt x="5032" y="970134"/>
                    <a:pt x="0" y="957984"/>
                    <a:pt x="0" y="94531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23825"/>
              <a:ext cx="1228504" cy="1116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94285" y="6480869"/>
            <a:ext cx="1385049" cy="138504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032067" y="6094949"/>
            <a:ext cx="4700336" cy="3767646"/>
            <a:chOff x="0" y="0"/>
            <a:chExt cx="1228504" cy="9847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28504" cy="984732"/>
            </a:xfrm>
            <a:custGeom>
              <a:avLst/>
              <a:gdLst/>
              <a:ahLst/>
              <a:cxnLst/>
              <a:rect l="l" t="t" r="r" b="b"/>
              <a:pathLst>
                <a:path w="1228504" h="984732">
                  <a:moveTo>
                    <a:pt x="47766" y="0"/>
                  </a:moveTo>
                  <a:lnTo>
                    <a:pt x="1180738" y="0"/>
                  </a:lnTo>
                  <a:cubicBezTo>
                    <a:pt x="1193407" y="0"/>
                    <a:pt x="1205556" y="5032"/>
                    <a:pt x="1214514" y="13990"/>
                  </a:cubicBezTo>
                  <a:cubicBezTo>
                    <a:pt x="1223472" y="22948"/>
                    <a:pt x="1228504" y="35098"/>
                    <a:pt x="1228504" y="47766"/>
                  </a:cubicBezTo>
                  <a:lnTo>
                    <a:pt x="1228504" y="936966"/>
                  </a:lnTo>
                  <a:cubicBezTo>
                    <a:pt x="1228504" y="949634"/>
                    <a:pt x="1223472" y="961784"/>
                    <a:pt x="1214514" y="970741"/>
                  </a:cubicBezTo>
                  <a:cubicBezTo>
                    <a:pt x="1205556" y="979699"/>
                    <a:pt x="1193407" y="984732"/>
                    <a:pt x="1180738" y="984732"/>
                  </a:cubicBezTo>
                  <a:lnTo>
                    <a:pt x="47766" y="984732"/>
                  </a:lnTo>
                  <a:cubicBezTo>
                    <a:pt x="35098" y="984732"/>
                    <a:pt x="22948" y="979699"/>
                    <a:pt x="13990" y="970741"/>
                  </a:cubicBezTo>
                  <a:cubicBezTo>
                    <a:pt x="5032" y="961784"/>
                    <a:pt x="0" y="949634"/>
                    <a:pt x="0" y="936966"/>
                  </a:cubicBezTo>
                  <a:lnTo>
                    <a:pt x="0" y="47766"/>
                  </a:lnTo>
                  <a:cubicBezTo>
                    <a:pt x="0" y="35098"/>
                    <a:pt x="5032" y="22948"/>
                    <a:pt x="13990" y="13990"/>
                  </a:cubicBezTo>
                  <a:cubicBezTo>
                    <a:pt x="22948" y="5032"/>
                    <a:pt x="35098" y="0"/>
                    <a:pt x="4776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23825"/>
              <a:ext cx="1228504" cy="110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689710" y="6514441"/>
            <a:ext cx="1385049" cy="1385049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3358740" y="2709011"/>
            <a:ext cx="863008" cy="863008"/>
          </a:xfrm>
          <a:custGeom>
            <a:avLst/>
            <a:gdLst/>
            <a:ahLst/>
            <a:cxnLst/>
            <a:rect l="l" t="t" r="r" b="b"/>
            <a:pathLst>
              <a:path w="863008" h="863008">
                <a:moveTo>
                  <a:pt x="0" y="0"/>
                </a:moveTo>
                <a:lnTo>
                  <a:pt x="863007" y="0"/>
                </a:lnTo>
                <a:lnTo>
                  <a:pt x="863007" y="863008"/>
                </a:lnTo>
                <a:lnTo>
                  <a:pt x="0" y="863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Freeform 42"/>
          <p:cNvSpPr/>
          <p:nvPr/>
        </p:nvSpPr>
        <p:spPr>
          <a:xfrm>
            <a:off x="8622424" y="6709578"/>
            <a:ext cx="927630" cy="927630"/>
          </a:xfrm>
          <a:custGeom>
            <a:avLst/>
            <a:gdLst/>
            <a:ahLst/>
            <a:cxnLst/>
            <a:rect l="l" t="t" r="r" b="b"/>
            <a:pathLst>
              <a:path w="927630" h="927630">
                <a:moveTo>
                  <a:pt x="0" y="0"/>
                </a:moveTo>
                <a:lnTo>
                  <a:pt x="927630" y="0"/>
                </a:lnTo>
                <a:lnTo>
                  <a:pt x="927630" y="927630"/>
                </a:lnTo>
                <a:lnTo>
                  <a:pt x="0" y="92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Freeform 43"/>
          <p:cNvSpPr/>
          <p:nvPr/>
        </p:nvSpPr>
        <p:spPr>
          <a:xfrm>
            <a:off x="13962260" y="6760413"/>
            <a:ext cx="839950" cy="926416"/>
          </a:xfrm>
          <a:custGeom>
            <a:avLst/>
            <a:gdLst/>
            <a:ahLst/>
            <a:cxnLst/>
            <a:rect l="l" t="t" r="r" b="b"/>
            <a:pathLst>
              <a:path w="839950" h="926416">
                <a:moveTo>
                  <a:pt x="0" y="0"/>
                </a:moveTo>
                <a:lnTo>
                  <a:pt x="839950" y="0"/>
                </a:lnTo>
                <a:lnTo>
                  <a:pt x="839950" y="926416"/>
                </a:lnTo>
                <a:lnTo>
                  <a:pt x="0" y="926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4" name="TextBox 44"/>
          <p:cNvSpPr txBox="1"/>
          <p:nvPr/>
        </p:nvSpPr>
        <p:spPr>
          <a:xfrm>
            <a:off x="3691315" y="701003"/>
            <a:ext cx="10905369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Requisitos No Funcionales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03078" y="3876498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Usabilidad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56264" y="391554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Seguridad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395069" y="391554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Calidad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03078" y="791570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Rendimiento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98503" y="7896123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Confiabilidad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99002" y="7915702"/>
            <a:ext cx="3975472" cy="42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364" b="1" spc="70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Precisión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64689" y="4440824"/>
            <a:ext cx="2958621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Acceso de cuentas administrativas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Acceso a vistas protegidas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Cifrado de registros históricos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Backups de horas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Backups de documentos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416516" y="4442074"/>
            <a:ext cx="2958621" cy="98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entendible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Botones, header y footer claros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Navegación coherente del sistema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469747" y="4440824"/>
            <a:ext cx="3824975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Colores de empresa adecuados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Display que maneje los márgenes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Display responsivo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Información correcta</a:t>
            </a:r>
          </a:p>
          <a:p>
            <a:pPr marL="280669" lvl="1" indent="-140335" algn="l">
              <a:lnSpc>
                <a:spcPts val="1819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Escalabilidad del sistema para mejoramientos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416516" y="8450509"/>
            <a:ext cx="3063633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Uptime del 99%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Funcionalidades responsivas 30 ms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08069" y="8430930"/>
            <a:ext cx="2958621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Recuperación a fallas dentro de 15 minutos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Sueldos competitivos al dia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549500" y="8450509"/>
            <a:ext cx="3824975" cy="123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sueldos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horas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Cálculos correctos de finiquitos</a:t>
            </a:r>
          </a:p>
          <a:p>
            <a:pPr marL="302259" lvl="1" indent="-151129" algn="l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Predicciones correctas de posibles proyectos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5643" y="2356249"/>
            <a:ext cx="5082362" cy="1906777"/>
            <a:chOff x="0" y="0"/>
            <a:chExt cx="1467458" cy="550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107847" y="2838784"/>
            <a:ext cx="4502343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Portafolio Virtual de Proyectos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9494" y="2356249"/>
            <a:ext cx="5082362" cy="1906777"/>
            <a:chOff x="0" y="0"/>
            <a:chExt cx="1467458" cy="5505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00955" y="6222225"/>
            <a:ext cx="5082362" cy="1903806"/>
            <a:chOff x="0" y="0"/>
            <a:chExt cx="1467458" cy="5496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379338" y="6675018"/>
            <a:ext cx="3662673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Seguridad y control de acceso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429995" y="2356249"/>
            <a:ext cx="5082362" cy="1906777"/>
            <a:chOff x="0" y="0"/>
            <a:chExt cx="1467458" cy="5505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7458" cy="550554"/>
            </a:xfrm>
            <a:custGeom>
              <a:avLst/>
              <a:gdLst/>
              <a:ahLst/>
              <a:cxnLst/>
              <a:rect l="l" t="t" r="r" b="b"/>
              <a:pathLst>
                <a:path w="1467458" h="550554">
                  <a:moveTo>
                    <a:pt x="1264258" y="0"/>
                  </a:moveTo>
                  <a:cubicBezTo>
                    <a:pt x="1376482" y="0"/>
                    <a:pt x="1467458" y="123246"/>
                    <a:pt x="1467458" y="275277"/>
                  </a:cubicBezTo>
                  <a:cubicBezTo>
                    <a:pt x="1467458" y="427308"/>
                    <a:pt x="1376482" y="550554"/>
                    <a:pt x="1264258" y="550554"/>
                  </a:cubicBezTo>
                  <a:lnTo>
                    <a:pt x="203200" y="550554"/>
                  </a:lnTo>
                  <a:cubicBezTo>
                    <a:pt x="90976" y="550554"/>
                    <a:pt x="0" y="427308"/>
                    <a:pt x="0" y="275277"/>
                  </a:cubicBezTo>
                  <a:cubicBezTo>
                    <a:pt x="0" y="12324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67458" cy="579129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461497" y="2595897"/>
            <a:ext cx="3115986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Autenticación y Control de Accesos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429995" y="6222225"/>
            <a:ext cx="5082362" cy="1903806"/>
            <a:chOff x="0" y="0"/>
            <a:chExt cx="1467458" cy="5496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360364" y="6432130"/>
            <a:ext cx="3318251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Gestión de Contratos y Asuntos Legales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75643" y="6222225"/>
            <a:ext cx="5082362" cy="1903806"/>
            <a:chOff x="0" y="0"/>
            <a:chExt cx="1467458" cy="5496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7458" cy="549696"/>
            </a:xfrm>
            <a:custGeom>
              <a:avLst/>
              <a:gdLst/>
              <a:ahLst/>
              <a:cxnLst/>
              <a:rect l="l" t="t" r="r" b="b"/>
              <a:pathLst>
                <a:path w="1467458" h="549696">
                  <a:moveTo>
                    <a:pt x="1264258" y="0"/>
                  </a:moveTo>
                  <a:cubicBezTo>
                    <a:pt x="1376482" y="0"/>
                    <a:pt x="1467458" y="123054"/>
                    <a:pt x="1467458" y="274848"/>
                  </a:cubicBezTo>
                  <a:cubicBezTo>
                    <a:pt x="1467458" y="426642"/>
                    <a:pt x="1376482" y="549696"/>
                    <a:pt x="1264258" y="549696"/>
                  </a:cubicBezTo>
                  <a:lnTo>
                    <a:pt x="203200" y="549696"/>
                  </a:lnTo>
                  <a:cubicBezTo>
                    <a:pt x="90976" y="549696"/>
                    <a:pt x="0" y="426642"/>
                    <a:pt x="0" y="274848"/>
                  </a:cubicBezTo>
                  <a:cubicBezTo>
                    <a:pt x="0" y="12305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467458" cy="578271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43517" y="6475331"/>
            <a:ext cx="3546615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Gestión de Trabajadores y Personal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51193" y="4418029"/>
            <a:ext cx="3919191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Vista de galería de proyectos terminados y en desarrollo, filtros de búsqueda, ficha técnica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47652" y="4475179"/>
            <a:ext cx="363682" cy="363682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691315" y="701003"/>
            <a:ext cx="10905369" cy="110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55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Épicas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72668" y="2838784"/>
            <a:ext cx="3876015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Captación de clientes y contacto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866" y="4418029"/>
            <a:ext cx="4177451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Personas buscando empleo o cotizar con la empresa, recibidas por el administrador desde su portal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999309" y="4475179"/>
            <a:ext cx="363682" cy="363682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360364" y="4418029"/>
            <a:ext cx="3697007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Garantizar que solo el personal autorizado acceda a la información confidencia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853807" y="4475179"/>
            <a:ext cx="363682" cy="363682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532240" y="8278431"/>
            <a:ext cx="4325765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Centralizar la información, repositorio de contratos de trabajadores y subcontratistas, almacenamiento de permisos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28700" y="8335581"/>
            <a:ext cx="363682" cy="363682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7465897" y="8278431"/>
            <a:ext cx="3919191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Encriptación de datos, cumplimiento de normas de seguridad, protección contra ataques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962356" y="8335581"/>
            <a:ext cx="363682" cy="363682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3320394" y="8278431"/>
            <a:ext cx="3700023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000" spc="6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Visualizar portafolio, experiencia, maquinaria y afiliaciones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2816854" y="8335581"/>
            <a:ext cx="363682" cy="363682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B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687567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780318" y="1480705"/>
            <a:ext cx="727364" cy="72736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59629" y="16581"/>
            <a:ext cx="6568743" cy="101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Historias de Usuario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6035" y="1340514"/>
            <a:ext cx="354979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730113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2822864" y="1480705"/>
            <a:ext cx="727364" cy="7273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78751" y="1340514"/>
            <a:ext cx="17749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12648183" y="1984664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14740934" y="1480705"/>
            <a:ext cx="727364" cy="72736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7D7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943708" y="1350039"/>
            <a:ext cx="354979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  <a:spcBef>
                <a:spcPct val="0"/>
              </a:spcBef>
            </a:pPr>
            <a:r>
              <a:rPr lang="en-US" sz="39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0113" y="2498148"/>
            <a:ext cx="49893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Cliente (Usuario Público)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0113" y="3380163"/>
            <a:ext cx="4989325" cy="511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visualizar el portafolio de obras, experiencia histórica, maquinaria pesada y afiliaciones,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validar la capacidad técnica de la empresa y adjudicarle contratos de construcción.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enviar formularios de contacto y solicitudes de presupuesto,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cotizar partidas de enfierradura y excavación de forma directa.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35882" y="2498148"/>
            <a:ext cx="55712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Postulante (Usuario Público)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5882" y="3380163"/>
            <a:ext cx="4989325" cy="297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completar un formulario digital de postulación ("Trabaja con nosotros") ingresando mi experiencia y especialidad técnica,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ser considerado en la nómina de contratación para nuevos proyectos en faena.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49044" y="2498148"/>
            <a:ext cx="2911143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Administrador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51292" y="3380163"/>
            <a:ext cx="6022408" cy="640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ingresar novedades diarias en el libro digital de asistencia (atrasos, faltas, licencias),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generar automáticamente las liquidaciones mensuales y finiquitos bajo normativa de la DT.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emitir la Ficha de Ingreso formal de cada trabajador contratado,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presentar la nómina exigida por las empresas mandantes para autorizar el acceso a la obra.</a:t>
            </a:r>
          </a:p>
          <a:p>
            <a:pPr marL="431801" lvl="1" indent="-215900" algn="l">
              <a:lnSpc>
                <a:spcPts val="3420"/>
              </a:lnSpc>
              <a:buFont typeface="Arial"/>
              <a:buChar char="•"/>
            </a:pP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Necesito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mantener un repositorio unificado para contratos, finiquitos y certificados </a:t>
            </a:r>
            <a:r>
              <a:rPr lang="en-US" sz="2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con la finalidad de</a:t>
            </a:r>
            <a:r>
              <a:rPr lang="en-US" sz="2000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eliminar la dispersión de documentos en múltiples dispositivos.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3531" y="1237291"/>
            <a:ext cx="13860939" cy="10232908"/>
          </a:xfrm>
          <a:custGeom>
            <a:avLst/>
            <a:gdLst/>
            <a:ahLst/>
            <a:cxnLst/>
            <a:rect l="l" t="t" r="r" b="b"/>
            <a:pathLst>
              <a:path w="13860939" h="10232908">
                <a:moveTo>
                  <a:pt x="0" y="0"/>
                </a:moveTo>
                <a:lnTo>
                  <a:pt x="13860938" y="0"/>
                </a:lnTo>
                <a:lnTo>
                  <a:pt x="13860938" y="10232907"/>
                </a:lnTo>
                <a:lnTo>
                  <a:pt x="0" y="10232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55265" y="-135948"/>
            <a:ext cx="10977471" cy="137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  <a:spcBef>
                <a:spcPct val="0"/>
              </a:spcBef>
            </a:pPr>
            <a:r>
              <a:rPr lang="en-US" sz="6877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Arquitectura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B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82125" y="9629775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12760361" y="9610725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569487" y="9658350"/>
            <a:ext cx="4912866" cy="0"/>
          </a:xfrm>
          <a:prstGeom prst="line">
            <a:avLst/>
          </a:prstGeom>
          <a:ln w="190500" cap="flat">
            <a:solidFill>
              <a:srgbClr val="0F7D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007269" y="1593792"/>
            <a:ext cx="2929197" cy="29291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2848" b="-1036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17526" y="1593792"/>
            <a:ext cx="2929197" cy="29291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31164" y="1593792"/>
            <a:ext cx="2929197" cy="292919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341511" y="1593792"/>
            <a:ext cx="2929197" cy="29291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966010" y="16581"/>
            <a:ext cx="8355979" cy="101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Equipo de Trabajo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4341" y="4665865"/>
            <a:ext cx="3015052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Product Owner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9487" y="6700145"/>
            <a:ext cx="4116488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la visión del negocio, definición de requerimientos y priorización del backlog.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1115" y="4665865"/>
            <a:ext cx="2785608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Scrum Master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9074" y="4665865"/>
            <a:ext cx="39710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 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41829" y="4665865"/>
            <a:ext cx="3971016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 Team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87641" y="6700145"/>
            <a:ext cx="4177990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 la coordinación ágil, desarrollo backend, base da datos y arquitectura cloud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65680" y="6714779"/>
            <a:ext cx="3842861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desarrollo de componentes, control de calidad y planes de prueba (QA)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24956" y="6719524"/>
            <a:ext cx="3804761" cy="1867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199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Responsable</a:t>
            </a:r>
            <a:r>
              <a:rPr lang="en-US" sz="2199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 del desarrollo frontend, interfaces de usuario y diseño responsivo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6523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Sebastián Álvarez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59529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Jesús Bustamante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86900" y="5289839"/>
            <a:ext cx="3617725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Antonia Sanhueza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33665" y="5289839"/>
            <a:ext cx="2744888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Juakin Fredes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3" name="Group 3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5130896" y="1251348"/>
            <a:ext cx="8026206" cy="7916473"/>
          </a:xfrm>
          <a:custGeom>
            <a:avLst/>
            <a:gdLst/>
            <a:ahLst/>
            <a:cxnLst/>
            <a:rect l="l" t="t" r="r" b="b"/>
            <a:pathLst>
              <a:path w="8026206" h="7916473">
                <a:moveTo>
                  <a:pt x="0" y="0"/>
                </a:moveTo>
                <a:lnTo>
                  <a:pt x="8026206" y="0"/>
                </a:lnTo>
                <a:lnTo>
                  <a:pt x="8026206" y="7916473"/>
                </a:lnTo>
                <a:lnTo>
                  <a:pt x="0" y="7916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5507196" y="128432"/>
            <a:ext cx="7996204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Metodología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2605375"/>
            <a:ext cx="5945015" cy="988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Definición de los objetivos de la iteración y selección de tareas desde el Product Backlog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6463" y="1957246"/>
            <a:ext cx="2752090" cy="44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Planning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43946" y="1957246"/>
            <a:ext cx="2391454" cy="4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Daily Scrum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784" y="2605375"/>
            <a:ext cx="6052751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Sincronización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continua del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equipo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de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desarrollo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para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evaluar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el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avance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de la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plataforma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y resolver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impedimentos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técnicos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diarios</a:t>
            </a:r>
            <a:endParaRPr lang="en-US" sz="2084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344807" y="5143500"/>
            <a:ext cx="2571593" cy="4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Review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28834" y="5762911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Demostración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de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los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módulos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100%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funcionales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ante la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gerencia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de la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empresa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para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recibir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retroalimentación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directa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y </a:t>
            </a:r>
            <a:r>
              <a:rPr lang="en-US" sz="2084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validación</a:t>
            </a:r>
            <a:r>
              <a:rPr lang="en-US" sz="2084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93707" y="8039100"/>
            <a:ext cx="3803493" cy="4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Sprint Retrospective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82095" y="8592614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Análisis interno del equipo para evaluar el proceso, identificar oportunidades de mejora y optimizar la metodología de trabajo.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6378" y="7084758"/>
            <a:ext cx="5683422" cy="4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2784" b="1" dirty="0" err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Incremento</a:t>
            </a:r>
            <a:r>
              <a:rPr lang="en-US" sz="2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y Entrega Continua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6378" y="7767321"/>
            <a:ext cx="5316702" cy="13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"/>
              </a:lnSpc>
              <a:spcBef>
                <a:spcPct val="0"/>
              </a:spcBef>
            </a:pPr>
            <a:r>
              <a:rPr lang="en-US" sz="2084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Entrega de versiones operativas del sistema (MVP) que se adaptan rápidamente a los requerimientos de la constructora aportando valor real.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31425" y="3020839"/>
            <a:ext cx="5394148" cy="5394148"/>
          </a:xfrm>
          <a:custGeom>
            <a:avLst/>
            <a:gdLst/>
            <a:ahLst/>
            <a:cxnLst/>
            <a:rect l="l" t="t" r="r" b="b"/>
            <a:pathLst>
              <a:path w="5394148" h="5394148">
                <a:moveTo>
                  <a:pt x="0" y="0"/>
                </a:moveTo>
                <a:lnTo>
                  <a:pt x="5394149" y="0"/>
                </a:lnTo>
                <a:lnTo>
                  <a:pt x="5394149" y="5394148"/>
                </a:lnTo>
                <a:lnTo>
                  <a:pt x="0" y="5394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6833735" y="3429896"/>
            <a:ext cx="4582781" cy="458278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algn="ctr">
                <a:lnSpc>
                  <a:spcPts val="161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63149" y="4625858"/>
            <a:ext cx="447669" cy="4476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13003" y="3138481"/>
            <a:ext cx="447669" cy="44766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08838" y="7853458"/>
            <a:ext cx="447669" cy="44766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46946" y="4643852"/>
            <a:ext cx="447669" cy="44766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46946" y="6439069"/>
            <a:ext cx="447669" cy="44766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76942" y="2304111"/>
            <a:ext cx="5082362" cy="1567119"/>
            <a:chOff x="0" y="0"/>
            <a:chExt cx="1467458" cy="4524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85523" y="3154759"/>
            <a:ext cx="447669" cy="44766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85523" y="7827075"/>
            <a:ext cx="447669" cy="44766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463149" y="6439069"/>
            <a:ext cx="447669" cy="44766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45B9AD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378264" y="2745445"/>
            <a:ext cx="455471" cy="684451"/>
          </a:xfrm>
          <a:custGeom>
            <a:avLst/>
            <a:gdLst/>
            <a:ahLst/>
            <a:cxnLst/>
            <a:rect l="l" t="t" r="r" b="b"/>
            <a:pathLst>
              <a:path w="455471" h="684451">
                <a:moveTo>
                  <a:pt x="0" y="0"/>
                </a:moveTo>
                <a:lnTo>
                  <a:pt x="455471" y="0"/>
                </a:lnTo>
                <a:lnTo>
                  <a:pt x="455471" y="684451"/>
                </a:lnTo>
                <a:lnTo>
                  <a:pt x="0" y="684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4" name="Group 34"/>
          <p:cNvGrpSpPr/>
          <p:nvPr/>
        </p:nvGrpSpPr>
        <p:grpSpPr>
          <a:xfrm>
            <a:off x="847905" y="4089848"/>
            <a:ext cx="5082362" cy="1567119"/>
            <a:chOff x="0" y="0"/>
            <a:chExt cx="1467458" cy="4524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467458" cy="46200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l">
                <a:lnSpc>
                  <a:spcPts val="228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47905" y="5879344"/>
            <a:ext cx="5082362" cy="1567119"/>
            <a:chOff x="0" y="0"/>
            <a:chExt cx="1467458" cy="45248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211497" y="7665081"/>
            <a:ext cx="5082362" cy="1567119"/>
            <a:chOff x="0" y="0"/>
            <a:chExt cx="1467458" cy="452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117091" y="2304111"/>
            <a:ext cx="5082362" cy="1567119"/>
            <a:chOff x="0" y="0"/>
            <a:chExt cx="1467458" cy="45248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349114" y="4109077"/>
            <a:ext cx="5082362" cy="1567119"/>
            <a:chOff x="0" y="0"/>
            <a:chExt cx="1467458" cy="45248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357732" y="5913825"/>
            <a:ext cx="5082362" cy="1567119"/>
            <a:chOff x="0" y="0"/>
            <a:chExt cx="1467458" cy="4524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160451" y="7691181"/>
            <a:ext cx="5082362" cy="1567119"/>
            <a:chOff x="0" y="0"/>
            <a:chExt cx="1467458" cy="45248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>
            <a:off x="5092218" y="6348449"/>
            <a:ext cx="625150" cy="625150"/>
          </a:xfrm>
          <a:custGeom>
            <a:avLst/>
            <a:gdLst/>
            <a:ahLst/>
            <a:cxnLst/>
            <a:rect l="l" t="t" r="r" b="b"/>
            <a:pathLst>
              <a:path w="625150" h="625150">
                <a:moveTo>
                  <a:pt x="0" y="0"/>
                </a:moveTo>
                <a:lnTo>
                  <a:pt x="625150" y="0"/>
                </a:lnTo>
                <a:lnTo>
                  <a:pt x="625150" y="625150"/>
                </a:lnTo>
                <a:lnTo>
                  <a:pt x="0" y="625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6" name="Freeform 56"/>
          <p:cNvSpPr/>
          <p:nvPr/>
        </p:nvSpPr>
        <p:spPr>
          <a:xfrm>
            <a:off x="11338847" y="8197443"/>
            <a:ext cx="629121" cy="629121"/>
          </a:xfrm>
          <a:custGeom>
            <a:avLst/>
            <a:gdLst/>
            <a:ahLst/>
            <a:cxnLst/>
            <a:rect l="l" t="t" r="r" b="b"/>
            <a:pathLst>
              <a:path w="629121" h="629121">
                <a:moveTo>
                  <a:pt x="0" y="0"/>
                </a:moveTo>
                <a:lnTo>
                  <a:pt x="629121" y="0"/>
                </a:lnTo>
                <a:lnTo>
                  <a:pt x="629121" y="629122"/>
                </a:lnTo>
                <a:lnTo>
                  <a:pt x="0" y="629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7" name="Freeform 57"/>
          <p:cNvSpPr/>
          <p:nvPr/>
        </p:nvSpPr>
        <p:spPr>
          <a:xfrm>
            <a:off x="12709093" y="4587662"/>
            <a:ext cx="449257" cy="675113"/>
          </a:xfrm>
          <a:custGeom>
            <a:avLst/>
            <a:gdLst/>
            <a:ahLst/>
            <a:cxnLst/>
            <a:rect l="l" t="t" r="r" b="b"/>
            <a:pathLst>
              <a:path w="449257" h="675113">
                <a:moveTo>
                  <a:pt x="0" y="0"/>
                </a:moveTo>
                <a:lnTo>
                  <a:pt x="449257" y="0"/>
                </a:lnTo>
                <a:lnTo>
                  <a:pt x="449257" y="675113"/>
                </a:lnTo>
                <a:lnTo>
                  <a:pt x="0" y="6751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8" name="Freeform 58"/>
          <p:cNvSpPr/>
          <p:nvPr/>
        </p:nvSpPr>
        <p:spPr>
          <a:xfrm>
            <a:off x="5154090" y="4614518"/>
            <a:ext cx="563278" cy="556237"/>
          </a:xfrm>
          <a:custGeom>
            <a:avLst/>
            <a:gdLst/>
            <a:ahLst/>
            <a:cxnLst/>
            <a:rect l="l" t="t" r="r" b="b"/>
            <a:pathLst>
              <a:path w="563278" h="556237">
                <a:moveTo>
                  <a:pt x="0" y="0"/>
                </a:moveTo>
                <a:lnTo>
                  <a:pt x="563278" y="0"/>
                </a:lnTo>
                <a:lnTo>
                  <a:pt x="563278" y="556237"/>
                </a:lnTo>
                <a:lnTo>
                  <a:pt x="0" y="556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9" name="Freeform 59"/>
          <p:cNvSpPr/>
          <p:nvPr/>
        </p:nvSpPr>
        <p:spPr>
          <a:xfrm>
            <a:off x="11277102" y="2858716"/>
            <a:ext cx="690866" cy="519877"/>
          </a:xfrm>
          <a:custGeom>
            <a:avLst/>
            <a:gdLst/>
            <a:ahLst/>
            <a:cxnLst/>
            <a:rect l="l" t="t" r="r" b="b"/>
            <a:pathLst>
              <a:path w="690866" h="519877">
                <a:moveTo>
                  <a:pt x="0" y="0"/>
                </a:moveTo>
                <a:lnTo>
                  <a:pt x="690866" y="0"/>
                </a:lnTo>
                <a:lnTo>
                  <a:pt x="690866" y="519877"/>
                </a:lnTo>
                <a:lnTo>
                  <a:pt x="0" y="519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0" name="Freeform 60"/>
          <p:cNvSpPr/>
          <p:nvPr/>
        </p:nvSpPr>
        <p:spPr>
          <a:xfrm>
            <a:off x="8091206" y="4465976"/>
            <a:ext cx="2067839" cy="2510621"/>
          </a:xfrm>
          <a:custGeom>
            <a:avLst/>
            <a:gdLst/>
            <a:ahLst/>
            <a:cxnLst/>
            <a:rect l="l" t="t" r="r" b="b"/>
            <a:pathLst>
              <a:path w="2067839" h="2510621">
                <a:moveTo>
                  <a:pt x="0" y="0"/>
                </a:moveTo>
                <a:lnTo>
                  <a:pt x="2067839" y="0"/>
                </a:lnTo>
                <a:lnTo>
                  <a:pt x="2067839" y="2510621"/>
                </a:lnTo>
                <a:lnTo>
                  <a:pt x="0" y="2510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1" name="Group 61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62" name="Group 62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74" name="Freeform 74"/>
          <p:cNvSpPr/>
          <p:nvPr/>
        </p:nvSpPr>
        <p:spPr>
          <a:xfrm>
            <a:off x="6124756" y="8077293"/>
            <a:ext cx="774967" cy="774967"/>
          </a:xfrm>
          <a:custGeom>
            <a:avLst/>
            <a:gdLst/>
            <a:ahLst/>
            <a:cxnLst/>
            <a:rect l="l" t="t" r="r" b="b"/>
            <a:pathLst>
              <a:path w="774967" h="774967">
                <a:moveTo>
                  <a:pt x="0" y="0"/>
                </a:moveTo>
                <a:lnTo>
                  <a:pt x="774967" y="0"/>
                </a:lnTo>
                <a:lnTo>
                  <a:pt x="774967" y="774967"/>
                </a:lnTo>
                <a:lnTo>
                  <a:pt x="0" y="774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5" name="TextBox 75"/>
          <p:cNvSpPr txBox="1"/>
          <p:nvPr/>
        </p:nvSpPr>
        <p:spPr>
          <a:xfrm>
            <a:off x="7052854" y="409670"/>
            <a:ext cx="418229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Evidencias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626022" y="2950547"/>
            <a:ext cx="3542692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ocumento formalizado con el backlog inicial, historias de usuario, estimaciones de esfuerzo.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626022" y="2581571"/>
            <a:ext cx="2466196" cy="27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Backlog e Historias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96985" y="4585943"/>
            <a:ext cx="3695233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efinición oficial del alcance, los objetivos estratégicos y el valor tecnológico entregado a la empresa contratista.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396985" y="4293568"/>
            <a:ext cx="3407019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Des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cripción de Proyecto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96985" y="6354310"/>
            <a:ext cx="3504733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Dis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eño técnico del entorno desacoplado usando Next.js y Node.js para asegurar un rendimiento óptimo y responsivo.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396985" y="6083063"/>
            <a:ext cx="3065552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Arq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uitectura del Sistema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760577" y="8143665"/>
            <a:ext cx="3403921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squema relacional en PostgreSQL diseñado para centralizar obras históricas, usuarios y el inventario de maquinaria.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760577" y="7868800"/>
            <a:ext cx="3265471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M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odelo de Base de Datos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177518" y="2830141"/>
            <a:ext cx="3403921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ronograma detallado con la planificación estratégica de los Sprints.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173203" y="2507831"/>
            <a:ext cx="3123923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Ca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rta Gantt del Proyecto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405226" y="4607689"/>
            <a:ext cx="3412540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Mat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riz para identificar y mitigar posibles contingencias operativas y de logística.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3405226" y="4312797"/>
            <a:ext cx="3208852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Pl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anilla de Riesgos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413844" y="6412436"/>
            <a:ext cx="3403921" cy="76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iseño y ejecución de auditorías de seguridad, rendimiento y validación funcional del sistema en terreno.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413844" y="6117544"/>
            <a:ext cx="3010685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Pla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n de Pruebas (QA)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216564" y="8189793"/>
            <a:ext cx="3403921" cy="1019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4"/>
              </a:lnSpc>
              <a:spcBef>
                <a:spcPct val="0"/>
              </a:spcBef>
            </a:pPr>
            <a:r>
              <a:rPr lang="en-US" sz="1481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Ent</a:t>
            </a:r>
            <a:r>
              <a:rPr lang="en-US" sz="1481" u="none" strike="noStrike">
                <a:solidFill>
                  <a:srgbClr val="FBFCFC"/>
                </a:solidFill>
                <a:latin typeface="Gotham"/>
                <a:ea typeface="Gotham"/>
                <a:cs typeface="Gotham"/>
                <a:sym typeface="Gotham"/>
              </a:rPr>
              <a:t>regas iterativas y 100% funcionales (MVP) desplegadas en un ambiente de pruebas para su revisión constante.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216564" y="7894901"/>
            <a:ext cx="3237162" cy="27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78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Inc</a:t>
            </a:r>
            <a:r>
              <a:rPr lang="en-US" sz="1784" b="1" u="none" strike="noStrike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rementos de Software</a:t>
            </a:r>
          </a:p>
        </p:txBody>
      </p:sp>
      <p:sp>
        <p:nvSpPr>
          <p:cNvPr id="92" name="Freeform 92"/>
          <p:cNvSpPr/>
          <p:nvPr/>
        </p:nvSpPr>
        <p:spPr>
          <a:xfrm>
            <a:off x="12709093" y="6292146"/>
            <a:ext cx="455471" cy="684451"/>
          </a:xfrm>
          <a:custGeom>
            <a:avLst/>
            <a:gdLst/>
            <a:ahLst/>
            <a:cxnLst/>
            <a:rect l="l" t="t" r="r" b="b"/>
            <a:pathLst>
              <a:path w="455471" h="684451">
                <a:moveTo>
                  <a:pt x="0" y="0"/>
                </a:moveTo>
                <a:lnTo>
                  <a:pt x="455471" y="0"/>
                </a:lnTo>
                <a:lnTo>
                  <a:pt x="455471" y="684451"/>
                </a:lnTo>
                <a:lnTo>
                  <a:pt x="0" y="684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4370" y="2304111"/>
            <a:ext cx="5082362" cy="1567119"/>
            <a:chOff x="0" y="0"/>
            <a:chExt cx="1467458" cy="452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6" name="Group 6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5225280" y="409670"/>
            <a:ext cx="7837441" cy="112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  <a:spcBef>
                <a:spcPct val="0"/>
              </a:spcBef>
            </a:pPr>
            <a:r>
              <a:rPr lang="en-US" sz="558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Evidencias por Sprint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6437" y="2831448"/>
            <a:ext cx="290261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Backlog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719682" y="2304111"/>
            <a:ext cx="5082362" cy="1567119"/>
            <a:chOff x="0" y="0"/>
            <a:chExt cx="1467458" cy="4524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878094" y="2831448"/>
            <a:ext cx="290261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Daily Meetings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19682" y="4359941"/>
            <a:ext cx="5082362" cy="1567119"/>
            <a:chOff x="0" y="0"/>
            <a:chExt cx="1467458" cy="4524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878094" y="4887278"/>
            <a:ext cx="290261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Review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788220" y="6698584"/>
            <a:ext cx="5082362" cy="1567119"/>
            <a:chOff x="0" y="0"/>
            <a:chExt cx="1467458" cy="45248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327376" y="7222459"/>
            <a:ext cx="400405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Sprint Retrospective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548721" y="2304111"/>
            <a:ext cx="5082362" cy="1567119"/>
            <a:chOff x="0" y="0"/>
            <a:chExt cx="1467458" cy="45248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929540" y="2831448"/>
            <a:ext cx="232072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Incremento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548721" y="4359941"/>
            <a:ext cx="5082362" cy="1567119"/>
            <a:chOff x="0" y="0"/>
            <a:chExt cx="1467458" cy="4524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427050" y="4887278"/>
            <a:ext cx="3318251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Burndown Chart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94370" y="4501348"/>
            <a:ext cx="5082362" cy="1567119"/>
            <a:chOff x="0" y="0"/>
            <a:chExt cx="1467458" cy="4524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182301" y="5028685"/>
            <a:ext cx="2590887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Scrum Board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94370" y="6695123"/>
            <a:ext cx="5082362" cy="1567119"/>
            <a:chOff x="0" y="0"/>
            <a:chExt cx="1467458" cy="45248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860182" y="7222459"/>
            <a:ext cx="3235124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Impediment Log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2544994" y="6698584"/>
            <a:ext cx="5082362" cy="1567119"/>
            <a:chOff x="0" y="0"/>
            <a:chExt cx="1467458" cy="45248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4625731" y="7225921"/>
            <a:ext cx="928342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0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MVP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B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7333" y="1028700"/>
            <a:ext cx="12833334" cy="8782900"/>
          </a:xfrm>
          <a:custGeom>
            <a:avLst/>
            <a:gdLst/>
            <a:ahLst/>
            <a:cxnLst/>
            <a:rect l="l" t="t" r="r" b="b"/>
            <a:pathLst>
              <a:path w="12833334" h="8782900">
                <a:moveTo>
                  <a:pt x="0" y="0"/>
                </a:moveTo>
                <a:lnTo>
                  <a:pt x="12833334" y="0"/>
                </a:lnTo>
                <a:lnTo>
                  <a:pt x="12833334" y="8782900"/>
                </a:lnTo>
                <a:lnTo>
                  <a:pt x="0" y="8782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685456" y="16581"/>
            <a:ext cx="8917088" cy="101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  <a:spcBef>
                <a:spcPct val="0"/>
              </a:spcBef>
            </a:pPr>
            <a:r>
              <a:rPr lang="en-US" sz="5064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Cronograma Carta Gantt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07" y="-297999"/>
            <a:ext cx="3307479" cy="10584999"/>
            <a:chOff x="0" y="0"/>
            <a:chExt cx="871106" cy="2787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1106" cy="2787819"/>
            </a:xfrm>
            <a:custGeom>
              <a:avLst/>
              <a:gdLst/>
              <a:ahLst/>
              <a:cxnLst/>
              <a:rect l="l" t="t" r="r" b="b"/>
              <a:pathLst>
                <a:path w="871106" h="2787819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00607" y="3527406"/>
            <a:ext cx="1673745" cy="3811005"/>
            <a:chOff x="0" y="0"/>
            <a:chExt cx="440822" cy="10037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822" cy="1003721"/>
            </a:xfrm>
            <a:custGeom>
              <a:avLst/>
              <a:gdLst/>
              <a:ahLst/>
              <a:cxnLst/>
              <a:rect l="l" t="t" r="r" b="b"/>
              <a:pathLst>
                <a:path w="440822" h="1003721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878833"/>
                  </a:lnTo>
                  <a:cubicBezTo>
                    <a:pt x="440822" y="947807"/>
                    <a:pt x="384907" y="1003721"/>
                    <a:pt x="315933" y="1003721"/>
                  </a:cubicBezTo>
                  <a:lnTo>
                    <a:pt x="124889" y="1003721"/>
                  </a:lnTo>
                  <a:cubicBezTo>
                    <a:pt x="55915" y="1003721"/>
                    <a:pt x="0" y="947807"/>
                    <a:pt x="0" y="878833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0822" cy="104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16095" y="3931345"/>
            <a:ext cx="842767" cy="877882"/>
          </a:xfrm>
          <a:custGeom>
            <a:avLst/>
            <a:gdLst/>
            <a:ahLst/>
            <a:cxnLst/>
            <a:rect l="l" t="t" r="r" b="b"/>
            <a:pathLst>
              <a:path w="842767" h="877882">
                <a:moveTo>
                  <a:pt x="0" y="0"/>
                </a:moveTo>
                <a:lnTo>
                  <a:pt x="842767" y="0"/>
                </a:lnTo>
                <a:lnTo>
                  <a:pt x="842767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2757803" y="5908066"/>
            <a:ext cx="885936" cy="877882"/>
          </a:xfrm>
          <a:custGeom>
            <a:avLst/>
            <a:gdLst/>
            <a:ahLst/>
            <a:cxnLst/>
            <a:rect l="l" t="t" r="r" b="b"/>
            <a:pathLst>
              <a:path w="885936" h="877882">
                <a:moveTo>
                  <a:pt x="0" y="0"/>
                </a:moveTo>
                <a:lnTo>
                  <a:pt x="885937" y="0"/>
                </a:lnTo>
                <a:lnTo>
                  <a:pt x="885937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558862" y="1979570"/>
            <a:ext cx="4984265" cy="11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u="none" strike="noStrik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Conclusiones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92722" y="3754345"/>
            <a:ext cx="13378625" cy="11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La plataforma digitaliza la gestión administrativa y utiliza Inteligencia Artificial predictiva para reemplazar procesos manuales, optimizando recursos y respaldando la toma de decisiones.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92722" y="5850916"/>
            <a:ext cx="13378625" cy="119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El nuevo p</a:t>
            </a:r>
            <a:r>
              <a:rPr lang="en-US" sz="2244" u="none" strike="noStrike" spc="6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ortafolio web moderniza la imagen corporativa, visibilizando la sólida trayectoria e infraestructura de la empresa para captar nuevos mandantes en el mercado de la construcción.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709155"/>
            <a:ext cx="2536026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7748321" y="9685343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6977091" y="2909582"/>
            <a:ext cx="4333817" cy="5292181"/>
            <a:chOff x="0" y="0"/>
            <a:chExt cx="1141417" cy="13938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06715" y="2068438"/>
            <a:ext cx="2274570" cy="227457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4467943" y="9709155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2909582"/>
            <a:ext cx="4333817" cy="5292181"/>
            <a:chOff x="0" y="0"/>
            <a:chExt cx="1141417" cy="1393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58324" y="2068438"/>
            <a:ext cx="2274570" cy="22745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20691" y="2909582"/>
            <a:ext cx="4333817" cy="5292181"/>
            <a:chOff x="0" y="0"/>
            <a:chExt cx="1141417" cy="13938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1417" cy="1393825"/>
            </a:xfrm>
            <a:custGeom>
              <a:avLst/>
              <a:gdLst/>
              <a:ahLst/>
              <a:cxnLst/>
              <a:rect l="l" t="t" r="r" b="b"/>
              <a:pathLst>
                <a:path w="1141417" h="1393825">
                  <a:moveTo>
                    <a:pt x="48233" y="0"/>
                  </a:moveTo>
                  <a:lnTo>
                    <a:pt x="1093184" y="0"/>
                  </a:lnTo>
                  <a:cubicBezTo>
                    <a:pt x="1119822" y="0"/>
                    <a:pt x="1141417" y="21595"/>
                    <a:pt x="1141417" y="48233"/>
                  </a:cubicBezTo>
                  <a:lnTo>
                    <a:pt x="1141417" y="1345593"/>
                  </a:lnTo>
                  <a:cubicBezTo>
                    <a:pt x="1141417" y="1372231"/>
                    <a:pt x="1119822" y="1393825"/>
                    <a:pt x="1093184" y="1393825"/>
                  </a:cubicBezTo>
                  <a:lnTo>
                    <a:pt x="48233" y="1393825"/>
                  </a:lnTo>
                  <a:cubicBezTo>
                    <a:pt x="21595" y="1393825"/>
                    <a:pt x="0" y="1372231"/>
                    <a:pt x="0" y="1345593"/>
                  </a:cubicBezTo>
                  <a:lnTo>
                    <a:pt x="0" y="48233"/>
                  </a:lnTo>
                  <a:cubicBezTo>
                    <a:pt x="0" y="21595"/>
                    <a:pt x="21595" y="0"/>
                    <a:pt x="48233" y="0"/>
                  </a:cubicBezTo>
                  <a:close/>
                </a:path>
              </a:pathLst>
            </a:custGeom>
            <a:solidFill>
              <a:srgbClr val="45B9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1417" cy="143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958859" y="2068438"/>
            <a:ext cx="2274570" cy="227457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25396" y="575040"/>
            <a:ext cx="4226084" cy="8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1"/>
              </a:lnSpc>
              <a:spcBef>
                <a:spcPct val="0"/>
              </a:spcBef>
            </a:pPr>
            <a:r>
              <a:rPr lang="en-US" sz="53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Reflexiones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2020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Jesús Bustamante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26648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Juakin Fredes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34011" y="4525899"/>
            <a:ext cx="3107178" cy="42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8"/>
              </a:lnSpc>
              <a:spcBef>
                <a:spcPct val="0"/>
              </a:spcBef>
            </a:pPr>
            <a:r>
              <a:rPr lang="en-US" sz="260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Antonia Sanhueza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5623" y="5118608"/>
            <a:ext cx="4011962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Considero que la solución propuesta entrega un gran valor al negocio, ya que le permite abrirse al mundo digital, agilizando sus procesos internos y mejorando su visibilidad en el mercado.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5345" y="5105400"/>
            <a:ext cx="3980526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E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Creo en el valor de nuestra propuesta y que la metodología implementada nos permitirá desarrollar el producto de la forma más óptima posible, pero aún existen desafíos respecto a las tecnologías utilizadas.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90163" y="5118608"/>
            <a:ext cx="401196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Diseñar esta plataforma me demostró lo importante que es entender el día a día de una constructora para crear herramientas que realmente les faciliten el trabajo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0884" y="9186579"/>
            <a:ext cx="2536026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7364639" y="9186579"/>
            <a:ext cx="2791357" cy="0"/>
          </a:xfrm>
          <a:prstGeom prst="line">
            <a:avLst/>
          </a:prstGeom>
          <a:ln w="47625" cap="flat">
            <a:solidFill>
              <a:srgbClr val="45B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028700" y="1524910"/>
            <a:ext cx="785484" cy="747963"/>
          </a:xfrm>
          <a:custGeom>
            <a:avLst/>
            <a:gdLst/>
            <a:ahLst/>
            <a:cxnLst/>
            <a:rect l="l" t="t" r="r" b="b"/>
            <a:pathLst>
              <a:path w="785484" h="747963">
                <a:moveTo>
                  <a:pt x="0" y="0"/>
                </a:moveTo>
                <a:lnTo>
                  <a:pt x="785484" y="0"/>
                </a:lnTo>
                <a:lnTo>
                  <a:pt x="785484" y="747964"/>
                </a:lnTo>
                <a:lnTo>
                  <a:pt x="0" y="747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9973029" y="6603388"/>
            <a:ext cx="648926" cy="6489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B9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60306" y="0"/>
            <a:ext cx="5627694" cy="10287000"/>
            <a:chOff x="0" y="0"/>
            <a:chExt cx="1306207" cy="2387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6207" cy="2387647"/>
            </a:xfrm>
            <a:custGeom>
              <a:avLst/>
              <a:gdLst/>
              <a:ahLst/>
              <a:cxnLst/>
              <a:rect l="l" t="t" r="r" b="b"/>
              <a:pathLst>
                <a:path w="1306207" h="2387647">
                  <a:moveTo>
                    <a:pt x="0" y="0"/>
                  </a:moveTo>
                  <a:lnTo>
                    <a:pt x="1306207" y="0"/>
                  </a:lnTo>
                  <a:lnTo>
                    <a:pt x="1306207" y="2387647"/>
                  </a:lnTo>
                  <a:lnTo>
                    <a:pt x="0" y="2387647"/>
                  </a:lnTo>
                  <a:close/>
                </a:path>
              </a:pathLst>
            </a:custGeom>
            <a:solidFill>
              <a:srgbClr val="45B9A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6207" cy="2425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0306" y="0"/>
            <a:ext cx="5627694" cy="10287000"/>
            <a:chOff x="0" y="0"/>
            <a:chExt cx="871877" cy="1593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877" cy="1593725"/>
            </a:xfrm>
            <a:custGeom>
              <a:avLst/>
              <a:gdLst/>
              <a:ahLst/>
              <a:cxnLst/>
              <a:rect l="l" t="t" r="r" b="b"/>
              <a:pathLst>
                <a:path w="871877" h="1593725">
                  <a:moveTo>
                    <a:pt x="0" y="0"/>
                  </a:moveTo>
                  <a:lnTo>
                    <a:pt x="871877" y="0"/>
                  </a:lnTo>
                  <a:lnTo>
                    <a:pt x="87187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1000"/>
              </a:blip>
              <a:stretch>
                <a:fillRect l="-26686" r="-14750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43777" y="1524910"/>
            <a:ext cx="7542386" cy="754238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2024" r="-17975"/>
              </a:stretch>
            </a:blipFill>
            <a:ln w="3810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50884" y="1407459"/>
            <a:ext cx="718572" cy="698509"/>
          </a:xfrm>
          <a:custGeom>
            <a:avLst/>
            <a:gdLst/>
            <a:ahLst/>
            <a:cxnLst/>
            <a:rect l="l" t="t" r="r" b="b"/>
            <a:pathLst>
              <a:path w="718572" h="698509">
                <a:moveTo>
                  <a:pt x="0" y="0"/>
                </a:moveTo>
                <a:lnTo>
                  <a:pt x="718573" y="0"/>
                </a:lnTo>
                <a:lnTo>
                  <a:pt x="718573" y="698509"/>
                </a:lnTo>
                <a:lnTo>
                  <a:pt x="0" y="69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557666" y="4163445"/>
            <a:ext cx="8140264" cy="156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04"/>
              </a:lnSpc>
              <a:spcBef>
                <a:spcPct val="0"/>
              </a:spcBef>
            </a:pPr>
            <a:r>
              <a:rPr lang="en-US" sz="7780" b="1" u="none" strike="noStrike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1384</Words>
  <Application>Microsoft Office PowerPoint</Application>
  <PresentationFormat>Personalizado</PresentationFormat>
  <Paragraphs>210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Open Sans</vt:lpstr>
      <vt:lpstr>Calibri</vt:lpstr>
      <vt:lpstr>Open Sans Bold</vt:lpstr>
      <vt:lpstr>Gotham</vt:lpstr>
      <vt:lpstr>Gotham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Contratista en Construccion Carlos Álvarez</dc:title>
  <cp:lastModifiedBy>JESUS IGNACIO BUSTAMANTE SANDOVAL</cp:lastModifiedBy>
  <cp:revision>2</cp:revision>
  <dcterms:created xsi:type="dcterms:W3CDTF">2006-08-16T00:00:00Z</dcterms:created>
  <dcterms:modified xsi:type="dcterms:W3CDTF">2026-09-03T19:05:50Z</dcterms:modified>
  <dc:identifier>DAHTI6Jq8q0</dc:identifier>
</cp:coreProperties>
</file>