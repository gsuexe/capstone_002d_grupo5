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8288000" cy="10287000"/>
  <p:notesSz cx="6858000" cy="9144000"/>
  <p:embeddedFontLst>
    <p:embeddedFont>
      <p:font typeface="Gotham" panose="020B0604020202020204" charset="0"/>
      <p:regular r:id="rId36"/>
    </p:embeddedFont>
    <p:embeddedFont>
      <p:font typeface="Gotham Bold" panose="020B0604020202020204" charset="0"/>
      <p:regular r:id="rId37"/>
    </p:embeddedFont>
    <p:embeddedFont>
      <p:font typeface="Open Sans" panose="020B0606030504020204" pitchFamily="34" charset="0"/>
      <p:regular r:id="rId38"/>
    </p:embeddedFont>
    <p:embeddedFont>
      <p:font typeface="Open Sans Bold" panose="020B0604020202020204" charset="0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3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Relationship Id="rId9" Type="http://schemas.openxmlformats.org/officeDocument/2006/relationships/image" Target="../media/image28.sv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svg"/><Relationship Id="rId2" Type="http://schemas.openxmlformats.org/officeDocument/2006/relationships/image" Target="../media/image50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sv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svg"/><Relationship Id="rId4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045670" y="-4786679"/>
            <a:ext cx="12083401" cy="1208340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CD3CA">
                <a:alpha val="66667"/>
              </a:srgbClr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045670" y="-4786679"/>
            <a:ext cx="12083401" cy="12083401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>
                <a:alphaModFix amt="38000"/>
              </a:blip>
              <a:stretch>
                <a:fillRect l="-24418" r="-24418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349389" y="-1482960"/>
            <a:ext cx="5475963" cy="547596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2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33670" y="3088308"/>
            <a:ext cx="12717821" cy="1965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099"/>
              </a:lnSpc>
            </a:pPr>
            <a:r>
              <a:rPr lang="en-US" sz="11499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PCGA Álvarez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8214862"/>
            <a:ext cx="2220602" cy="1733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400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Integrantes:</a:t>
            </a:r>
          </a:p>
          <a:p>
            <a:pPr algn="l">
              <a:lnSpc>
                <a:spcPts val="3479"/>
              </a:lnSpc>
            </a:pPr>
            <a:endParaRPr lang="en-US" sz="2400" b="1">
              <a:solidFill>
                <a:srgbClr val="45B9AD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algn="l">
              <a:lnSpc>
                <a:spcPts val="3479"/>
              </a:lnSpc>
            </a:pPr>
            <a:r>
              <a:rPr lang="en-US" sz="2400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Docente:</a:t>
            </a:r>
          </a:p>
          <a:p>
            <a:pPr algn="l">
              <a:lnSpc>
                <a:spcPts val="3479"/>
              </a:lnSpc>
            </a:pPr>
            <a:r>
              <a:rPr lang="en-US" sz="2400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Asignatura: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101621" y="8202467"/>
            <a:ext cx="8952757" cy="972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1"/>
              </a:lnSpc>
            </a:pPr>
            <a:r>
              <a:rPr lang="en-US" sz="1947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Jesús Bustamante Sandoval</a:t>
            </a:r>
          </a:p>
          <a:p>
            <a:pPr algn="l">
              <a:lnSpc>
                <a:spcPts val="2551"/>
              </a:lnSpc>
            </a:pPr>
            <a:r>
              <a:rPr lang="en-US" sz="1947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Juakin Fredes Tapia</a:t>
            </a:r>
          </a:p>
          <a:p>
            <a:pPr marL="0" lvl="0" indent="0" algn="l">
              <a:lnSpc>
                <a:spcPts val="2551"/>
              </a:lnSpc>
              <a:spcBef>
                <a:spcPct val="0"/>
              </a:spcBef>
            </a:pPr>
            <a:r>
              <a:rPr lang="en-US" sz="1947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Antonia Sanhueza Parraguez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101621" y="9187774"/>
            <a:ext cx="8952757" cy="325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1"/>
              </a:lnSpc>
              <a:spcBef>
                <a:spcPct val="0"/>
              </a:spcBef>
            </a:pPr>
            <a:r>
              <a:rPr lang="en-US" sz="1947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Mauricio Figueroa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01621" y="9581191"/>
            <a:ext cx="8952757" cy="325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1"/>
              </a:lnSpc>
              <a:spcBef>
                <a:spcPct val="0"/>
              </a:spcBef>
            </a:pPr>
            <a:r>
              <a:rPr lang="en-US" sz="1947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Capstone 002D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3670" y="5879241"/>
            <a:ext cx="10785285" cy="549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6"/>
              </a:lnSpc>
              <a:spcBef>
                <a:spcPct val="0"/>
              </a:spcBef>
            </a:pPr>
            <a:r>
              <a:rPr lang="en-US" sz="2699">
                <a:solidFill>
                  <a:srgbClr val="45B9AD"/>
                </a:solidFill>
                <a:latin typeface="Gotham"/>
                <a:ea typeface="Gotham"/>
                <a:cs typeface="Gotham"/>
                <a:sym typeface="Gotham"/>
              </a:rPr>
              <a:t>Empresa Contratista en Enfierradura Carlos Álvarez Villar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3670" y="5368319"/>
            <a:ext cx="11220708" cy="605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29"/>
              </a:lnSpc>
              <a:spcBef>
                <a:spcPct val="0"/>
              </a:spcBef>
            </a:pPr>
            <a:r>
              <a:rPr lang="en-US" sz="2999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Plataforma Web Corporativa y de Gestión Administrativa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130" y="0"/>
            <a:ext cx="6769179" cy="10287000"/>
            <a:chOff x="0" y="0"/>
            <a:chExt cx="1782829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82829" cy="2709333"/>
            </a:xfrm>
            <a:custGeom>
              <a:avLst/>
              <a:gdLst/>
              <a:ahLst/>
              <a:cxnLst/>
              <a:rect l="l" t="t" r="r" b="b"/>
              <a:pathLst>
                <a:path w="1782829" h="2709333">
                  <a:moveTo>
                    <a:pt x="0" y="0"/>
                  </a:moveTo>
                  <a:lnTo>
                    <a:pt x="1782829" y="0"/>
                  </a:lnTo>
                  <a:lnTo>
                    <a:pt x="178282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1782829" cy="2833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326758" y="1333411"/>
            <a:ext cx="2932542" cy="233980"/>
            <a:chOff x="0" y="0"/>
            <a:chExt cx="3910057" cy="311974"/>
          </a:xfrm>
        </p:grpSpPr>
        <p:grpSp>
          <p:nvGrpSpPr>
            <p:cNvPr id="6" name="Group 6"/>
            <p:cNvGrpSpPr/>
            <p:nvPr/>
          </p:nvGrpSpPr>
          <p:grpSpPr>
            <a:xfrm>
              <a:off x="1387893" y="0"/>
              <a:ext cx="2522163" cy="311974"/>
              <a:chOff x="0" y="0"/>
              <a:chExt cx="498205" cy="61624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98205" cy="61624"/>
              </a:xfrm>
              <a:custGeom>
                <a:avLst/>
                <a:gdLst/>
                <a:ahLst/>
                <a:cxnLst/>
                <a:rect l="l" t="t" r="r" b="b"/>
                <a:pathLst>
                  <a:path w="498205" h="61624">
                    <a:moveTo>
                      <a:pt x="30812" y="0"/>
                    </a:moveTo>
                    <a:lnTo>
                      <a:pt x="467393" y="0"/>
                    </a:lnTo>
                    <a:cubicBezTo>
                      <a:pt x="484410" y="0"/>
                      <a:pt x="498205" y="13795"/>
                      <a:pt x="498205" y="30812"/>
                    </a:cubicBezTo>
                    <a:lnTo>
                      <a:pt x="498205" y="30812"/>
                    </a:lnTo>
                    <a:cubicBezTo>
                      <a:pt x="498205" y="38984"/>
                      <a:pt x="494959" y="46821"/>
                      <a:pt x="489180" y="52600"/>
                    </a:cubicBezTo>
                    <a:cubicBezTo>
                      <a:pt x="483402" y="58378"/>
                      <a:pt x="475565" y="61624"/>
                      <a:pt x="467393" y="61624"/>
                    </a:cubicBezTo>
                    <a:lnTo>
                      <a:pt x="30812" y="61624"/>
                    </a:lnTo>
                    <a:cubicBezTo>
                      <a:pt x="22640" y="61624"/>
                      <a:pt x="14803" y="58378"/>
                      <a:pt x="9025" y="52600"/>
                    </a:cubicBezTo>
                    <a:cubicBezTo>
                      <a:pt x="3246" y="46821"/>
                      <a:pt x="0" y="38984"/>
                      <a:pt x="0" y="30812"/>
                    </a:cubicBezTo>
                    <a:lnTo>
                      <a:pt x="0" y="30812"/>
                    </a:lnTo>
                    <a:cubicBezTo>
                      <a:pt x="0" y="22640"/>
                      <a:pt x="3246" y="14803"/>
                      <a:pt x="9025" y="9025"/>
                    </a:cubicBezTo>
                    <a:cubicBezTo>
                      <a:pt x="14803" y="3246"/>
                      <a:pt x="22640" y="0"/>
                      <a:pt x="30812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114300"/>
                <a:ext cx="498205" cy="175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2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921480" y="0"/>
              <a:ext cx="308340" cy="311974"/>
              <a:chOff x="0" y="0"/>
              <a:chExt cx="60907" cy="6162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0907" cy="61624"/>
              </a:xfrm>
              <a:custGeom>
                <a:avLst/>
                <a:gdLst/>
                <a:ahLst/>
                <a:cxnLst/>
                <a:rect l="l" t="t" r="r" b="b"/>
                <a:pathLst>
                  <a:path w="60907" h="61624">
                    <a:moveTo>
                      <a:pt x="30453" y="0"/>
                    </a:moveTo>
                    <a:lnTo>
                      <a:pt x="30453" y="0"/>
                    </a:lnTo>
                    <a:cubicBezTo>
                      <a:pt x="38530" y="0"/>
                      <a:pt x="46276" y="3208"/>
                      <a:pt x="51987" y="8920"/>
                    </a:cubicBezTo>
                    <a:cubicBezTo>
                      <a:pt x="57698" y="14631"/>
                      <a:pt x="60907" y="22377"/>
                      <a:pt x="60907" y="30453"/>
                    </a:cubicBezTo>
                    <a:lnTo>
                      <a:pt x="60907" y="31171"/>
                    </a:lnTo>
                    <a:cubicBezTo>
                      <a:pt x="60907" y="39248"/>
                      <a:pt x="57698" y="46994"/>
                      <a:pt x="51987" y="52705"/>
                    </a:cubicBezTo>
                    <a:cubicBezTo>
                      <a:pt x="46276" y="58416"/>
                      <a:pt x="38530" y="61624"/>
                      <a:pt x="30453" y="61624"/>
                    </a:cubicBezTo>
                    <a:lnTo>
                      <a:pt x="30453" y="61624"/>
                    </a:lnTo>
                    <a:cubicBezTo>
                      <a:pt x="22377" y="61624"/>
                      <a:pt x="14631" y="58416"/>
                      <a:pt x="8920" y="52705"/>
                    </a:cubicBezTo>
                    <a:cubicBezTo>
                      <a:pt x="3208" y="46994"/>
                      <a:pt x="0" y="39248"/>
                      <a:pt x="0" y="31171"/>
                    </a:cubicBezTo>
                    <a:lnTo>
                      <a:pt x="0" y="30453"/>
                    </a:lnTo>
                    <a:cubicBezTo>
                      <a:pt x="0" y="22377"/>
                      <a:pt x="3208" y="14631"/>
                      <a:pt x="8920" y="8920"/>
                    </a:cubicBezTo>
                    <a:cubicBezTo>
                      <a:pt x="14631" y="3208"/>
                      <a:pt x="22377" y="0"/>
                      <a:pt x="30453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114300"/>
                <a:ext cx="60907" cy="175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2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460740" y="0"/>
              <a:ext cx="308340" cy="311974"/>
              <a:chOff x="0" y="0"/>
              <a:chExt cx="60907" cy="6162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60907" cy="61624"/>
              </a:xfrm>
              <a:custGeom>
                <a:avLst/>
                <a:gdLst/>
                <a:ahLst/>
                <a:cxnLst/>
                <a:rect l="l" t="t" r="r" b="b"/>
                <a:pathLst>
                  <a:path w="60907" h="61624">
                    <a:moveTo>
                      <a:pt x="30453" y="0"/>
                    </a:moveTo>
                    <a:lnTo>
                      <a:pt x="30453" y="0"/>
                    </a:lnTo>
                    <a:cubicBezTo>
                      <a:pt x="38530" y="0"/>
                      <a:pt x="46276" y="3208"/>
                      <a:pt x="51987" y="8920"/>
                    </a:cubicBezTo>
                    <a:cubicBezTo>
                      <a:pt x="57698" y="14631"/>
                      <a:pt x="60907" y="22377"/>
                      <a:pt x="60907" y="30453"/>
                    </a:cubicBezTo>
                    <a:lnTo>
                      <a:pt x="60907" y="31171"/>
                    </a:lnTo>
                    <a:cubicBezTo>
                      <a:pt x="60907" y="39248"/>
                      <a:pt x="57698" y="46994"/>
                      <a:pt x="51987" y="52705"/>
                    </a:cubicBezTo>
                    <a:cubicBezTo>
                      <a:pt x="46276" y="58416"/>
                      <a:pt x="38530" y="61624"/>
                      <a:pt x="30453" y="61624"/>
                    </a:cubicBezTo>
                    <a:lnTo>
                      <a:pt x="30453" y="61624"/>
                    </a:lnTo>
                    <a:cubicBezTo>
                      <a:pt x="22377" y="61624"/>
                      <a:pt x="14631" y="58416"/>
                      <a:pt x="8920" y="52705"/>
                    </a:cubicBezTo>
                    <a:cubicBezTo>
                      <a:pt x="3208" y="46994"/>
                      <a:pt x="0" y="39248"/>
                      <a:pt x="0" y="31171"/>
                    </a:cubicBezTo>
                    <a:lnTo>
                      <a:pt x="0" y="30453"/>
                    </a:lnTo>
                    <a:cubicBezTo>
                      <a:pt x="0" y="22377"/>
                      <a:pt x="3208" y="14631"/>
                      <a:pt x="8920" y="8920"/>
                    </a:cubicBezTo>
                    <a:cubicBezTo>
                      <a:pt x="14631" y="3208"/>
                      <a:pt x="22377" y="0"/>
                      <a:pt x="30453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114300"/>
                <a:ext cx="60907" cy="175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2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0"/>
              <a:ext cx="308340" cy="311974"/>
              <a:chOff x="0" y="0"/>
              <a:chExt cx="60907" cy="6162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60907" cy="61624"/>
              </a:xfrm>
              <a:custGeom>
                <a:avLst/>
                <a:gdLst/>
                <a:ahLst/>
                <a:cxnLst/>
                <a:rect l="l" t="t" r="r" b="b"/>
                <a:pathLst>
                  <a:path w="60907" h="61624">
                    <a:moveTo>
                      <a:pt x="30453" y="0"/>
                    </a:moveTo>
                    <a:lnTo>
                      <a:pt x="30453" y="0"/>
                    </a:lnTo>
                    <a:cubicBezTo>
                      <a:pt x="38530" y="0"/>
                      <a:pt x="46276" y="3208"/>
                      <a:pt x="51987" y="8920"/>
                    </a:cubicBezTo>
                    <a:cubicBezTo>
                      <a:pt x="57698" y="14631"/>
                      <a:pt x="60907" y="22377"/>
                      <a:pt x="60907" y="30453"/>
                    </a:cubicBezTo>
                    <a:lnTo>
                      <a:pt x="60907" y="31171"/>
                    </a:lnTo>
                    <a:cubicBezTo>
                      <a:pt x="60907" y="39248"/>
                      <a:pt x="57698" y="46994"/>
                      <a:pt x="51987" y="52705"/>
                    </a:cubicBezTo>
                    <a:cubicBezTo>
                      <a:pt x="46276" y="58416"/>
                      <a:pt x="38530" y="61624"/>
                      <a:pt x="30453" y="61624"/>
                    </a:cubicBezTo>
                    <a:lnTo>
                      <a:pt x="30453" y="61624"/>
                    </a:lnTo>
                    <a:cubicBezTo>
                      <a:pt x="22377" y="61624"/>
                      <a:pt x="14631" y="58416"/>
                      <a:pt x="8920" y="52705"/>
                    </a:cubicBezTo>
                    <a:cubicBezTo>
                      <a:pt x="3208" y="46994"/>
                      <a:pt x="0" y="39248"/>
                      <a:pt x="0" y="31171"/>
                    </a:cubicBezTo>
                    <a:lnTo>
                      <a:pt x="0" y="30453"/>
                    </a:lnTo>
                    <a:cubicBezTo>
                      <a:pt x="0" y="22377"/>
                      <a:pt x="3208" y="14631"/>
                      <a:pt x="8920" y="8920"/>
                    </a:cubicBezTo>
                    <a:cubicBezTo>
                      <a:pt x="14631" y="3208"/>
                      <a:pt x="22377" y="0"/>
                      <a:pt x="30453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114300"/>
                <a:ext cx="60907" cy="175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2"/>
                  </a:lnSpc>
                </a:pPr>
                <a:endParaRPr/>
              </a:p>
            </p:txBody>
          </p:sp>
        </p:grpSp>
      </p:grpSp>
      <p:grpSp>
        <p:nvGrpSpPr>
          <p:cNvPr id="18" name="Group 18"/>
          <p:cNvGrpSpPr/>
          <p:nvPr/>
        </p:nvGrpSpPr>
        <p:grpSpPr>
          <a:xfrm>
            <a:off x="0" y="0"/>
            <a:ext cx="6792308" cy="10287000"/>
            <a:chOff x="0" y="0"/>
            <a:chExt cx="1052306" cy="159372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52306" cy="1593725"/>
            </a:xfrm>
            <a:custGeom>
              <a:avLst/>
              <a:gdLst/>
              <a:ahLst/>
              <a:cxnLst/>
              <a:rect l="l" t="t" r="r" b="b"/>
              <a:pathLst>
                <a:path w="1052306" h="1593725">
                  <a:moveTo>
                    <a:pt x="0" y="0"/>
                  </a:moveTo>
                  <a:lnTo>
                    <a:pt x="1052306" y="0"/>
                  </a:lnTo>
                  <a:lnTo>
                    <a:pt x="1052306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>
                <a:alphaModFix amt="24000"/>
              </a:blip>
              <a:stretch>
                <a:fillRect l="-62707" r="-62707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20" name="TextBox 20"/>
          <p:cNvSpPr txBox="1"/>
          <p:nvPr/>
        </p:nvSpPr>
        <p:spPr>
          <a:xfrm rot="-5400000">
            <a:off x="273332" y="4096144"/>
            <a:ext cx="8762938" cy="2094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60"/>
              </a:lnSpc>
              <a:spcBef>
                <a:spcPct val="0"/>
              </a:spcBef>
            </a:pPr>
            <a:r>
              <a:rPr lang="en-US" sz="10444" b="1">
                <a:solidFill>
                  <a:srgbClr val="FEFFFF"/>
                </a:solidFill>
                <a:latin typeface="Gotham Bold"/>
                <a:ea typeface="Gotham Bold"/>
                <a:cs typeface="Gotham Bold"/>
                <a:sym typeface="Gotham Bold"/>
              </a:rPr>
              <a:t>Contenido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02214" y="99850"/>
            <a:ext cx="5469731" cy="9831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0"/>
              </a:lnSpc>
            </a:pPr>
            <a:r>
              <a:rPr lang="en-US" sz="2563" spc="76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Contexto</a:t>
            </a:r>
          </a:p>
          <a:p>
            <a:pPr algn="l">
              <a:lnSpc>
                <a:spcPts val="4640"/>
              </a:lnSpc>
            </a:pPr>
            <a:r>
              <a:rPr lang="en-US" sz="2563" spc="76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Problema</a:t>
            </a:r>
          </a:p>
          <a:p>
            <a:pPr algn="l">
              <a:lnSpc>
                <a:spcPts val="4640"/>
              </a:lnSpc>
            </a:pPr>
            <a:r>
              <a:rPr lang="en-US" sz="2563" spc="76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Necesidad</a:t>
            </a:r>
          </a:p>
          <a:p>
            <a:pPr algn="l">
              <a:lnSpc>
                <a:spcPts val="4640"/>
              </a:lnSpc>
            </a:pPr>
            <a:r>
              <a:rPr lang="en-US" sz="2563" spc="76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Solución</a:t>
            </a:r>
          </a:p>
          <a:p>
            <a:pPr algn="l">
              <a:lnSpc>
                <a:spcPts val="4640"/>
              </a:lnSpc>
            </a:pPr>
            <a:r>
              <a:rPr lang="en-US" sz="2563" spc="76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Requisitos Funcionales</a:t>
            </a:r>
          </a:p>
          <a:p>
            <a:pPr algn="l">
              <a:lnSpc>
                <a:spcPts val="4640"/>
              </a:lnSpc>
            </a:pPr>
            <a:r>
              <a:rPr lang="en-US" sz="2563" spc="76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Requisitos No Funcionales</a:t>
            </a:r>
          </a:p>
          <a:p>
            <a:pPr algn="l">
              <a:lnSpc>
                <a:spcPts val="4640"/>
              </a:lnSpc>
            </a:pPr>
            <a:r>
              <a:rPr lang="en-US" sz="2563" spc="76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Épicas</a:t>
            </a:r>
          </a:p>
          <a:p>
            <a:pPr algn="l">
              <a:lnSpc>
                <a:spcPts val="4640"/>
              </a:lnSpc>
            </a:pPr>
            <a:r>
              <a:rPr lang="en-US" sz="2563" spc="76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Historias de Usuario</a:t>
            </a:r>
          </a:p>
          <a:p>
            <a:pPr algn="l">
              <a:lnSpc>
                <a:spcPts val="4640"/>
              </a:lnSpc>
            </a:pPr>
            <a:r>
              <a:rPr lang="en-US" sz="2563" spc="76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Arquitectura</a:t>
            </a:r>
          </a:p>
          <a:p>
            <a:pPr algn="l">
              <a:lnSpc>
                <a:spcPts val="4640"/>
              </a:lnSpc>
            </a:pPr>
            <a:r>
              <a:rPr lang="en-US" sz="2563" spc="76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Modelo Base de Datos</a:t>
            </a:r>
          </a:p>
          <a:p>
            <a:pPr algn="l">
              <a:lnSpc>
                <a:spcPts val="4640"/>
              </a:lnSpc>
            </a:pPr>
            <a:r>
              <a:rPr lang="en-US" sz="2563" spc="76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Metodología</a:t>
            </a:r>
          </a:p>
          <a:p>
            <a:pPr algn="l">
              <a:lnSpc>
                <a:spcPts val="4640"/>
              </a:lnSpc>
            </a:pPr>
            <a:r>
              <a:rPr lang="en-US" sz="2563" spc="76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Roles</a:t>
            </a:r>
          </a:p>
          <a:p>
            <a:pPr algn="l">
              <a:lnSpc>
                <a:spcPts val="4640"/>
              </a:lnSpc>
            </a:pPr>
            <a:r>
              <a:rPr lang="en-US" sz="2563" spc="76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Evidencias</a:t>
            </a:r>
          </a:p>
          <a:p>
            <a:pPr algn="l">
              <a:lnSpc>
                <a:spcPts val="4640"/>
              </a:lnSpc>
            </a:pPr>
            <a:r>
              <a:rPr lang="en-US" sz="2563" spc="76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Cronograma</a:t>
            </a:r>
          </a:p>
          <a:p>
            <a:pPr algn="l">
              <a:lnSpc>
                <a:spcPts val="4640"/>
              </a:lnSpc>
            </a:pPr>
            <a:r>
              <a:rPr lang="en-US" sz="2563" spc="76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Demostración Incremento</a:t>
            </a:r>
          </a:p>
          <a:p>
            <a:pPr algn="l">
              <a:lnSpc>
                <a:spcPts val="4640"/>
              </a:lnSpc>
            </a:pPr>
            <a:r>
              <a:rPr lang="en-US" sz="2563" spc="76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Conclusiones y Próximos Pasos </a:t>
            </a:r>
          </a:p>
          <a:p>
            <a:pPr algn="l">
              <a:lnSpc>
                <a:spcPts val="4640"/>
              </a:lnSpc>
            </a:pPr>
            <a:r>
              <a:rPr lang="en-US" sz="2563" spc="76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Reflexiones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6071188" y="227902"/>
            <a:ext cx="1266195" cy="10059098"/>
            <a:chOff x="0" y="0"/>
            <a:chExt cx="293230" cy="261299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93230" cy="2612991"/>
            </a:xfrm>
            <a:custGeom>
              <a:avLst/>
              <a:gdLst/>
              <a:ahLst/>
              <a:cxnLst/>
              <a:rect l="l" t="t" r="r" b="b"/>
              <a:pathLst>
                <a:path w="293230" h="2612991">
                  <a:moveTo>
                    <a:pt x="0" y="0"/>
                  </a:moveTo>
                  <a:lnTo>
                    <a:pt x="293230" y="0"/>
                  </a:lnTo>
                  <a:lnTo>
                    <a:pt x="293230" y="2612991"/>
                  </a:lnTo>
                  <a:lnTo>
                    <a:pt x="0" y="2612991"/>
                  </a:lnTo>
                  <a:close/>
                </a:path>
              </a:pathLst>
            </a:custGeom>
            <a:solidFill>
              <a:srgbClr val="E7E9E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152400"/>
              <a:ext cx="293230" cy="27653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640"/>
                </a:lnSpc>
              </a:pPr>
              <a:r>
                <a:rPr lang="en-US" sz="2563" b="1" spc="76" dirty="0">
                  <a:solidFill>
                    <a:srgbClr val="332B22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01</a:t>
              </a:r>
            </a:p>
            <a:p>
              <a:pPr algn="ctr">
                <a:lnSpc>
                  <a:spcPts val="4640"/>
                </a:lnSpc>
              </a:pPr>
              <a:r>
                <a:rPr lang="en-US" sz="2563" b="1" spc="76" dirty="0">
                  <a:solidFill>
                    <a:srgbClr val="332B22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02</a:t>
              </a:r>
            </a:p>
            <a:p>
              <a:pPr algn="ctr">
                <a:lnSpc>
                  <a:spcPts val="4640"/>
                </a:lnSpc>
              </a:pPr>
              <a:r>
                <a:rPr lang="en-US" sz="2563" b="1" spc="76" dirty="0">
                  <a:solidFill>
                    <a:srgbClr val="332B22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03</a:t>
              </a:r>
            </a:p>
            <a:p>
              <a:pPr algn="ctr">
                <a:lnSpc>
                  <a:spcPts val="4640"/>
                </a:lnSpc>
              </a:pPr>
              <a:r>
                <a:rPr lang="en-US" sz="2563" b="1" spc="76" dirty="0">
                  <a:solidFill>
                    <a:srgbClr val="332B22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04</a:t>
              </a:r>
            </a:p>
            <a:p>
              <a:pPr algn="ctr">
                <a:lnSpc>
                  <a:spcPts val="4640"/>
                </a:lnSpc>
              </a:pPr>
              <a:r>
                <a:rPr lang="en-US" sz="2563" b="1" spc="76" dirty="0">
                  <a:solidFill>
                    <a:srgbClr val="332B22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05</a:t>
              </a:r>
            </a:p>
            <a:p>
              <a:pPr algn="ctr">
                <a:lnSpc>
                  <a:spcPts val="4640"/>
                </a:lnSpc>
              </a:pPr>
              <a:r>
                <a:rPr lang="en-US" sz="2563" b="1" spc="76" dirty="0">
                  <a:solidFill>
                    <a:srgbClr val="332B22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06</a:t>
              </a:r>
            </a:p>
            <a:p>
              <a:pPr algn="ctr">
                <a:lnSpc>
                  <a:spcPts val="4640"/>
                </a:lnSpc>
              </a:pPr>
              <a:r>
                <a:rPr lang="en-US" sz="2563" b="1" spc="76" dirty="0">
                  <a:solidFill>
                    <a:srgbClr val="332B22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07</a:t>
              </a:r>
            </a:p>
            <a:p>
              <a:pPr algn="ctr">
                <a:lnSpc>
                  <a:spcPts val="4640"/>
                </a:lnSpc>
              </a:pPr>
              <a:r>
                <a:rPr lang="en-US" sz="2563" b="1" spc="76" dirty="0">
                  <a:solidFill>
                    <a:srgbClr val="332B22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08</a:t>
              </a:r>
            </a:p>
            <a:p>
              <a:pPr algn="ctr">
                <a:lnSpc>
                  <a:spcPts val="4640"/>
                </a:lnSpc>
              </a:pPr>
              <a:r>
                <a:rPr lang="en-US" sz="2563" b="1" spc="76" dirty="0">
                  <a:solidFill>
                    <a:srgbClr val="332B22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09</a:t>
              </a:r>
            </a:p>
            <a:p>
              <a:pPr algn="ctr">
                <a:lnSpc>
                  <a:spcPts val="4640"/>
                </a:lnSpc>
              </a:pPr>
              <a:r>
                <a:rPr lang="en-US" sz="2563" b="1" spc="76" dirty="0">
                  <a:solidFill>
                    <a:srgbClr val="332B22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10</a:t>
              </a:r>
            </a:p>
            <a:p>
              <a:pPr algn="ctr">
                <a:lnSpc>
                  <a:spcPts val="4640"/>
                </a:lnSpc>
              </a:pPr>
              <a:r>
                <a:rPr lang="en-US" sz="2563" b="1" spc="76" dirty="0">
                  <a:solidFill>
                    <a:srgbClr val="332B22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11</a:t>
              </a:r>
            </a:p>
            <a:p>
              <a:pPr algn="ctr">
                <a:lnSpc>
                  <a:spcPts val="4640"/>
                </a:lnSpc>
              </a:pPr>
              <a:r>
                <a:rPr lang="en-US" sz="2563" b="1" spc="76" dirty="0">
                  <a:solidFill>
                    <a:srgbClr val="332B22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12</a:t>
              </a:r>
            </a:p>
            <a:p>
              <a:pPr algn="ctr">
                <a:lnSpc>
                  <a:spcPts val="4640"/>
                </a:lnSpc>
              </a:pPr>
              <a:r>
                <a:rPr lang="en-US" sz="2563" b="1" spc="76" dirty="0">
                  <a:solidFill>
                    <a:srgbClr val="332B22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13</a:t>
              </a:r>
            </a:p>
            <a:p>
              <a:pPr algn="ctr">
                <a:lnSpc>
                  <a:spcPts val="4640"/>
                </a:lnSpc>
              </a:pPr>
              <a:r>
                <a:rPr lang="en-US" sz="2563" b="1" spc="76" dirty="0">
                  <a:solidFill>
                    <a:srgbClr val="332B22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14</a:t>
              </a:r>
            </a:p>
            <a:p>
              <a:pPr algn="ctr">
                <a:lnSpc>
                  <a:spcPts val="4640"/>
                </a:lnSpc>
              </a:pPr>
              <a:r>
                <a:rPr lang="en-US" sz="2563" b="1" spc="76" dirty="0">
                  <a:solidFill>
                    <a:srgbClr val="332B22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15</a:t>
              </a:r>
            </a:p>
            <a:p>
              <a:pPr algn="ctr">
                <a:lnSpc>
                  <a:spcPts val="4640"/>
                </a:lnSpc>
              </a:pPr>
              <a:r>
                <a:rPr lang="en-US" sz="2563" b="1" spc="76" dirty="0">
                  <a:solidFill>
                    <a:srgbClr val="332B22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16</a:t>
              </a:r>
            </a:p>
            <a:p>
              <a:pPr marL="0" lvl="0" indent="0" algn="ctr">
                <a:lnSpc>
                  <a:spcPts val="4640"/>
                </a:lnSpc>
                <a:spcBef>
                  <a:spcPct val="0"/>
                </a:spcBef>
              </a:pPr>
              <a:r>
                <a:rPr lang="en-US" sz="2563" b="1" spc="76" dirty="0">
                  <a:solidFill>
                    <a:srgbClr val="332B22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17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504208" y="0"/>
            <a:ext cx="6783792" cy="10287000"/>
            <a:chOff x="0" y="0"/>
            <a:chExt cx="178667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86678" cy="2709333"/>
            </a:xfrm>
            <a:custGeom>
              <a:avLst/>
              <a:gdLst/>
              <a:ahLst/>
              <a:cxnLst/>
              <a:rect l="l" t="t" r="r" b="b"/>
              <a:pathLst>
                <a:path w="1786678" h="2709333">
                  <a:moveTo>
                    <a:pt x="0" y="0"/>
                  </a:moveTo>
                  <a:lnTo>
                    <a:pt x="1786678" y="0"/>
                  </a:lnTo>
                  <a:lnTo>
                    <a:pt x="178667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1786678" cy="2776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1" indent="0" algn="l">
                <a:lnSpc>
                  <a:spcPts val="3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504208" y="0"/>
            <a:ext cx="6783792" cy="7622135"/>
            <a:chOff x="0" y="0"/>
            <a:chExt cx="671593" cy="7545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71593" cy="754589"/>
            </a:xfrm>
            <a:custGeom>
              <a:avLst/>
              <a:gdLst/>
              <a:ahLst/>
              <a:cxnLst/>
              <a:rect l="l" t="t" r="r" b="b"/>
              <a:pathLst>
                <a:path w="671593" h="754589">
                  <a:moveTo>
                    <a:pt x="0" y="0"/>
                  </a:moveTo>
                  <a:lnTo>
                    <a:pt x="671593" y="0"/>
                  </a:lnTo>
                  <a:lnTo>
                    <a:pt x="671593" y="754589"/>
                  </a:lnTo>
                  <a:lnTo>
                    <a:pt x="0" y="754589"/>
                  </a:lnTo>
                  <a:close/>
                </a:path>
              </a:pathLst>
            </a:custGeom>
            <a:blipFill>
              <a:blip r:embed="rId2">
                <a:alphaModFix amt="56000"/>
              </a:blip>
              <a:stretch>
                <a:fillRect l="-50811" r="-17725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76173" y="2053029"/>
            <a:ext cx="10578048" cy="6562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46"/>
              </a:lnSpc>
            </a:pPr>
            <a:endParaRPr/>
          </a:p>
          <a:p>
            <a:pPr marL="677637" lvl="1" indent="-338818" algn="l">
              <a:lnSpc>
                <a:spcPts val="4582"/>
              </a:lnSpc>
              <a:buFont typeface="Arial"/>
              <a:buChar char="•"/>
            </a:pPr>
            <a:r>
              <a:rPr lang="en-US" sz="3138" spc="94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Empresa fue fundada hace más de 25 años en Viña del Mar. </a:t>
            </a:r>
          </a:p>
          <a:p>
            <a:pPr marL="677637" lvl="1" indent="-338818" algn="l">
              <a:lnSpc>
                <a:spcPts val="4582"/>
              </a:lnSpc>
              <a:buFont typeface="Arial"/>
              <a:buChar char="•"/>
            </a:pPr>
            <a:r>
              <a:rPr lang="en-US" sz="3138" spc="94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Cuenta con un prestigio consolidado a través de tres generaciones familiares.</a:t>
            </a:r>
          </a:p>
          <a:p>
            <a:pPr marL="677637" lvl="1" indent="-338818" algn="l">
              <a:lnSpc>
                <a:spcPts val="4582"/>
              </a:lnSpc>
              <a:buFont typeface="Arial"/>
              <a:buChar char="•"/>
            </a:pPr>
            <a:r>
              <a:rPr lang="en-US" sz="3138" spc="94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Vasto historial laboral en proyectos comprobables en el sector habitacional en altura (Concón, Reñaca), comercial (Tottus, Cencosud) e Industrial (Codelco)</a:t>
            </a:r>
          </a:p>
          <a:p>
            <a:pPr marL="677637" lvl="1" indent="-338818" algn="l">
              <a:lnSpc>
                <a:spcPts val="4582"/>
              </a:lnSpc>
              <a:buFont typeface="Arial"/>
              <a:buChar char="•"/>
            </a:pPr>
            <a:r>
              <a:rPr lang="en-US" sz="3138" spc="94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Cuentan con maquinaria industrial propia para garantizar rendimiento, calidad y cumplimiento de plazos en obra.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20128" y="335898"/>
            <a:ext cx="7564416" cy="1109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37"/>
              </a:lnSpc>
              <a:spcBef>
                <a:spcPct val="0"/>
              </a:spcBef>
            </a:pPr>
            <a:r>
              <a:rPr lang="en-US" sz="5519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Contexto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392" y="-34742"/>
            <a:ext cx="18288000" cy="5314414"/>
            <a:chOff x="0" y="0"/>
            <a:chExt cx="3458436" cy="100500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58436" cy="1005006"/>
            </a:xfrm>
            <a:custGeom>
              <a:avLst/>
              <a:gdLst/>
              <a:ahLst/>
              <a:cxnLst/>
              <a:rect l="l" t="t" r="r" b="b"/>
              <a:pathLst>
                <a:path w="3458436" h="1005006">
                  <a:moveTo>
                    <a:pt x="0" y="0"/>
                  </a:moveTo>
                  <a:lnTo>
                    <a:pt x="3458436" y="0"/>
                  </a:lnTo>
                  <a:lnTo>
                    <a:pt x="3458436" y="1005006"/>
                  </a:lnTo>
                  <a:lnTo>
                    <a:pt x="0" y="1005006"/>
                  </a:lnTo>
                  <a:close/>
                </a:path>
              </a:pathLst>
            </a:custGeom>
            <a:solidFill>
              <a:srgbClr val="45B9AD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-34742"/>
            <a:ext cx="18288000" cy="5314414"/>
            <a:chOff x="0" y="0"/>
            <a:chExt cx="3458436" cy="100500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458436" cy="1005006"/>
            </a:xfrm>
            <a:custGeom>
              <a:avLst/>
              <a:gdLst/>
              <a:ahLst/>
              <a:cxnLst/>
              <a:rect l="l" t="t" r="r" b="b"/>
              <a:pathLst>
                <a:path w="3458436" h="1005006">
                  <a:moveTo>
                    <a:pt x="0" y="0"/>
                  </a:moveTo>
                  <a:lnTo>
                    <a:pt x="3458436" y="0"/>
                  </a:lnTo>
                  <a:lnTo>
                    <a:pt x="3458436" y="1005006"/>
                  </a:lnTo>
                  <a:lnTo>
                    <a:pt x="0" y="1005006"/>
                  </a:lnTo>
                  <a:close/>
                </a:path>
              </a:pathLst>
            </a:custGeom>
            <a:blipFill>
              <a:blip r:embed="rId2">
                <a:alphaModFix amt="39000"/>
              </a:blip>
              <a:stretch>
                <a:fillRect t="-41557" b="-87701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5585655"/>
            <a:ext cx="8870578" cy="1115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03"/>
              </a:lnSpc>
              <a:spcBef>
                <a:spcPct val="0"/>
              </a:spcBef>
            </a:pPr>
            <a:r>
              <a:rPr lang="en-US" sz="5557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Problema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69018" y="7063638"/>
            <a:ext cx="5827351" cy="2280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6767" lvl="1" indent="-268383" algn="l">
              <a:lnSpc>
                <a:spcPts val="3629"/>
              </a:lnSpc>
              <a:buFont typeface="Arial"/>
              <a:buChar char="•"/>
            </a:pPr>
            <a:r>
              <a:rPr lang="en-US" sz="2486" spc="74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El administrador de la empresa realiza los procedimientos analógicamente, perdiendo tiempo y sumando un esfuerzo extra a su trabajo.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95847" y="7063638"/>
            <a:ext cx="5137763" cy="2262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6767" lvl="1" indent="-268383" algn="l">
              <a:lnSpc>
                <a:spcPts val="3629"/>
              </a:lnSpc>
              <a:buFont typeface="Arial"/>
              <a:buChar char="•"/>
            </a:pPr>
            <a:r>
              <a:rPr lang="en-US" sz="2486" spc="74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Reciben pocas solicitudes de trabajo a pesar de los años de experiencia de la empresa.</a:t>
            </a:r>
          </a:p>
          <a:p>
            <a:pPr algn="l">
              <a:lnSpc>
                <a:spcPts val="3483"/>
              </a:lnSpc>
            </a:pPr>
            <a:endParaRPr lang="en-US" sz="2486" spc="74">
              <a:solidFill>
                <a:srgbClr val="332C2B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433088" y="7063638"/>
            <a:ext cx="5603138" cy="2737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6767" lvl="1" indent="-268383" algn="l">
              <a:lnSpc>
                <a:spcPts val="3629"/>
              </a:lnSpc>
              <a:buFont typeface="Arial"/>
              <a:buChar char="•"/>
            </a:pPr>
            <a:r>
              <a:rPr lang="en-US" sz="2486" spc="74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La información y documentación de la empresa se encuentra dispersa y desordenada, por lo que es difícil de navegar y de gestionar.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363681" y="0"/>
            <a:ext cx="8924319" cy="10287000"/>
            <a:chOff x="0" y="0"/>
            <a:chExt cx="235043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50438" cy="2709333"/>
            </a:xfrm>
            <a:custGeom>
              <a:avLst/>
              <a:gdLst/>
              <a:ahLst/>
              <a:cxnLst/>
              <a:rect l="l" t="t" r="r" b="b"/>
              <a:pathLst>
                <a:path w="2350438" h="2709333">
                  <a:moveTo>
                    <a:pt x="0" y="0"/>
                  </a:moveTo>
                  <a:lnTo>
                    <a:pt x="2350438" y="0"/>
                  </a:lnTo>
                  <a:lnTo>
                    <a:pt x="23504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350438" cy="2776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1" indent="0" algn="l">
                <a:lnSpc>
                  <a:spcPts val="3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363681" y="0"/>
            <a:ext cx="8924319" cy="7622135"/>
            <a:chOff x="0" y="0"/>
            <a:chExt cx="883505" cy="7545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83505" cy="754589"/>
            </a:xfrm>
            <a:custGeom>
              <a:avLst/>
              <a:gdLst/>
              <a:ahLst/>
              <a:cxnLst/>
              <a:rect l="l" t="t" r="r" b="b"/>
              <a:pathLst>
                <a:path w="883505" h="754589">
                  <a:moveTo>
                    <a:pt x="0" y="0"/>
                  </a:moveTo>
                  <a:lnTo>
                    <a:pt x="883505" y="0"/>
                  </a:lnTo>
                  <a:lnTo>
                    <a:pt x="883505" y="754589"/>
                  </a:lnTo>
                  <a:lnTo>
                    <a:pt x="0" y="754589"/>
                  </a:lnTo>
                  <a:close/>
                </a:path>
              </a:pathLst>
            </a:custGeom>
            <a:blipFill>
              <a:blip r:embed="rId2">
                <a:alphaModFix amt="56000"/>
              </a:blip>
              <a:stretch>
                <a:fillRect l="-14025" r="-14025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205300" y="2762424"/>
            <a:ext cx="7564416" cy="6121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6002" lvl="1" indent="-258001" algn="l">
              <a:lnSpc>
                <a:spcPts val="3489"/>
              </a:lnSpc>
              <a:buFont typeface="Arial"/>
              <a:buChar char="•"/>
            </a:pPr>
            <a:r>
              <a:rPr lang="en-US" sz="2390" spc="71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Modernización del método de divulgación de sus servicios y de la ejecución de procesos administrativos. </a:t>
            </a:r>
          </a:p>
          <a:p>
            <a:pPr algn="l">
              <a:lnSpc>
                <a:spcPts val="3489"/>
              </a:lnSpc>
            </a:pPr>
            <a:endParaRPr lang="en-US" sz="2390" spc="71">
              <a:solidFill>
                <a:srgbClr val="332B22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516002" lvl="1" indent="-258001" algn="l">
              <a:lnSpc>
                <a:spcPts val="3489"/>
              </a:lnSpc>
              <a:buFont typeface="Arial"/>
              <a:buChar char="•"/>
            </a:pPr>
            <a:r>
              <a:rPr lang="en-US" sz="2390" spc="71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Mantener documentación centralizada, accesible y ordenada.</a:t>
            </a:r>
          </a:p>
          <a:p>
            <a:pPr algn="l">
              <a:lnSpc>
                <a:spcPts val="3489"/>
              </a:lnSpc>
            </a:pPr>
            <a:endParaRPr lang="en-US" sz="2390" spc="71">
              <a:solidFill>
                <a:srgbClr val="332B22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516002" lvl="1" indent="-258001" algn="l">
              <a:lnSpc>
                <a:spcPts val="3489"/>
              </a:lnSpc>
              <a:buFont typeface="Arial"/>
              <a:buChar char="•"/>
            </a:pPr>
            <a:r>
              <a:rPr lang="en-US" sz="2390" spc="71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Gestionar la información de sus trabajadores y consecuentemente tener control de un historial de sus trabajadores.</a:t>
            </a:r>
          </a:p>
          <a:p>
            <a:pPr algn="l">
              <a:lnSpc>
                <a:spcPts val="3489"/>
              </a:lnSpc>
            </a:pPr>
            <a:endParaRPr lang="en-US" sz="2390" spc="71">
              <a:solidFill>
                <a:srgbClr val="332B22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516002" lvl="1" indent="-258001" algn="l">
              <a:lnSpc>
                <a:spcPts val="3489"/>
              </a:lnSpc>
              <a:buFont typeface="Arial"/>
              <a:buChar char="•"/>
            </a:pPr>
            <a:r>
              <a:rPr lang="en-US" sz="2390" spc="71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Calcular y registrar el costo de todas las áreas (cotización) en un entorno seguro y ordenado.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05300" y="1126494"/>
            <a:ext cx="7564416" cy="1109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37"/>
              </a:lnSpc>
              <a:spcBef>
                <a:spcPct val="0"/>
              </a:spcBef>
            </a:pPr>
            <a:r>
              <a:rPr lang="en-US" sz="5519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Necesidad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56168" y="3396918"/>
            <a:ext cx="4664478" cy="5546011"/>
            <a:chOff x="0" y="0"/>
            <a:chExt cx="1228504" cy="14606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28504" cy="1460678"/>
            </a:xfrm>
            <a:custGeom>
              <a:avLst/>
              <a:gdLst/>
              <a:ahLst/>
              <a:cxnLst/>
              <a:rect l="l" t="t" r="r" b="b"/>
              <a:pathLst>
                <a:path w="1228504" h="1460678">
                  <a:moveTo>
                    <a:pt x="48133" y="0"/>
                  </a:moveTo>
                  <a:lnTo>
                    <a:pt x="1180371" y="0"/>
                  </a:lnTo>
                  <a:cubicBezTo>
                    <a:pt x="1193137" y="0"/>
                    <a:pt x="1205380" y="5071"/>
                    <a:pt x="1214406" y="14098"/>
                  </a:cubicBezTo>
                  <a:cubicBezTo>
                    <a:pt x="1223433" y="23125"/>
                    <a:pt x="1228504" y="35367"/>
                    <a:pt x="1228504" y="48133"/>
                  </a:cubicBezTo>
                  <a:lnTo>
                    <a:pt x="1228504" y="1412545"/>
                  </a:lnTo>
                  <a:cubicBezTo>
                    <a:pt x="1228504" y="1425310"/>
                    <a:pt x="1223433" y="1437553"/>
                    <a:pt x="1214406" y="1446580"/>
                  </a:cubicBezTo>
                  <a:cubicBezTo>
                    <a:pt x="1205380" y="1455607"/>
                    <a:pt x="1193137" y="1460678"/>
                    <a:pt x="1180371" y="1460678"/>
                  </a:cubicBezTo>
                  <a:lnTo>
                    <a:pt x="48133" y="1460678"/>
                  </a:lnTo>
                  <a:cubicBezTo>
                    <a:pt x="21550" y="1460678"/>
                    <a:pt x="0" y="1439128"/>
                    <a:pt x="0" y="1412545"/>
                  </a:cubicBezTo>
                  <a:lnTo>
                    <a:pt x="0" y="48133"/>
                  </a:lnTo>
                  <a:cubicBezTo>
                    <a:pt x="0" y="35367"/>
                    <a:pt x="5071" y="23125"/>
                    <a:pt x="14098" y="14098"/>
                  </a:cubicBezTo>
                  <a:cubicBezTo>
                    <a:pt x="23125" y="5071"/>
                    <a:pt x="35367" y="0"/>
                    <a:pt x="48133" y="0"/>
                  </a:cubicBezTo>
                  <a:close/>
                </a:path>
              </a:pathLst>
            </a:custGeom>
            <a:solidFill>
              <a:srgbClr val="EAEBE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1228504" cy="15845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201165" y="3811597"/>
            <a:ext cx="1374483" cy="137448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3543326" y="4189540"/>
            <a:ext cx="690161" cy="690161"/>
          </a:xfrm>
          <a:custGeom>
            <a:avLst/>
            <a:gdLst/>
            <a:ahLst/>
            <a:cxnLst/>
            <a:rect l="l" t="t" r="r" b="b"/>
            <a:pathLst>
              <a:path w="690161" h="690161">
                <a:moveTo>
                  <a:pt x="0" y="0"/>
                </a:moveTo>
                <a:lnTo>
                  <a:pt x="690161" y="0"/>
                </a:lnTo>
                <a:lnTo>
                  <a:pt x="690161" y="690161"/>
                </a:lnTo>
                <a:lnTo>
                  <a:pt x="0" y="6901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9" name="Group 9"/>
          <p:cNvGrpSpPr/>
          <p:nvPr/>
        </p:nvGrpSpPr>
        <p:grpSpPr>
          <a:xfrm>
            <a:off x="6812327" y="3396918"/>
            <a:ext cx="4664478" cy="5546011"/>
            <a:chOff x="0" y="0"/>
            <a:chExt cx="1228504" cy="14606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28504" cy="1460678"/>
            </a:xfrm>
            <a:custGeom>
              <a:avLst/>
              <a:gdLst/>
              <a:ahLst/>
              <a:cxnLst/>
              <a:rect l="l" t="t" r="r" b="b"/>
              <a:pathLst>
                <a:path w="1228504" h="1460678">
                  <a:moveTo>
                    <a:pt x="48133" y="0"/>
                  </a:moveTo>
                  <a:lnTo>
                    <a:pt x="1180371" y="0"/>
                  </a:lnTo>
                  <a:cubicBezTo>
                    <a:pt x="1193137" y="0"/>
                    <a:pt x="1205380" y="5071"/>
                    <a:pt x="1214406" y="14098"/>
                  </a:cubicBezTo>
                  <a:cubicBezTo>
                    <a:pt x="1223433" y="23125"/>
                    <a:pt x="1228504" y="35367"/>
                    <a:pt x="1228504" y="48133"/>
                  </a:cubicBezTo>
                  <a:lnTo>
                    <a:pt x="1228504" y="1412545"/>
                  </a:lnTo>
                  <a:cubicBezTo>
                    <a:pt x="1228504" y="1425310"/>
                    <a:pt x="1223433" y="1437553"/>
                    <a:pt x="1214406" y="1446580"/>
                  </a:cubicBezTo>
                  <a:cubicBezTo>
                    <a:pt x="1205380" y="1455607"/>
                    <a:pt x="1193137" y="1460678"/>
                    <a:pt x="1180371" y="1460678"/>
                  </a:cubicBezTo>
                  <a:lnTo>
                    <a:pt x="48133" y="1460678"/>
                  </a:lnTo>
                  <a:cubicBezTo>
                    <a:pt x="21550" y="1460678"/>
                    <a:pt x="0" y="1439128"/>
                    <a:pt x="0" y="1412545"/>
                  </a:cubicBezTo>
                  <a:lnTo>
                    <a:pt x="0" y="48133"/>
                  </a:lnTo>
                  <a:cubicBezTo>
                    <a:pt x="0" y="35367"/>
                    <a:pt x="5071" y="23125"/>
                    <a:pt x="14098" y="14098"/>
                  </a:cubicBezTo>
                  <a:cubicBezTo>
                    <a:pt x="23125" y="5071"/>
                    <a:pt x="35367" y="0"/>
                    <a:pt x="48133" y="0"/>
                  </a:cubicBezTo>
                  <a:close/>
                </a:path>
              </a:pathLst>
            </a:custGeom>
            <a:solidFill>
              <a:srgbClr val="EAEBE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23825"/>
              <a:ext cx="1228504" cy="15845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457324" y="3811597"/>
            <a:ext cx="1374483" cy="1374483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067355" y="3428622"/>
            <a:ext cx="4664478" cy="5546011"/>
            <a:chOff x="0" y="0"/>
            <a:chExt cx="1228504" cy="146067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28504" cy="1460678"/>
            </a:xfrm>
            <a:custGeom>
              <a:avLst/>
              <a:gdLst/>
              <a:ahLst/>
              <a:cxnLst/>
              <a:rect l="l" t="t" r="r" b="b"/>
              <a:pathLst>
                <a:path w="1228504" h="1460678">
                  <a:moveTo>
                    <a:pt x="48133" y="0"/>
                  </a:moveTo>
                  <a:lnTo>
                    <a:pt x="1180371" y="0"/>
                  </a:lnTo>
                  <a:cubicBezTo>
                    <a:pt x="1193137" y="0"/>
                    <a:pt x="1205380" y="5071"/>
                    <a:pt x="1214406" y="14098"/>
                  </a:cubicBezTo>
                  <a:cubicBezTo>
                    <a:pt x="1223433" y="23125"/>
                    <a:pt x="1228504" y="35367"/>
                    <a:pt x="1228504" y="48133"/>
                  </a:cubicBezTo>
                  <a:lnTo>
                    <a:pt x="1228504" y="1412545"/>
                  </a:lnTo>
                  <a:cubicBezTo>
                    <a:pt x="1228504" y="1425310"/>
                    <a:pt x="1223433" y="1437553"/>
                    <a:pt x="1214406" y="1446580"/>
                  </a:cubicBezTo>
                  <a:cubicBezTo>
                    <a:pt x="1205380" y="1455607"/>
                    <a:pt x="1193137" y="1460678"/>
                    <a:pt x="1180371" y="1460678"/>
                  </a:cubicBezTo>
                  <a:lnTo>
                    <a:pt x="48133" y="1460678"/>
                  </a:lnTo>
                  <a:cubicBezTo>
                    <a:pt x="21550" y="1460678"/>
                    <a:pt x="0" y="1439128"/>
                    <a:pt x="0" y="1412545"/>
                  </a:cubicBezTo>
                  <a:lnTo>
                    <a:pt x="0" y="48133"/>
                  </a:lnTo>
                  <a:cubicBezTo>
                    <a:pt x="0" y="35367"/>
                    <a:pt x="5071" y="23125"/>
                    <a:pt x="14098" y="14098"/>
                  </a:cubicBezTo>
                  <a:cubicBezTo>
                    <a:pt x="23125" y="5071"/>
                    <a:pt x="35367" y="0"/>
                    <a:pt x="48133" y="0"/>
                  </a:cubicBezTo>
                  <a:close/>
                </a:path>
              </a:pathLst>
            </a:custGeom>
            <a:solidFill>
              <a:srgbClr val="EAEBE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23825"/>
              <a:ext cx="1228504" cy="15845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712352" y="3844914"/>
            <a:ext cx="1374483" cy="1374483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8750980" y="4006445"/>
            <a:ext cx="786039" cy="984787"/>
          </a:xfrm>
          <a:custGeom>
            <a:avLst/>
            <a:gdLst/>
            <a:ahLst/>
            <a:cxnLst/>
            <a:rect l="l" t="t" r="r" b="b"/>
            <a:pathLst>
              <a:path w="786039" h="984787">
                <a:moveTo>
                  <a:pt x="0" y="0"/>
                </a:moveTo>
                <a:lnTo>
                  <a:pt x="786040" y="0"/>
                </a:lnTo>
                <a:lnTo>
                  <a:pt x="786040" y="984787"/>
                </a:lnTo>
                <a:lnTo>
                  <a:pt x="0" y="9847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2" name="TextBox 22"/>
          <p:cNvSpPr txBox="1"/>
          <p:nvPr/>
        </p:nvSpPr>
        <p:spPr>
          <a:xfrm>
            <a:off x="1916400" y="6291455"/>
            <a:ext cx="3945144" cy="1221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4"/>
              </a:lnSpc>
            </a:pPr>
            <a:r>
              <a:rPr lang="en-US" sz="1646" spc="49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Evidenciar </a:t>
            </a:r>
            <a:r>
              <a:rPr lang="en-US" sz="1646" u="none" strike="noStrike" spc="49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proyectos realizados, experiencia, maquinaria y equipo de la empresa para captar nuevos clientes.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086350" y="1322265"/>
            <a:ext cx="8115300" cy="1109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37"/>
              </a:lnSpc>
              <a:spcBef>
                <a:spcPct val="0"/>
              </a:spcBef>
            </a:pPr>
            <a:r>
              <a:rPr lang="en-US" sz="5519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Solución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916400" y="5410543"/>
            <a:ext cx="3945144" cy="846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6"/>
              </a:lnSpc>
            </a:pPr>
            <a:r>
              <a:rPr lang="en-US" sz="2346" b="1" spc="70">
                <a:solidFill>
                  <a:srgbClr val="332B22"/>
                </a:solidFill>
                <a:latin typeface="Gotham Bold"/>
                <a:ea typeface="Gotham Bold"/>
                <a:cs typeface="Gotham Bold"/>
                <a:sym typeface="Gotham Bold"/>
              </a:rPr>
              <a:t>Portafolio visual e informativo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172559" y="6291455"/>
            <a:ext cx="3945144" cy="917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4"/>
              </a:lnSpc>
            </a:pPr>
            <a:r>
              <a:rPr lang="en-US" sz="1646" spc="49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Fac</a:t>
            </a:r>
            <a:r>
              <a:rPr lang="en-US" sz="1646" u="none" strike="noStrike" spc="49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ilitar el control de proyectos, trabajadores, maquinaria y documentación interna.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989239" y="2477131"/>
            <a:ext cx="12309523" cy="719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9"/>
              </a:lnSpc>
            </a:pPr>
            <a:r>
              <a:rPr lang="en-US" sz="1965" spc="58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Plataforma Web Corporativa y de Gestión Administrativa para la Empresa Contratista en Enfierradura Carlos Álvarez Villar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171428" y="5624855"/>
            <a:ext cx="3945144" cy="417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6"/>
              </a:lnSpc>
            </a:pPr>
            <a:r>
              <a:rPr lang="en-US" sz="2346" b="1" spc="70">
                <a:solidFill>
                  <a:srgbClr val="332B22"/>
                </a:solidFill>
                <a:latin typeface="Gotham Bold"/>
                <a:ea typeface="Gotham Bold"/>
                <a:cs typeface="Gotham Bold"/>
                <a:sym typeface="Gotham Bold"/>
              </a:rPr>
              <a:t>Gestión administrativa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427587" y="6324772"/>
            <a:ext cx="3945144" cy="1221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4"/>
              </a:lnSpc>
            </a:pPr>
            <a:r>
              <a:rPr lang="en-US" sz="1646" spc="49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Reunir</a:t>
            </a:r>
            <a:r>
              <a:rPr lang="en-US" sz="1646" u="none" strike="noStrike" spc="49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 en un solo lugar la información comercial, administrativa y operativa de la empresa.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427021" y="5410543"/>
            <a:ext cx="3945144" cy="846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6"/>
              </a:lnSpc>
            </a:pPr>
            <a:r>
              <a:rPr lang="en-US" sz="2346" b="1" spc="70">
                <a:solidFill>
                  <a:srgbClr val="332B22"/>
                </a:solidFill>
                <a:latin typeface="Gotham Bold"/>
                <a:ea typeface="Gotham Bold"/>
                <a:cs typeface="Gotham Bold"/>
                <a:sym typeface="Gotham Bold"/>
              </a:rPr>
              <a:t>Plataforma web centralizada</a:t>
            </a:r>
          </a:p>
        </p:txBody>
      </p:sp>
      <p:sp>
        <p:nvSpPr>
          <p:cNvPr id="30" name="Freeform 30"/>
          <p:cNvSpPr/>
          <p:nvPr/>
        </p:nvSpPr>
        <p:spPr>
          <a:xfrm>
            <a:off x="13960652" y="4093214"/>
            <a:ext cx="877882" cy="877882"/>
          </a:xfrm>
          <a:custGeom>
            <a:avLst/>
            <a:gdLst/>
            <a:ahLst/>
            <a:cxnLst/>
            <a:rect l="l" t="t" r="r" b="b"/>
            <a:pathLst>
              <a:path w="877882" h="877882">
                <a:moveTo>
                  <a:pt x="0" y="0"/>
                </a:moveTo>
                <a:lnTo>
                  <a:pt x="877883" y="0"/>
                </a:lnTo>
                <a:lnTo>
                  <a:pt x="877883" y="877882"/>
                </a:lnTo>
                <a:lnTo>
                  <a:pt x="0" y="8778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56168" y="3396918"/>
            <a:ext cx="4664478" cy="5546011"/>
            <a:chOff x="0" y="0"/>
            <a:chExt cx="1228504" cy="14606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28504" cy="1460678"/>
            </a:xfrm>
            <a:custGeom>
              <a:avLst/>
              <a:gdLst/>
              <a:ahLst/>
              <a:cxnLst/>
              <a:rect l="l" t="t" r="r" b="b"/>
              <a:pathLst>
                <a:path w="1228504" h="1460678">
                  <a:moveTo>
                    <a:pt x="48133" y="0"/>
                  </a:moveTo>
                  <a:lnTo>
                    <a:pt x="1180371" y="0"/>
                  </a:lnTo>
                  <a:cubicBezTo>
                    <a:pt x="1193137" y="0"/>
                    <a:pt x="1205380" y="5071"/>
                    <a:pt x="1214406" y="14098"/>
                  </a:cubicBezTo>
                  <a:cubicBezTo>
                    <a:pt x="1223433" y="23125"/>
                    <a:pt x="1228504" y="35367"/>
                    <a:pt x="1228504" y="48133"/>
                  </a:cubicBezTo>
                  <a:lnTo>
                    <a:pt x="1228504" y="1412545"/>
                  </a:lnTo>
                  <a:cubicBezTo>
                    <a:pt x="1228504" y="1425310"/>
                    <a:pt x="1223433" y="1437553"/>
                    <a:pt x="1214406" y="1446580"/>
                  </a:cubicBezTo>
                  <a:cubicBezTo>
                    <a:pt x="1205380" y="1455607"/>
                    <a:pt x="1193137" y="1460678"/>
                    <a:pt x="1180371" y="1460678"/>
                  </a:cubicBezTo>
                  <a:lnTo>
                    <a:pt x="48133" y="1460678"/>
                  </a:lnTo>
                  <a:cubicBezTo>
                    <a:pt x="21550" y="1460678"/>
                    <a:pt x="0" y="1439128"/>
                    <a:pt x="0" y="1412545"/>
                  </a:cubicBezTo>
                  <a:lnTo>
                    <a:pt x="0" y="48133"/>
                  </a:lnTo>
                  <a:cubicBezTo>
                    <a:pt x="0" y="35367"/>
                    <a:pt x="5071" y="23125"/>
                    <a:pt x="14098" y="14098"/>
                  </a:cubicBezTo>
                  <a:cubicBezTo>
                    <a:pt x="23125" y="5071"/>
                    <a:pt x="35367" y="0"/>
                    <a:pt x="48133" y="0"/>
                  </a:cubicBezTo>
                  <a:close/>
                </a:path>
              </a:pathLst>
            </a:custGeom>
            <a:solidFill>
              <a:srgbClr val="EAEBE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1228504" cy="15845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201165" y="3811597"/>
            <a:ext cx="1374483" cy="137448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812327" y="3396918"/>
            <a:ext cx="4664478" cy="5546011"/>
            <a:chOff x="0" y="0"/>
            <a:chExt cx="1228504" cy="14606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28504" cy="1460678"/>
            </a:xfrm>
            <a:custGeom>
              <a:avLst/>
              <a:gdLst/>
              <a:ahLst/>
              <a:cxnLst/>
              <a:rect l="l" t="t" r="r" b="b"/>
              <a:pathLst>
                <a:path w="1228504" h="1460678">
                  <a:moveTo>
                    <a:pt x="48133" y="0"/>
                  </a:moveTo>
                  <a:lnTo>
                    <a:pt x="1180371" y="0"/>
                  </a:lnTo>
                  <a:cubicBezTo>
                    <a:pt x="1193137" y="0"/>
                    <a:pt x="1205380" y="5071"/>
                    <a:pt x="1214406" y="14098"/>
                  </a:cubicBezTo>
                  <a:cubicBezTo>
                    <a:pt x="1223433" y="23125"/>
                    <a:pt x="1228504" y="35367"/>
                    <a:pt x="1228504" y="48133"/>
                  </a:cubicBezTo>
                  <a:lnTo>
                    <a:pt x="1228504" y="1412545"/>
                  </a:lnTo>
                  <a:cubicBezTo>
                    <a:pt x="1228504" y="1425310"/>
                    <a:pt x="1223433" y="1437553"/>
                    <a:pt x="1214406" y="1446580"/>
                  </a:cubicBezTo>
                  <a:cubicBezTo>
                    <a:pt x="1205380" y="1455607"/>
                    <a:pt x="1193137" y="1460678"/>
                    <a:pt x="1180371" y="1460678"/>
                  </a:cubicBezTo>
                  <a:lnTo>
                    <a:pt x="48133" y="1460678"/>
                  </a:lnTo>
                  <a:cubicBezTo>
                    <a:pt x="21550" y="1460678"/>
                    <a:pt x="0" y="1439128"/>
                    <a:pt x="0" y="1412545"/>
                  </a:cubicBezTo>
                  <a:lnTo>
                    <a:pt x="0" y="48133"/>
                  </a:lnTo>
                  <a:cubicBezTo>
                    <a:pt x="0" y="35367"/>
                    <a:pt x="5071" y="23125"/>
                    <a:pt x="14098" y="14098"/>
                  </a:cubicBezTo>
                  <a:cubicBezTo>
                    <a:pt x="23125" y="5071"/>
                    <a:pt x="35367" y="0"/>
                    <a:pt x="48133" y="0"/>
                  </a:cubicBezTo>
                  <a:close/>
                </a:path>
              </a:pathLst>
            </a:custGeom>
            <a:solidFill>
              <a:srgbClr val="EAEBE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23825"/>
              <a:ext cx="1228504" cy="15845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457324" y="3811597"/>
            <a:ext cx="1374483" cy="137448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067355" y="3428622"/>
            <a:ext cx="4664478" cy="5546011"/>
            <a:chOff x="0" y="0"/>
            <a:chExt cx="1228504" cy="146067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28504" cy="1460678"/>
            </a:xfrm>
            <a:custGeom>
              <a:avLst/>
              <a:gdLst/>
              <a:ahLst/>
              <a:cxnLst/>
              <a:rect l="l" t="t" r="r" b="b"/>
              <a:pathLst>
                <a:path w="1228504" h="1460678">
                  <a:moveTo>
                    <a:pt x="48133" y="0"/>
                  </a:moveTo>
                  <a:lnTo>
                    <a:pt x="1180371" y="0"/>
                  </a:lnTo>
                  <a:cubicBezTo>
                    <a:pt x="1193137" y="0"/>
                    <a:pt x="1205380" y="5071"/>
                    <a:pt x="1214406" y="14098"/>
                  </a:cubicBezTo>
                  <a:cubicBezTo>
                    <a:pt x="1223433" y="23125"/>
                    <a:pt x="1228504" y="35367"/>
                    <a:pt x="1228504" y="48133"/>
                  </a:cubicBezTo>
                  <a:lnTo>
                    <a:pt x="1228504" y="1412545"/>
                  </a:lnTo>
                  <a:cubicBezTo>
                    <a:pt x="1228504" y="1425310"/>
                    <a:pt x="1223433" y="1437553"/>
                    <a:pt x="1214406" y="1446580"/>
                  </a:cubicBezTo>
                  <a:cubicBezTo>
                    <a:pt x="1205380" y="1455607"/>
                    <a:pt x="1193137" y="1460678"/>
                    <a:pt x="1180371" y="1460678"/>
                  </a:cubicBezTo>
                  <a:lnTo>
                    <a:pt x="48133" y="1460678"/>
                  </a:lnTo>
                  <a:cubicBezTo>
                    <a:pt x="21550" y="1460678"/>
                    <a:pt x="0" y="1439128"/>
                    <a:pt x="0" y="1412545"/>
                  </a:cubicBezTo>
                  <a:lnTo>
                    <a:pt x="0" y="48133"/>
                  </a:lnTo>
                  <a:cubicBezTo>
                    <a:pt x="0" y="35367"/>
                    <a:pt x="5071" y="23125"/>
                    <a:pt x="14098" y="14098"/>
                  </a:cubicBezTo>
                  <a:cubicBezTo>
                    <a:pt x="23125" y="5071"/>
                    <a:pt x="35367" y="0"/>
                    <a:pt x="48133" y="0"/>
                  </a:cubicBezTo>
                  <a:close/>
                </a:path>
              </a:pathLst>
            </a:custGeom>
            <a:solidFill>
              <a:srgbClr val="EAEBE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23825"/>
              <a:ext cx="1228504" cy="15845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712352" y="3844914"/>
            <a:ext cx="1374483" cy="1374483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3387421" y="4006415"/>
            <a:ext cx="1001971" cy="1001971"/>
          </a:xfrm>
          <a:custGeom>
            <a:avLst/>
            <a:gdLst/>
            <a:ahLst/>
            <a:cxnLst/>
            <a:rect l="l" t="t" r="r" b="b"/>
            <a:pathLst>
              <a:path w="1001971" h="1001971">
                <a:moveTo>
                  <a:pt x="0" y="0"/>
                </a:moveTo>
                <a:lnTo>
                  <a:pt x="1001971" y="0"/>
                </a:lnTo>
                <a:lnTo>
                  <a:pt x="1001971" y="1001971"/>
                </a:lnTo>
                <a:lnTo>
                  <a:pt x="0" y="10019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1" name="Freeform 21"/>
          <p:cNvSpPr/>
          <p:nvPr/>
        </p:nvSpPr>
        <p:spPr>
          <a:xfrm>
            <a:off x="8635584" y="3989291"/>
            <a:ext cx="1019095" cy="1019095"/>
          </a:xfrm>
          <a:custGeom>
            <a:avLst/>
            <a:gdLst/>
            <a:ahLst/>
            <a:cxnLst/>
            <a:rect l="l" t="t" r="r" b="b"/>
            <a:pathLst>
              <a:path w="1019095" h="1019095">
                <a:moveTo>
                  <a:pt x="0" y="0"/>
                </a:moveTo>
                <a:lnTo>
                  <a:pt x="1019095" y="0"/>
                </a:lnTo>
                <a:lnTo>
                  <a:pt x="1019095" y="1019095"/>
                </a:lnTo>
                <a:lnTo>
                  <a:pt x="0" y="10190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2" name="TextBox 22"/>
          <p:cNvSpPr txBox="1"/>
          <p:nvPr/>
        </p:nvSpPr>
        <p:spPr>
          <a:xfrm>
            <a:off x="1916400" y="6291455"/>
            <a:ext cx="3945144" cy="917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4"/>
              </a:lnSpc>
            </a:pPr>
            <a:r>
              <a:rPr lang="en-US" sz="1646" spc="49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Convertir el historial de la empresa en información útil para planificar nuevos proyectos.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086350" y="1322265"/>
            <a:ext cx="8115300" cy="1109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37"/>
              </a:lnSpc>
              <a:spcBef>
                <a:spcPct val="0"/>
              </a:spcBef>
            </a:pPr>
            <a:r>
              <a:rPr lang="en-US" sz="5519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Solución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916400" y="5410543"/>
            <a:ext cx="3945144" cy="846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6"/>
              </a:lnSpc>
            </a:pPr>
            <a:r>
              <a:rPr lang="en-US" sz="2346" b="1" spc="70">
                <a:solidFill>
                  <a:srgbClr val="332B22"/>
                </a:solidFill>
                <a:latin typeface="Gotham Bold"/>
                <a:ea typeface="Gotham Bold"/>
                <a:cs typeface="Gotham Bold"/>
                <a:sym typeface="Gotham Bold"/>
              </a:rPr>
              <a:t>Toma de decisiones basada en datos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172559" y="6733225"/>
            <a:ext cx="3945144" cy="917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4"/>
              </a:lnSpc>
            </a:pPr>
            <a:r>
              <a:rPr lang="en-US" sz="1646" spc="49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E</a:t>
            </a:r>
            <a:r>
              <a:rPr lang="en-US" sz="1646" u="none" strike="noStrike" spc="49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stimar costos, duración y riesgos de nuevos proyectos utilizando el historial de trabajos anteriores.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989239" y="2477131"/>
            <a:ext cx="12309523" cy="719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9"/>
              </a:lnSpc>
            </a:pPr>
            <a:r>
              <a:rPr lang="en-US" sz="1965" spc="58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Plataforma Web Corporativa y de Gestión Administrativa para la Empresa Contratista en Enfierradura Carlos Álvarez Villar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172559" y="5410543"/>
            <a:ext cx="3945144" cy="1275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6"/>
              </a:lnSpc>
            </a:pPr>
            <a:r>
              <a:rPr lang="en-US" sz="2346" b="1" spc="70">
                <a:solidFill>
                  <a:srgbClr val="332B22"/>
                </a:solidFill>
                <a:latin typeface="Gotham Bold"/>
                <a:ea typeface="Gotham Bold"/>
                <a:cs typeface="Gotham Bold"/>
                <a:sym typeface="Gotham Bold"/>
              </a:rPr>
              <a:t>Predicción de costos y duración mediante Machine Learning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427587" y="6324772"/>
            <a:ext cx="3945144" cy="1221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4"/>
              </a:lnSpc>
            </a:pPr>
            <a:r>
              <a:rPr lang="en-US" sz="1646" spc="49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N</a:t>
            </a:r>
            <a:r>
              <a:rPr lang="en-US" sz="1646" u="none" strike="noStrike" spc="49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otificar al administrador sobre documentos próximos a vencer, retrasos u otras situaciones importantes.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427021" y="5410543"/>
            <a:ext cx="3945144" cy="846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6"/>
              </a:lnSpc>
            </a:pPr>
            <a:r>
              <a:rPr lang="en-US" sz="2346" b="1" spc="70">
                <a:solidFill>
                  <a:srgbClr val="332B22"/>
                </a:solidFill>
                <a:latin typeface="Gotham Bold"/>
                <a:ea typeface="Gotham Bold"/>
                <a:cs typeface="Gotham Bold"/>
                <a:sym typeface="Gotham Bold"/>
              </a:rPr>
              <a:t>Alertas y detección de riesgos</a:t>
            </a:r>
          </a:p>
        </p:txBody>
      </p:sp>
      <p:sp>
        <p:nvSpPr>
          <p:cNvPr id="30" name="Freeform 30"/>
          <p:cNvSpPr/>
          <p:nvPr/>
        </p:nvSpPr>
        <p:spPr>
          <a:xfrm>
            <a:off x="14033184" y="4163735"/>
            <a:ext cx="732820" cy="736839"/>
          </a:xfrm>
          <a:custGeom>
            <a:avLst/>
            <a:gdLst/>
            <a:ahLst/>
            <a:cxnLst/>
            <a:rect l="l" t="t" r="r" b="b"/>
            <a:pathLst>
              <a:path w="732820" h="736839">
                <a:moveTo>
                  <a:pt x="0" y="0"/>
                </a:moveTo>
                <a:lnTo>
                  <a:pt x="732819" y="0"/>
                </a:lnTo>
                <a:lnTo>
                  <a:pt x="732819" y="736839"/>
                </a:lnTo>
                <a:lnTo>
                  <a:pt x="0" y="7368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82525" y="0"/>
            <a:ext cx="4705475" cy="10670512"/>
            <a:chOff x="0" y="0"/>
            <a:chExt cx="1239302" cy="28103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39302" cy="2810341"/>
            </a:xfrm>
            <a:custGeom>
              <a:avLst/>
              <a:gdLst/>
              <a:ahLst/>
              <a:cxnLst/>
              <a:rect l="l" t="t" r="r" b="b"/>
              <a:pathLst>
                <a:path w="1239302" h="2810341">
                  <a:moveTo>
                    <a:pt x="0" y="0"/>
                  </a:moveTo>
                  <a:lnTo>
                    <a:pt x="1239302" y="0"/>
                  </a:lnTo>
                  <a:lnTo>
                    <a:pt x="1239302" y="2810341"/>
                  </a:lnTo>
                  <a:lnTo>
                    <a:pt x="0" y="2810341"/>
                  </a:ln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1239302" cy="28770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1" indent="0" algn="l">
                <a:lnSpc>
                  <a:spcPts val="3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582525" y="0"/>
            <a:ext cx="4705475" cy="10287000"/>
            <a:chOff x="0" y="0"/>
            <a:chExt cx="729001" cy="15937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29001" cy="1593725"/>
            </a:xfrm>
            <a:custGeom>
              <a:avLst/>
              <a:gdLst/>
              <a:ahLst/>
              <a:cxnLst/>
              <a:rect l="l" t="t" r="r" b="b"/>
              <a:pathLst>
                <a:path w="729001" h="1593725">
                  <a:moveTo>
                    <a:pt x="0" y="0"/>
                  </a:moveTo>
                  <a:lnTo>
                    <a:pt x="729001" y="0"/>
                  </a:lnTo>
                  <a:lnTo>
                    <a:pt x="72900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>
                <a:alphaModFix amt="31000"/>
              </a:blip>
              <a:stretch>
                <a:fillRect l="-112692" r="-11269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709226" y="1937770"/>
          <a:ext cx="12134672" cy="7124700"/>
        </p:xfrm>
        <a:graphic>
          <a:graphicData uri="http://schemas.openxmlformats.org/drawingml/2006/table">
            <a:tbl>
              <a:tblPr/>
              <a:tblGrid>
                <a:gridCol w="60673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7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2470">
                <a:tc>
                  <a:txBody>
                    <a:bodyPr/>
                    <a:lstStyle/>
                    <a:p>
                      <a:pPr algn="ctr">
                        <a:lnSpc>
                          <a:spcPts val="2634"/>
                        </a:lnSpc>
                        <a:defRPr/>
                      </a:pPr>
                      <a:r>
                        <a:rPr lang="en-US" sz="1881" b="1">
                          <a:solidFill>
                            <a:srgbClr val="FFFFFF"/>
                          </a:solidFill>
                          <a:latin typeface="Gotham Bold"/>
                          <a:ea typeface="Gotham Bold"/>
                          <a:cs typeface="Gotham Bold"/>
                          <a:sym typeface="Gotham Bold"/>
                        </a:rPr>
                        <a:t>Requisito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D7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4"/>
                        </a:lnSpc>
                        <a:defRPr/>
                      </a:pPr>
                      <a:r>
                        <a:rPr lang="en-US" sz="1881" b="1">
                          <a:solidFill>
                            <a:srgbClr val="FFFFFF"/>
                          </a:solidFill>
                          <a:latin typeface="Gotham Bold"/>
                          <a:ea typeface="Gotham Bold"/>
                          <a:cs typeface="Gotham Bold"/>
                          <a:sym typeface="Gotham Bold"/>
                        </a:rPr>
                        <a:t>Usuario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D3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2470"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Portafolio de Proyectos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Administración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2470"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 u="none" strike="noStrike">
                          <a:solidFill>
                            <a:srgbClr val="000000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Libro de Asistencias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Administración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2470"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 u="none" strike="noStrike">
                          <a:solidFill>
                            <a:srgbClr val="000000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Cálculo de Liquidaciones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Administración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2470"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 u="none" strike="noStrike">
                          <a:solidFill>
                            <a:srgbClr val="000000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Cálculo de Finiquito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Administración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2470"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 u="none" strike="noStrike">
                          <a:solidFill>
                            <a:srgbClr val="000000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Registro de mandatos y leyes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Administración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2470"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 u="none" strike="noStrike">
                          <a:solidFill>
                            <a:srgbClr val="000000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Formulario de postulación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Postulante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2470"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 u="none" strike="noStrike">
                          <a:solidFill>
                            <a:srgbClr val="000000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Registro histórico trabajadores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Administración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12470"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Visualización de Currículum de empresa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Cliente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12470"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Cotizaciones 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Cliente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709226" y="617443"/>
            <a:ext cx="8921756" cy="1120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57"/>
              </a:lnSpc>
              <a:spcBef>
                <a:spcPct val="0"/>
              </a:spcBef>
            </a:pPr>
            <a:r>
              <a:rPr lang="en-US" sz="5589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Requisitos Funcionales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40646" y="2036894"/>
            <a:ext cx="4700336" cy="3799594"/>
            <a:chOff x="0" y="0"/>
            <a:chExt cx="1228504" cy="9930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28504" cy="993082"/>
            </a:xfrm>
            <a:custGeom>
              <a:avLst/>
              <a:gdLst/>
              <a:ahLst/>
              <a:cxnLst/>
              <a:rect l="l" t="t" r="r" b="b"/>
              <a:pathLst>
                <a:path w="1228504" h="993082">
                  <a:moveTo>
                    <a:pt x="47766" y="0"/>
                  </a:moveTo>
                  <a:lnTo>
                    <a:pt x="1180738" y="0"/>
                  </a:lnTo>
                  <a:cubicBezTo>
                    <a:pt x="1193407" y="0"/>
                    <a:pt x="1205556" y="5032"/>
                    <a:pt x="1214514" y="13990"/>
                  </a:cubicBezTo>
                  <a:cubicBezTo>
                    <a:pt x="1223472" y="22948"/>
                    <a:pt x="1228504" y="35098"/>
                    <a:pt x="1228504" y="47766"/>
                  </a:cubicBezTo>
                  <a:lnTo>
                    <a:pt x="1228504" y="945316"/>
                  </a:lnTo>
                  <a:cubicBezTo>
                    <a:pt x="1228504" y="957984"/>
                    <a:pt x="1223472" y="970134"/>
                    <a:pt x="1214514" y="979091"/>
                  </a:cubicBezTo>
                  <a:cubicBezTo>
                    <a:pt x="1205556" y="988049"/>
                    <a:pt x="1193407" y="993082"/>
                    <a:pt x="1180738" y="993082"/>
                  </a:cubicBezTo>
                  <a:lnTo>
                    <a:pt x="47766" y="993082"/>
                  </a:lnTo>
                  <a:cubicBezTo>
                    <a:pt x="35098" y="993082"/>
                    <a:pt x="22948" y="988049"/>
                    <a:pt x="13990" y="979091"/>
                  </a:cubicBezTo>
                  <a:cubicBezTo>
                    <a:pt x="5032" y="970134"/>
                    <a:pt x="0" y="957984"/>
                    <a:pt x="0" y="945316"/>
                  </a:cubicBezTo>
                  <a:lnTo>
                    <a:pt x="0" y="47766"/>
                  </a:lnTo>
                  <a:cubicBezTo>
                    <a:pt x="0" y="35098"/>
                    <a:pt x="5032" y="22948"/>
                    <a:pt x="13990" y="13990"/>
                  </a:cubicBezTo>
                  <a:cubicBezTo>
                    <a:pt x="22948" y="5032"/>
                    <a:pt x="35098" y="0"/>
                    <a:pt x="47766" y="0"/>
                  </a:cubicBezTo>
                  <a:close/>
                </a:path>
              </a:pathLst>
            </a:custGeom>
            <a:solidFill>
              <a:srgbClr val="EAEBE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1228504" cy="11169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098289" y="2454761"/>
            <a:ext cx="1385049" cy="138504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737212" y="2036894"/>
            <a:ext cx="4700336" cy="3799594"/>
            <a:chOff x="0" y="0"/>
            <a:chExt cx="1228504" cy="99308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28504" cy="993082"/>
            </a:xfrm>
            <a:custGeom>
              <a:avLst/>
              <a:gdLst/>
              <a:ahLst/>
              <a:cxnLst/>
              <a:rect l="l" t="t" r="r" b="b"/>
              <a:pathLst>
                <a:path w="1228504" h="993082">
                  <a:moveTo>
                    <a:pt x="47766" y="0"/>
                  </a:moveTo>
                  <a:lnTo>
                    <a:pt x="1180738" y="0"/>
                  </a:lnTo>
                  <a:cubicBezTo>
                    <a:pt x="1193407" y="0"/>
                    <a:pt x="1205556" y="5032"/>
                    <a:pt x="1214514" y="13990"/>
                  </a:cubicBezTo>
                  <a:cubicBezTo>
                    <a:pt x="1223472" y="22948"/>
                    <a:pt x="1228504" y="35098"/>
                    <a:pt x="1228504" y="47766"/>
                  </a:cubicBezTo>
                  <a:lnTo>
                    <a:pt x="1228504" y="945316"/>
                  </a:lnTo>
                  <a:cubicBezTo>
                    <a:pt x="1228504" y="957984"/>
                    <a:pt x="1223472" y="970134"/>
                    <a:pt x="1214514" y="979091"/>
                  </a:cubicBezTo>
                  <a:cubicBezTo>
                    <a:pt x="1205556" y="988049"/>
                    <a:pt x="1193407" y="993082"/>
                    <a:pt x="1180738" y="993082"/>
                  </a:cubicBezTo>
                  <a:lnTo>
                    <a:pt x="47766" y="993082"/>
                  </a:lnTo>
                  <a:cubicBezTo>
                    <a:pt x="35098" y="993082"/>
                    <a:pt x="22948" y="988049"/>
                    <a:pt x="13990" y="979091"/>
                  </a:cubicBezTo>
                  <a:cubicBezTo>
                    <a:pt x="5032" y="970134"/>
                    <a:pt x="0" y="957984"/>
                    <a:pt x="0" y="945316"/>
                  </a:cubicBezTo>
                  <a:lnTo>
                    <a:pt x="0" y="47766"/>
                  </a:lnTo>
                  <a:cubicBezTo>
                    <a:pt x="0" y="35098"/>
                    <a:pt x="5032" y="22948"/>
                    <a:pt x="13990" y="13990"/>
                  </a:cubicBezTo>
                  <a:cubicBezTo>
                    <a:pt x="22948" y="5032"/>
                    <a:pt x="35098" y="0"/>
                    <a:pt x="47766" y="0"/>
                  </a:cubicBezTo>
                  <a:close/>
                </a:path>
              </a:pathLst>
            </a:custGeom>
            <a:solidFill>
              <a:srgbClr val="EAEBE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23825"/>
              <a:ext cx="1228504" cy="11169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394855" y="2454761"/>
            <a:ext cx="1385049" cy="1385049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032637" y="2068842"/>
            <a:ext cx="4700336" cy="3767646"/>
            <a:chOff x="0" y="0"/>
            <a:chExt cx="1228504" cy="98473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28504" cy="984732"/>
            </a:xfrm>
            <a:custGeom>
              <a:avLst/>
              <a:gdLst/>
              <a:ahLst/>
              <a:cxnLst/>
              <a:rect l="l" t="t" r="r" b="b"/>
              <a:pathLst>
                <a:path w="1228504" h="984732">
                  <a:moveTo>
                    <a:pt x="47766" y="0"/>
                  </a:moveTo>
                  <a:lnTo>
                    <a:pt x="1180738" y="0"/>
                  </a:lnTo>
                  <a:cubicBezTo>
                    <a:pt x="1193407" y="0"/>
                    <a:pt x="1205556" y="5032"/>
                    <a:pt x="1214514" y="13990"/>
                  </a:cubicBezTo>
                  <a:cubicBezTo>
                    <a:pt x="1223472" y="22948"/>
                    <a:pt x="1228504" y="35098"/>
                    <a:pt x="1228504" y="47766"/>
                  </a:cubicBezTo>
                  <a:lnTo>
                    <a:pt x="1228504" y="936966"/>
                  </a:lnTo>
                  <a:cubicBezTo>
                    <a:pt x="1228504" y="949634"/>
                    <a:pt x="1223472" y="961784"/>
                    <a:pt x="1214514" y="970741"/>
                  </a:cubicBezTo>
                  <a:cubicBezTo>
                    <a:pt x="1205556" y="979699"/>
                    <a:pt x="1193407" y="984732"/>
                    <a:pt x="1180738" y="984732"/>
                  </a:cubicBezTo>
                  <a:lnTo>
                    <a:pt x="47766" y="984732"/>
                  </a:lnTo>
                  <a:cubicBezTo>
                    <a:pt x="35098" y="984732"/>
                    <a:pt x="22948" y="979699"/>
                    <a:pt x="13990" y="970741"/>
                  </a:cubicBezTo>
                  <a:cubicBezTo>
                    <a:pt x="5032" y="961784"/>
                    <a:pt x="0" y="949634"/>
                    <a:pt x="0" y="936966"/>
                  </a:cubicBezTo>
                  <a:lnTo>
                    <a:pt x="0" y="47766"/>
                  </a:lnTo>
                  <a:cubicBezTo>
                    <a:pt x="0" y="35098"/>
                    <a:pt x="5032" y="22948"/>
                    <a:pt x="13990" y="13990"/>
                  </a:cubicBezTo>
                  <a:cubicBezTo>
                    <a:pt x="22948" y="5032"/>
                    <a:pt x="35098" y="0"/>
                    <a:pt x="47766" y="0"/>
                  </a:cubicBezTo>
                  <a:close/>
                </a:path>
              </a:pathLst>
            </a:custGeom>
            <a:solidFill>
              <a:srgbClr val="EAEBE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23825"/>
              <a:ext cx="1228504" cy="11085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690280" y="2488334"/>
            <a:ext cx="1385049" cy="1385049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8690768" y="2651107"/>
            <a:ext cx="792082" cy="992358"/>
          </a:xfrm>
          <a:custGeom>
            <a:avLst/>
            <a:gdLst/>
            <a:ahLst/>
            <a:cxnLst/>
            <a:rect l="l" t="t" r="r" b="b"/>
            <a:pathLst>
              <a:path w="792082" h="992358">
                <a:moveTo>
                  <a:pt x="0" y="0"/>
                </a:moveTo>
                <a:lnTo>
                  <a:pt x="792082" y="0"/>
                </a:lnTo>
                <a:lnTo>
                  <a:pt x="792082" y="992358"/>
                </a:lnTo>
                <a:lnTo>
                  <a:pt x="0" y="9923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1" name="Freeform 21"/>
          <p:cNvSpPr/>
          <p:nvPr/>
        </p:nvSpPr>
        <p:spPr>
          <a:xfrm>
            <a:off x="13940489" y="2738543"/>
            <a:ext cx="884631" cy="884631"/>
          </a:xfrm>
          <a:custGeom>
            <a:avLst/>
            <a:gdLst/>
            <a:ahLst/>
            <a:cxnLst/>
            <a:rect l="l" t="t" r="r" b="b"/>
            <a:pathLst>
              <a:path w="884631" h="884631">
                <a:moveTo>
                  <a:pt x="0" y="0"/>
                </a:moveTo>
                <a:lnTo>
                  <a:pt x="884631" y="0"/>
                </a:lnTo>
                <a:lnTo>
                  <a:pt x="884631" y="884631"/>
                </a:lnTo>
                <a:lnTo>
                  <a:pt x="0" y="8846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22" name="Group 22"/>
          <p:cNvGrpSpPr/>
          <p:nvPr/>
        </p:nvGrpSpPr>
        <p:grpSpPr>
          <a:xfrm>
            <a:off x="1440076" y="6063001"/>
            <a:ext cx="4700336" cy="3799594"/>
            <a:chOff x="0" y="0"/>
            <a:chExt cx="1228504" cy="99308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228504" cy="993082"/>
            </a:xfrm>
            <a:custGeom>
              <a:avLst/>
              <a:gdLst/>
              <a:ahLst/>
              <a:cxnLst/>
              <a:rect l="l" t="t" r="r" b="b"/>
              <a:pathLst>
                <a:path w="1228504" h="993082">
                  <a:moveTo>
                    <a:pt x="47766" y="0"/>
                  </a:moveTo>
                  <a:lnTo>
                    <a:pt x="1180738" y="0"/>
                  </a:lnTo>
                  <a:cubicBezTo>
                    <a:pt x="1193407" y="0"/>
                    <a:pt x="1205556" y="5032"/>
                    <a:pt x="1214514" y="13990"/>
                  </a:cubicBezTo>
                  <a:cubicBezTo>
                    <a:pt x="1223472" y="22948"/>
                    <a:pt x="1228504" y="35098"/>
                    <a:pt x="1228504" y="47766"/>
                  </a:cubicBezTo>
                  <a:lnTo>
                    <a:pt x="1228504" y="945316"/>
                  </a:lnTo>
                  <a:cubicBezTo>
                    <a:pt x="1228504" y="957984"/>
                    <a:pt x="1223472" y="970134"/>
                    <a:pt x="1214514" y="979091"/>
                  </a:cubicBezTo>
                  <a:cubicBezTo>
                    <a:pt x="1205556" y="988049"/>
                    <a:pt x="1193407" y="993082"/>
                    <a:pt x="1180738" y="993082"/>
                  </a:cubicBezTo>
                  <a:lnTo>
                    <a:pt x="47766" y="993082"/>
                  </a:lnTo>
                  <a:cubicBezTo>
                    <a:pt x="35098" y="993082"/>
                    <a:pt x="22948" y="988049"/>
                    <a:pt x="13990" y="979091"/>
                  </a:cubicBezTo>
                  <a:cubicBezTo>
                    <a:pt x="5032" y="970134"/>
                    <a:pt x="0" y="957984"/>
                    <a:pt x="0" y="945316"/>
                  </a:cubicBezTo>
                  <a:lnTo>
                    <a:pt x="0" y="47766"/>
                  </a:lnTo>
                  <a:cubicBezTo>
                    <a:pt x="0" y="35098"/>
                    <a:pt x="5032" y="22948"/>
                    <a:pt x="13990" y="13990"/>
                  </a:cubicBezTo>
                  <a:cubicBezTo>
                    <a:pt x="22948" y="5032"/>
                    <a:pt x="35098" y="0"/>
                    <a:pt x="47766" y="0"/>
                  </a:cubicBezTo>
                  <a:close/>
                </a:path>
              </a:pathLst>
            </a:custGeom>
            <a:solidFill>
              <a:srgbClr val="EAEBE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123825"/>
              <a:ext cx="1228504" cy="11169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097719" y="6480869"/>
            <a:ext cx="1385049" cy="1385049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7D7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>
            <a:off x="3442510" y="6861717"/>
            <a:ext cx="695466" cy="695466"/>
          </a:xfrm>
          <a:custGeom>
            <a:avLst/>
            <a:gdLst/>
            <a:ahLst/>
            <a:cxnLst/>
            <a:rect l="l" t="t" r="r" b="b"/>
            <a:pathLst>
              <a:path w="695466" h="695466">
                <a:moveTo>
                  <a:pt x="0" y="0"/>
                </a:moveTo>
                <a:lnTo>
                  <a:pt x="695467" y="0"/>
                </a:lnTo>
                <a:lnTo>
                  <a:pt x="695467" y="695466"/>
                </a:lnTo>
                <a:lnTo>
                  <a:pt x="0" y="695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29" name="Group 29"/>
          <p:cNvGrpSpPr/>
          <p:nvPr/>
        </p:nvGrpSpPr>
        <p:grpSpPr>
          <a:xfrm>
            <a:off x="6736642" y="6063001"/>
            <a:ext cx="4700336" cy="3799594"/>
            <a:chOff x="0" y="0"/>
            <a:chExt cx="1228504" cy="99308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228504" cy="993082"/>
            </a:xfrm>
            <a:custGeom>
              <a:avLst/>
              <a:gdLst/>
              <a:ahLst/>
              <a:cxnLst/>
              <a:rect l="l" t="t" r="r" b="b"/>
              <a:pathLst>
                <a:path w="1228504" h="993082">
                  <a:moveTo>
                    <a:pt x="47766" y="0"/>
                  </a:moveTo>
                  <a:lnTo>
                    <a:pt x="1180738" y="0"/>
                  </a:lnTo>
                  <a:cubicBezTo>
                    <a:pt x="1193407" y="0"/>
                    <a:pt x="1205556" y="5032"/>
                    <a:pt x="1214514" y="13990"/>
                  </a:cubicBezTo>
                  <a:cubicBezTo>
                    <a:pt x="1223472" y="22948"/>
                    <a:pt x="1228504" y="35098"/>
                    <a:pt x="1228504" y="47766"/>
                  </a:cubicBezTo>
                  <a:lnTo>
                    <a:pt x="1228504" y="945316"/>
                  </a:lnTo>
                  <a:cubicBezTo>
                    <a:pt x="1228504" y="957984"/>
                    <a:pt x="1223472" y="970134"/>
                    <a:pt x="1214514" y="979091"/>
                  </a:cubicBezTo>
                  <a:cubicBezTo>
                    <a:pt x="1205556" y="988049"/>
                    <a:pt x="1193407" y="993082"/>
                    <a:pt x="1180738" y="993082"/>
                  </a:cubicBezTo>
                  <a:lnTo>
                    <a:pt x="47766" y="993082"/>
                  </a:lnTo>
                  <a:cubicBezTo>
                    <a:pt x="35098" y="993082"/>
                    <a:pt x="22948" y="988049"/>
                    <a:pt x="13990" y="979091"/>
                  </a:cubicBezTo>
                  <a:cubicBezTo>
                    <a:pt x="5032" y="970134"/>
                    <a:pt x="0" y="957984"/>
                    <a:pt x="0" y="945316"/>
                  </a:cubicBezTo>
                  <a:lnTo>
                    <a:pt x="0" y="47766"/>
                  </a:lnTo>
                  <a:cubicBezTo>
                    <a:pt x="0" y="35098"/>
                    <a:pt x="5032" y="22948"/>
                    <a:pt x="13990" y="13990"/>
                  </a:cubicBezTo>
                  <a:cubicBezTo>
                    <a:pt x="22948" y="5032"/>
                    <a:pt x="35098" y="0"/>
                    <a:pt x="47766" y="0"/>
                  </a:cubicBezTo>
                  <a:close/>
                </a:path>
              </a:pathLst>
            </a:custGeom>
            <a:solidFill>
              <a:srgbClr val="EAEBE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123825"/>
              <a:ext cx="1228504" cy="11169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394285" y="6480869"/>
            <a:ext cx="1385049" cy="1385049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7D7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2032067" y="6094949"/>
            <a:ext cx="4700336" cy="3767646"/>
            <a:chOff x="0" y="0"/>
            <a:chExt cx="1228504" cy="98473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228504" cy="984732"/>
            </a:xfrm>
            <a:custGeom>
              <a:avLst/>
              <a:gdLst/>
              <a:ahLst/>
              <a:cxnLst/>
              <a:rect l="l" t="t" r="r" b="b"/>
              <a:pathLst>
                <a:path w="1228504" h="984732">
                  <a:moveTo>
                    <a:pt x="47766" y="0"/>
                  </a:moveTo>
                  <a:lnTo>
                    <a:pt x="1180738" y="0"/>
                  </a:lnTo>
                  <a:cubicBezTo>
                    <a:pt x="1193407" y="0"/>
                    <a:pt x="1205556" y="5032"/>
                    <a:pt x="1214514" y="13990"/>
                  </a:cubicBezTo>
                  <a:cubicBezTo>
                    <a:pt x="1223472" y="22948"/>
                    <a:pt x="1228504" y="35098"/>
                    <a:pt x="1228504" y="47766"/>
                  </a:cubicBezTo>
                  <a:lnTo>
                    <a:pt x="1228504" y="936966"/>
                  </a:lnTo>
                  <a:cubicBezTo>
                    <a:pt x="1228504" y="949634"/>
                    <a:pt x="1223472" y="961784"/>
                    <a:pt x="1214514" y="970741"/>
                  </a:cubicBezTo>
                  <a:cubicBezTo>
                    <a:pt x="1205556" y="979699"/>
                    <a:pt x="1193407" y="984732"/>
                    <a:pt x="1180738" y="984732"/>
                  </a:cubicBezTo>
                  <a:lnTo>
                    <a:pt x="47766" y="984732"/>
                  </a:lnTo>
                  <a:cubicBezTo>
                    <a:pt x="35098" y="984732"/>
                    <a:pt x="22948" y="979699"/>
                    <a:pt x="13990" y="970741"/>
                  </a:cubicBezTo>
                  <a:cubicBezTo>
                    <a:pt x="5032" y="961784"/>
                    <a:pt x="0" y="949634"/>
                    <a:pt x="0" y="936966"/>
                  </a:cubicBezTo>
                  <a:lnTo>
                    <a:pt x="0" y="47766"/>
                  </a:lnTo>
                  <a:cubicBezTo>
                    <a:pt x="0" y="35098"/>
                    <a:pt x="5032" y="22948"/>
                    <a:pt x="13990" y="13990"/>
                  </a:cubicBezTo>
                  <a:cubicBezTo>
                    <a:pt x="22948" y="5032"/>
                    <a:pt x="35098" y="0"/>
                    <a:pt x="47766" y="0"/>
                  </a:cubicBezTo>
                  <a:close/>
                </a:path>
              </a:pathLst>
            </a:custGeom>
            <a:solidFill>
              <a:srgbClr val="EAEBE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123825"/>
              <a:ext cx="1228504" cy="11085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3689710" y="6514441"/>
            <a:ext cx="1385049" cy="1385049"/>
            <a:chOff x="0" y="0"/>
            <a:chExt cx="812800" cy="812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7D7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1" name="Freeform 41"/>
          <p:cNvSpPr/>
          <p:nvPr/>
        </p:nvSpPr>
        <p:spPr>
          <a:xfrm>
            <a:off x="3358740" y="2709011"/>
            <a:ext cx="863008" cy="863008"/>
          </a:xfrm>
          <a:custGeom>
            <a:avLst/>
            <a:gdLst/>
            <a:ahLst/>
            <a:cxnLst/>
            <a:rect l="l" t="t" r="r" b="b"/>
            <a:pathLst>
              <a:path w="863008" h="863008">
                <a:moveTo>
                  <a:pt x="0" y="0"/>
                </a:moveTo>
                <a:lnTo>
                  <a:pt x="863007" y="0"/>
                </a:lnTo>
                <a:lnTo>
                  <a:pt x="863007" y="863008"/>
                </a:lnTo>
                <a:lnTo>
                  <a:pt x="0" y="8630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2" name="Freeform 42"/>
          <p:cNvSpPr/>
          <p:nvPr/>
        </p:nvSpPr>
        <p:spPr>
          <a:xfrm>
            <a:off x="8622424" y="6709578"/>
            <a:ext cx="927630" cy="927630"/>
          </a:xfrm>
          <a:custGeom>
            <a:avLst/>
            <a:gdLst/>
            <a:ahLst/>
            <a:cxnLst/>
            <a:rect l="l" t="t" r="r" b="b"/>
            <a:pathLst>
              <a:path w="927630" h="927630">
                <a:moveTo>
                  <a:pt x="0" y="0"/>
                </a:moveTo>
                <a:lnTo>
                  <a:pt x="927630" y="0"/>
                </a:lnTo>
                <a:lnTo>
                  <a:pt x="927630" y="927630"/>
                </a:lnTo>
                <a:lnTo>
                  <a:pt x="0" y="9276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3" name="Freeform 43"/>
          <p:cNvSpPr/>
          <p:nvPr/>
        </p:nvSpPr>
        <p:spPr>
          <a:xfrm>
            <a:off x="13962260" y="6760413"/>
            <a:ext cx="839950" cy="926416"/>
          </a:xfrm>
          <a:custGeom>
            <a:avLst/>
            <a:gdLst/>
            <a:ahLst/>
            <a:cxnLst/>
            <a:rect l="l" t="t" r="r" b="b"/>
            <a:pathLst>
              <a:path w="839950" h="926416">
                <a:moveTo>
                  <a:pt x="0" y="0"/>
                </a:moveTo>
                <a:lnTo>
                  <a:pt x="839950" y="0"/>
                </a:lnTo>
                <a:lnTo>
                  <a:pt x="839950" y="926416"/>
                </a:lnTo>
                <a:lnTo>
                  <a:pt x="0" y="9264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4" name="TextBox 44"/>
          <p:cNvSpPr txBox="1"/>
          <p:nvPr/>
        </p:nvSpPr>
        <p:spPr>
          <a:xfrm>
            <a:off x="3691315" y="701003"/>
            <a:ext cx="10905369" cy="1109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37"/>
              </a:lnSpc>
              <a:spcBef>
                <a:spcPct val="0"/>
              </a:spcBef>
            </a:pPr>
            <a:r>
              <a:rPr lang="en-US" sz="5519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Requisitos No Funcionales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803078" y="3876498"/>
            <a:ext cx="3975472" cy="420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2"/>
              </a:lnSpc>
            </a:pPr>
            <a:r>
              <a:rPr lang="en-US" sz="2364" b="1" spc="70">
                <a:solidFill>
                  <a:srgbClr val="332B22"/>
                </a:solidFill>
                <a:latin typeface="Gotham Bold"/>
                <a:ea typeface="Gotham Bold"/>
                <a:cs typeface="Gotham Bold"/>
                <a:sym typeface="Gotham Bold"/>
              </a:rPr>
              <a:t>Usabilidad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156264" y="3915542"/>
            <a:ext cx="3975472" cy="420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2"/>
              </a:lnSpc>
            </a:pPr>
            <a:r>
              <a:rPr lang="en-US" sz="2364" b="1" spc="70">
                <a:solidFill>
                  <a:srgbClr val="332B22"/>
                </a:solidFill>
                <a:latin typeface="Gotham Bold"/>
                <a:ea typeface="Gotham Bold"/>
                <a:cs typeface="Gotham Bold"/>
                <a:sym typeface="Gotham Bold"/>
              </a:rPr>
              <a:t>Seguridad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2395069" y="3915542"/>
            <a:ext cx="3975472" cy="420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2"/>
              </a:lnSpc>
            </a:pPr>
            <a:r>
              <a:rPr lang="en-US" sz="2364" b="1" spc="70">
                <a:solidFill>
                  <a:srgbClr val="332B22"/>
                </a:solidFill>
                <a:latin typeface="Gotham Bold"/>
                <a:ea typeface="Gotham Bold"/>
                <a:cs typeface="Gotham Bold"/>
                <a:sym typeface="Gotham Bold"/>
              </a:rPr>
              <a:t>Calidad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803078" y="7915702"/>
            <a:ext cx="3975472" cy="420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2"/>
              </a:lnSpc>
            </a:pPr>
            <a:r>
              <a:rPr lang="en-US" sz="2364" b="1" spc="70">
                <a:solidFill>
                  <a:srgbClr val="332B22"/>
                </a:solidFill>
                <a:latin typeface="Gotham Bold"/>
                <a:ea typeface="Gotham Bold"/>
                <a:cs typeface="Gotham Bold"/>
                <a:sym typeface="Gotham Bold"/>
              </a:rPr>
              <a:t>Rendimiento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098503" y="7896123"/>
            <a:ext cx="3975472" cy="420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2"/>
              </a:lnSpc>
            </a:pPr>
            <a:r>
              <a:rPr lang="en-US" sz="2364" b="1" spc="70">
                <a:solidFill>
                  <a:srgbClr val="332B22"/>
                </a:solidFill>
                <a:latin typeface="Gotham Bold"/>
                <a:ea typeface="Gotham Bold"/>
                <a:cs typeface="Gotham Bold"/>
                <a:sym typeface="Gotham Bold"/>
              </a:rPr>
              <a:t>Confiabilidad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2399002" y="7915702"/>
            <a:ext cx="3975472" cy="420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2"/>
              </a:lnSpc>
            </a:pPr>
            <a:r>
              <a:rPr lang="en-US" sz="2364" b="1" spc="70">
                <a:solidFill>
                  <a:srgbClr val="332B22"/>
                </a:solidFill>
                <a:latin typeface="Gotham Bold"/>
                <a:ea typeface="Gotham Bold"/>
                <a:cs typeface="Gotham Bold"/>
                <a:sym typeface="Gotham Bold"/>
              </a:rPr>
              <a:t>Precisión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664689" y="4440824"/>
            <a:ext cx="2958621" cy="1148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0669" lvl="1" indent="-140335" algn="l">
              <a:lnSpc>
                <a:spcPts val="1819"/>
              </a:lnSpc>
              <a:buFont typeface="Arial"/>
              <a:buChar char="•"/>
            </a:pPr>
            <a:r>
              <a:rPr lang="en-US" sz="1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Acceso de cuentas administrativas</a:t>
            </a:r>
          </a:p>
          <a:p>
            <a:pPr marL="280669" lvl="1" indent="-140335" algn="l">
              <a:lnSpc>
                <a:spcPts val="1819"/>
              </a:lnSpc>
              <a:buFont typeface="Arial"/>
              <a:buChar char="•"/>
            </a:pPr>
            <a:r>
              <a:rPr lang="en-US" sz="1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Acceso a vistas protegidas</a:t>
            </a:r>
          </a:p>
          <a:p>
            <a:pPr marL="280669" lvl="1" indent="-140335" algn="l">
              <a:lnSpc>
                <a:spcPts val="1819"/>
              </a:lnSpc>
              <a:buFont typeface="Arial"/>
              <a:buChar char="•"/>
            </a:pPr>
            <a:r>
              <a:rPr lang="en-US" sz="1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Cifrado de registros históricos</a:t>
            </a:r>
          </a:p>
          <a:p>
            <a:pPr marL="280669" lvl="1" indent="-140335" algn="l">
              <a:lnSpc>
                <a:spcPts val="1819"/>
              </a:lnSpc>
              <a:buFont typeface="Arial"/>
              <a:buChar char="•"/>
            </a:pPr>
            <a:r>
              <a:rPr lang="en-US" sz="1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Backups de horas</a:t>
            </a:r>
          </a:p>
          <a:p>
            <a:pPr marL="280669" lvl="1" indent="-140335" algn="l">
              <a:lnSpc>
                <a:spcPts val="1819"/>
              </a:lnSpc>
              <a:buFont typeface="Arial"/>
              <a:buChar char="•"/>
            </a:pPr>
            <a:r>
              <a:rPr lang="en-US" sz="1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Backups de documentos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416516" y="4442074"/>
            <a:ext cx="2958621" cy="983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2259" lvl="1" indent="-151129" algn="l">
              <a:lnSpc>
                <a:spcPts val="1959"/>
              </a:lnSpc>
              <a:buFont typeface="Arial"/>
              <a:buChar char="•"/>
            </a:pPr>
            <a:r>
              <a:rPr lang="en-US" sz="1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Interfaz entendible</a:t>
            </a:r>
          </a:p>
          <a:p>
            <a:pPr marL="302259" lvl="1" indent="-151129" algn="l">
              <a:lnSpc>
                <a:spcPts val="1959"/>
              </a:lnSpc>
              <a:buFont typeface="Arial"/>
              <a:buChar char="•"/>
            </a:pPr>
            <a:r>
              <a:rPr lang="en-US" sz="1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Botones, header y footer claros</a:t>
            </a:r>
          </a:p>
          <a:p>
            <a:pPr marL="302259" lvl="1" indent="-151129" algn="l">
              <a:lnSpc>
                <a:spcPts val="1959"/>
              </a:lnSpc>
              <a:buFont typeface="Arial"/>
              <a:buChar char="•"/>
            </a:pPr>
            <a:r>
              <a:rPr lang="en-US" sz="1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Navegación coherente del sistema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2469747" y="4440824"/>
            <a:ext cx="3824975" cy="1148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0669" lvl="1" indent="-140335" algn="l">
              <a:lnSpc>
                <a:spcPts val="1819"/>
              </a:lnSpc>
              <a:buFont typeface="Arial"/>
              <a:buChar char="•"/>
            </a:pPr>
            <a:r>
              <a:rPr lang="en-US" sz="1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Colores de empresa adecuados</a:t>
            </a:r>
          </a:p>
          <a:p>
            <a:pPr marL="280669" lvl="1" indent="-140335" algn="l">
              <a:lnSpc>
                <a:spcPts val="1819"/>
              </a:lnSpc>
              <a:buFont typeface="Arial"/>
              <a:buChar char="•"/>
            </a:pPr>
            <a:r>
              <a:rPr lang="en-US" sz="1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Display que maneje los márgenes</a:t>
            </a:r>
          </a:p>
          <a:p>
            <a:pPr marL="280669" lvl="1" indent="-140335" algn="l">
              <a:lnSpc>
                <a:spcPts val="1819"/>
              </a:lnSpc>
              <a:buFont typeface="Arial"/>
              <a:buChar char="•"/>
            </a:pPr>
            <a:r>
              <a:rPr lang="en-US" sz="1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Display responsivo</a:t>
            </a:r>
          </a:p>
          <a:p>
            <a:pPr marL="280669" lvl="1" indent="-140335" algn="l">
              <a:lnSpc>
                <a:spcPts val="1819"/>
              </a:lnSpc>
              <a:buFont typeface="Arial"/>
              <a:buChar char="•"/>
            </a:pPr>
            <a:r>
              <a:rPr lang="en-US" sz="1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Información correcta</a:t>
            </a:r>
          </a:p>
          <a:p>
            <a:pPr marL="280669" lvl="1" indent="-140335" algn="l">
              <a:lnSpc>
                <a:spcPts val="1819"/>
              </a:lnSpc>
              <a:buFont typeface="Arial"/>
              <a:buChar char="•"/>
            </a:pPr>
            <a:r>
              <a:rPr lang="en-US" sz="1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Escalabilidad del sistema para mejoras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416516" y="8450509"/>
            <a:ext cx="3063633" cy="735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2259" lvl="1" indent="-151129" algn="l">
              <a:lnSpc>
                <a:spcPts val="1959"/>
              </a:lnSpc>
              <a:buFont typeface="Arial"/>
              <a:buChar char="•"/>
            </a:pPr>
            <a:r>
              <a:rPr lang="en-US" sz="1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Uptime del 99%</a:t>
            </a:r>
          </a:p>
          <a:p>
            <a:pPr marL="302259" lvl="1" indent="-151129" algn="l">
              <a:lnSpc>
                <a:spcPts val="1959"/>
              </a:lnSpc>
              <a:buFont typeface="Arial"/>
              <a:buChar char="•"/>
            </a:pPr>
            <a:r>
              <a:rPr lang="en-US" sz="1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Funcionalidades responsivas 30 ms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608069" y="8430930"/>
            <a:ext cx="2958621" cy="735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2259" lvl="1" indent="-151129" algn="l">
              <a:lnSpc>
                <a:spcPts val="1959"/>
              </a:lnSpc>
              <a:buFont typeface="Arial"/>
              <a:buChar char="•"/>
            </a:pPr>
            <a:r>
              <a:rPr lang="en-US" sz="1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Recuperación a fallas dentro de 15 minutos</a:t>
            </a:r>
          </a:p>
          <a:p>
            <a:pPr marL="302259" lvl="1" indent="-151129" algn="l">
              <a:lnSpc>
                <a:spcPts val="1959"/>
              </a:lnSpc>
              <a:buFont typeface="Arial"/>
              <a:buChar char="•"/>
            </a:pPr>
            <a:r>
              <a:rPr lang="en-US" sz="1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Sueldos competitivos al día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2549500" y="8450509"/>
            <a:ext cx="3824975" cy="123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2259" lvl="1" indent="-151129" algn="l">
              <a:lnSpc>
                <a:spcPts val="1959"/>
              </a:lnSpc>
              <a:buFont typeface="Arial"/>
              <a:buChar char="•"/>
            </a:pPr>
            <a:r>
              <a:rPr lang="en-US" sz="1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Cálculos correctos de sueldos</a:t>
            </a:r>
          </a:p>
          <a:p>
            <a:pPr marL="302259" lvl="1" indent="-151129" algn="l">
              <a:lnSpc>
                <a:spcPts val="1959"/>
              </a:lnSpc>
              <a:buFont typeface="Arial"/>
              <a:buChar char="•"/>
            </a:pPr>
            <a:r>
              <a:rPr lang="en-US" sz="1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Cálculos correctos de horas</a:t>
            </a:r>
          </a:p>
          <a:p>
            <a:pPr marL="302259" lvl="1" indent="-151129" algn="l">
              <a:lnSpc>
                <a:spcPts val="1959"/>
              </a:lnSpc>
              <a:buFont typeface="Arial"/>
              <a:buChar char="•"/>
            </a:pPr>
            <a:r>
              <a:rPr lang="en-US" sz="1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Cálculos correctos de finiquitos</a:t>
            </a:r>
          </a:p>
          <a:p>
            <a:pPr marL="302259" lvl="1" indent="-151129" algn="l">
              <a:lnSpc>
                <a:spcPts val="1959"/>
              </a:lnSpc>
              <a:buFont typeface="Arial"/>
              <a:buChar char="•"/>
            </a:pPr>
            <a:r>
              <a:rPr lang="en-US" sz="1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Predicciones correctas de posibles proyectos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5643" y="2356249"/>
            <a:ext cx="5082362" cy="1906777"/>
            <a:chOff x="0" y="0"/>
            <a:chExt cx="1467458" cy="55055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7458" cy="550554"/>
            </a:xfrm>
            <a:custGeom>
              <a:avLst/>
              <a:gdLst/>
              <a:ahLst/>
              <a:cxnLst/>
              <a:rect l="l" t="t" r="r" b="b"/>
              <a:pathLst>
                <a:path w="1467458" h="550554">
                  <a:moveTo>
                    <a:pt x="1264258" y="0"/>
                  </a:moveTo>
                  <a:cubicBezTo>
                    <a:pt x="1376482" y="0"/>
                    <a:pt x="1467458" y="123246"/>
                    <a:pt x="1467458" y="275277"/>
                  </a:cubicBezTo>
                  <a:cubicBezTo>
                    <a:pt x="1467458" y="427308"/>
                    <a:pt x="1376482" y="550554"/>
                    <a:pt x="1264258" y="550554"/>
                  </a:cubicBezTo>
                  <a:lnTo>
                    <a:pt x="203200" y="550554"/>
                  </a:lnTo>
                  <a:cubicBezTo>
                    <a:pt x="90976" y="550554"/>
                    <a:pt x="0" y="427308"/>
                    <a:pt x="0" y="275277"/>
                  </a:cubicBezTo>
                  <a:cubicBezTo>
                    <a:pt x="0" y="123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467458" cy="579129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677728" y="12585975"/>
            <a:ext cx="2932542" cy="233980"/>
            <a:chOff x="0" y="0"/>
            <a:chExt cx="3910057" cy="311974"/>
          </a:xfrm>
        </p:grpSpPr>
        <p:grpSp>
          <p:nvGrpSpPr>
            <p:cNvPr id="6" name="Group 6"/>
            <p:cNvGrpSpPr/>
            <p:nvPr/>
          </p:nvGrpSpPr>
          <p:grpSpPr>
            <a:xfrm>
              <a:off x="1387893" y="0"/>
              <a:ext cx="2522163" cy="311974"/>
              <a:chOff x="0" y="0"/>
              <a:chExt cx="498205" cy="61624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98205" cy="61624"/>
              </a:xfrm>
              <a:custGeom>
                <a:avLst/>
                <a:gdLst/>
                <a:ahLst/>
                <a:cxnLst/>
                <a:rect l="l" t="t" r="r" b="b"/>
                <a:pathLst>
                  <a:path w="498205" h="61624">
                    <a:moveTo>
                      <a:pt x="30812" y="0"/>
                    </a:moveTo>
                    <a:lnTo>
                      <a:pt x="467393" y="0"/>
                    </a:lnTo>
                    <a:cubicBezTo>
                      <a:pt x="484410" y="0"/>
                      <a:pt x="498205" y="13795"/>
                      <a:pt x="498205" y="30812"/>
                    </a:cubicBezTo>
                    <a:lnTo>
                      <a:pt x="498205" y="30812"/>
                    </a:lnTo>
                    <a:cubicBezTo>
                      <a:pt x="498205" y="38984"/>
                      <a:pt x="494959" y="46821"/>
                      <a:pt x="489180" y="52600"/>
                    </a:cubicBezTo>
                    <a:cubicBezTo>
                      <a:pt x="483402" y="58378"/>
                      <a:pt x="475565" y="61624"/>
                      <a:pt x="467393" y="61624"/>
                    </a:cubicBezTo>
                    <a:lnTo>
                      <a:pt x="30812" y="61624"/>
                    </a:lnTo>
                    <a:cubicBezTo>
                      <a:pt x="22640" y="61624"/>
                      <a:pt x="14803" y="58378"/>
                      <a:pt x="9025" y="52600"/>
                    </a:cubicBezTo>
                    <a:cubicBezTo>
                      <a:pt x="3246" y="46821"/>
                      <a:pt x="0" y="38984"/>
                      <a:pt x="0" y="30812"/>
                    </a:cubicBezTo>
                    <a:lnTo>
                      <a:pt x="0" y="30812"/>
                    </a:lnTo>
                    <a:cubicBezTo>
                      <a:pt x="0" y="22640"/>
                      <a:pt x="3246" y="14803"/>
                      <a:pt x="9025" y="9025"/>
                    </a:cubicBezTo>
                    <a:cubicBezTo>
                      <a:pt x="14803" y="3246"/>
                      <a:pt x="22640" y="0"/>
                      <a:pt x="30812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114300"/>
                <a:ext cx="498205" cy="175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2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921480" y="0"/>
              <a:ext cx="308340" cy="311974"/>
              <a:chOff x="0" y="0"/>
              <a:chExt cx="60907" cy="6162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0907" cy="61624"/>
              </a:xfrm>
              <a:custGeom>
                <a:avLst/>
                <a:gdLst/>
                <a:ahLst/>
                <a:cxnLst/>
                <a:rect l="l" t="t" r="r" b="b"/>
                <a:pathLst>
                  <a:path w="60907" h="61624">
                    <a:moveTo>
                      <a:pt x="30453" y="0"/>
                    </a:moveTo>
                    <a:lnTo>
                      <a:pt x="30453" y="0"/>
                    </a:lnTo>
                    <a:cubicBezTo>
                      <a:pt x="38530" y="0"/>
                      <a:pt x="46276" y="3208"/>
                      <a:pt x="51987" y="8920"/>
                    </a:cubicBezTo>
                    <a:cubicBezTo>
                      <a:pt x="57698" y="14631"/>
                      <a:pt x="60907" y="22377"/>
                      <a:pt x="60907" y="30453"/>
                    </a:cubicBezTo>
                    <a:lnTo>
                      <a:pt x="60907" y="31171"/>
                    </a:lnTo>
                    <a:cubicBezTo>
                      <a:pt x="60907" y="39248"/>
                      <a:pt x="57698" y="46994"/>
                      <a:pt x="51987" y="52705"/>
                    </a:cubicBezTo>
                    <a:cubicBezTo>
                      <a:pt x="46276" y="58416"/>
                      <a:pt x="38530" y="61624"/>
                      <a:pt x="30453" y="61624"/>
                    </a:cubicBezTo>
                    <a:lnTo>
                      <a:pt x="30453" y="61624"/>
                    </a:lnTo>
                    <a:cubicBezTo>
                      <a:pt x="22377" y="61624"/>
                      <a:pt x="14631" y="58416"/>
                      <a:pt x="8920" y="52705"/>
                    </a:cubicBezTo>
                    <a:cubicBezTo>
                      <a:pt x="3208" y="46994"/>
                      <a:pt x="0" y="39248"/>
                      <a:pt x="0" y="31171"/>
                    </a:cubicBezTo>
                    <a:lnTo>
                      <a:pt x="0" y="30453"/>
                    </a:lnTo>
                    <a:cubicBezTo>
                      <a:pt x="0" y="22377"/>
                      <a:pt x="3208" y="14631"/>
                      <a:pt x="8920" y="8920"/>
                    </a:cubicBezTo>
                    <a:cubicBezTo>
                      <a:pt x="14631" y="3208"/>
                      <a:pt x="22377" y="0"/>
                      <a:pt x="30453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114300"/>
                <a:ext cx="60907" cy="175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2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460740" y="0"/>
              <a:ext cx="308340" cy="311974"/>
              <a:chOff x="0" y="0"/>
              <a:chExt cx="60907" cy="6162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60907" cy="61624"/>
              </a:xfrm>
              <a:custGeom>
                <a:avLst/>
                <a:gdLst/>
                <a:ahLst/>
                <a:cxnLst/>
                <a:rect l="l" t="t" r="r" b="b"/>
                <a:pathLst>
                  <a:path w="60907" h="61624">
                    <a:moveTo>
                      <a:pt x="30453" y="0"/>
                    </a:moveTo>
                    <a:lnTo>
                      <a:pt x="30453" y="0"/>
                    </a:lnTo>
                    <a:cubicBezTo>
                      <a:pt x="38530" y="0"/>
                      <a:pt x="46276" y="3208"/>
                      <a:pt x="51987" y="8920"/>
                    </a:cubicBezTo>
                    <a:cubicBezTo>
                      <a:pt x="57698" y="14631"/>
                      <a:pt x="60907" y="22377"/>
                      <a:pt x="60907" y="30453"/>
                    </a:cubicBezTo>
                    <a:lnTo>
                      <a:pt x="60907" y="31171"/>
                    </a:lnTo>
                    <a:cubicBezTo>
                      <a:pt x="60907" y="39248"/>
                      <a:pt x="57698" y="46994"/>
                      <a:pt x="51987" y="52705"/>
                    </a:cubicBezTo>
                    <a:cubicBezTo>
                      <a:pt x="46276" y="58416"/>
                      <a:pt x="38530" y="61624"/>
                      <a:pt x="30453" y="61624"/>
                    </a:cubicBezTo>
                    <a:lnTo>
                      <a:pt x="30453" y="61624"/>
                    </a:lnTo>
                    <a:cubicBezTo>
                      <a:pt x="22377" y="61624"/>
                      <a:pt x="14631" y="58416"/>
                      <a:pt x="8920" y="52705"/>
                    </a:cubicBezTo>
                    <a:cubicBezTo>
                      <a:pt x="3208" y="46994"/>
                      <a:pt x="0" y="39248"/>
                      <a:pt x="0" y="31171"/>
                    </a:cubicBezTo>
                    <a:lnTo>
                      <a:pt x="0" y="30453"/>
                    </a:lnTo>
                    <a:cubicBezTo>
                      <a:pt x="0" y="22377"/>
                      <a:pt x="3208" y="14631"/>
                      <a:pt x="8920" y="8920"/>
                    </a:cubicBezTo>
                    <a:cubicBezTo>
                      <a:pt x="14631" y="3208"/>
                      <a:pt x="22377" y="0"/>
                      <a:pt x="30453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114300"/>
                <a:ext cx="60907" cy="175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2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0"/>
              <a:ext cx="308340" cy="311974"/>
              <a:chOff x="0" y="0"/>
              <a:chExt cx="60907" cy="6162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60907" cy="61624"/>
              </a:xfrm>
              <a:custGeom>
                <a:avLst/>
                <a:gdLst/>
                <a:ahLst/>
                <a:cxnLst/>
                <a:rect l="l" t="t" r="r" b="b"/>
                <a:pathLst>
                  <a:path w="60907" h="61624">
                    <a:moveTo>
                      <a:pt x="30453" y="0"/>
                    </a:moveTo>
                    <a:lnTo>
                      <a:pt x="30453" y="0"/>
                    </a:lnTo>
                    <a:cubicBezTo>
                      <a:pt x="38530" y="0"/>
                      <a:pt x="46276" y="3208"/>
                      <a:pt x="51987" y="8920"/>
                    </a:cubicBezTo>
                    <a:cubicBezTo>
                      <a:pt x="57698" y="14631"/>
                      <a:pt x="60907" y="22377"/>
                      <a:pt x="60907" y="30453"/>
                    </a:cubicBezTo>
                    <a:lnTo>
                      <a:pt x="60907" y="31171"/>
                    </a:lnTo>
                    <a:cubicBezTo>
                      <a:pt x="60907" y="39248"/>
                      <a:pt x="57698" y="46994"/>
                      <a:pt x="51987" y="52705"/>
                    </a:cubicBezTo>
                    <a:cubicBezTo>
                      <a:pt x="46276" y="58416"/>
                      <a:pt x="38530" y="61624"/>
                      <a:pt x="30453" y="61624"/>
                    </a:cubicBezTo>
                    <a:lnTo>
                      <a:pt x="30453" y="61624"/>
                    </a:lnTo>
                    <a:cubicBezTo>
                      <a:pt x="22377" y="61624"/>
                      <a:pt x="14631" y="58416"/>
                      <a:pt x="8920" y="52705"/>
                    </a:cubicBezTo>
                    <a:cubicBezTo>
                      <a:pt x="3208" y="46994"/>
                      <a:pt x="0" y="39248"/>
                      <a:pt x="0" y="31171"/>
                    </a:cubicBezTo>
                    <a:lnTo>
                      <a:pt x="0" y="30453"/>
                    </a:lnTo>
                    <a:cubicBezTo>
                      <a:pt x="0" y="22377"/>
                      <a:pt x="3208" y="14631"/>
                      <a:pt x="8920" y="8920"/>
                    </a:cubicBezTo>
                    <a:cubicBezTo>
                      <a:pt x="14631" y="3208"/>
                      <a:pt x="22377" y="0"/>
                      <a:pt x="30453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114300"/>
                <a:ext cx="60907" cy="175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2"/>
                  </a:lnSpc>
                </a:pPr>
                <a:endParaRPr/>
              </a:p>
            </p:txBody>
          </p:sp>
        </p:grpSp>
      </p:grpSp>
      <p:sp>
        <p:nvSpPr>
          <p:cNvPr id="18" name="TextBox 18"/>
          <p:cNvSpPr txBox="1"/>
          <p:nvPr/>
        </p:nvSpPr>
        <p:spPr>
          <a:xfrm>
            <a:off x="1107847" y="2838784"/>
            <a:ext cx="4502343" cy="969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en-US" sz="3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Portafolio Virtual de Proyectos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669494" y="2356249"/>
            <a:ext cx="5082362" cy="1906777"/>
            <a:chOff x="0" y="0"/>
            <a:chExt cx="1467458" cy="55055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67458" cy="550554"/>
            </a:xfrm>
            <a:custGeom>
              <a:avLst/>
              <a:gdLst/>
              <a:ahLst/>
              <a:cxnLst/>
              <a:rect l="l" t="t" r="r" b="b"/>
              <a:pathLst>
                <a:path w="1467458" h="550554">
                  <a:moveTo>
                    <a:pt x="1264258" y="0"/>
                  </a:moveTo>
                  <a:cubicBezTo>
                    <a:pt x="1376482" y="0"/>
                    <a:pt x="1467458" y="123246"/>
                    <a:pt x="1467458" y="275277"/>
                  </a:cubicBezTo>
                  <a:cubicBezTo>
                    <a:pt x="1467458" y="427308"/>
                    <a:pt x="1376482" y="550554"/>
                    <a:pt x="1264258" y="550554"/>
                  </a:cubicBezTo>
                  <a:lnTo>
                    <a:pt x="203200" y="550554"/>
                  </a:lnTo>
                  <a:cubicBezTo>
                    <a:pt x="90976" y="550554"/>
                    <a:pt x="0" y="427308"/>
                    <a:pt x="0" y="275277"/>
                  </a:cubicBezTo>
                  <a:cubicBezTo>
                    <a:pt x="0" y="123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1467458" cy="579129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600955" y="6222225"/>
            <a:ext cx="5082362" cy="1903806"/>
            <a:chOff x="0" y="0"/>
            <a:chExt cx="1467458" cy="54969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467458" cy="549696"/>
            </a:xfrm>
            <a:custGeom>
              <a:avLst/>
              <a:gdLst/>
              <a:ahLst/>
              <a:cxnLst/>
              <a:rect l="l" t="t" r="r" b="b"/>
              <a:pathLst>
                <a:path w="1467458" h="549696">
                  <a:moveTo>
                    <a:pt x="1264258" y="0"/>
                  </a:moveTo>
                  <a:cubicBezTo>
                    <a:pt x="1376482" y="0"/>
                    <a:pt x="1467458" y="123054"/>
                    <a:pt x="1467458" y="274848"/>
                  </a:cubicBezTo>
                  <a:cubicBezTo>
                    <a:pt x="1467458" y="426642"/>
                    <a:pt x="1376482" y="549696"/>
                    <a:pt x="1264258" y="549696"/>
                  </a:cubicBezTo>
                  <a:lnTo>
                    <a:pt x="203200" y="549696"/>
                  </a:lnTo>
                  <a:cubicBezTo>
                    <a:pt x="90976" y="549696"/>
                    <a:pt x="0" y="426642"/>
                    <a:pt x="0" y="274848"/>
                  </a:cubicBezTo>
                  <a:cubicBezTo>
                    <a:pt x="0" y="12305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28575"/>
              <a:ext cx="1467458" cy="578271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7379338" y="6675018"/>
            <a:ext cx="3662673" cy="969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en-US" sz="3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Predicción Machine Learning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2429995" y="2356249"/>
            <a:ext cx="5082362" cy="1906777"/>
            <a:chOff x="0" y="0"/>
            <a:chExt cx="1467458" cy="55055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467458" cy="550554"/>
            </a:xfrm>
            <a:custGeom>
              <a:avLst/>
              <a:gdLst/>
              <a:ahLst/>
              <a:cxnLst/>
              <a:rect l="l" t="t" r="r" b="b"/>
              <a:pathLst>
                <a:path w="1467458" h="550554">
                  <a:moveTo>
                    <a:pt x="1264258" y="0"/>
                  </a:moveTo>
                  <a:cubicBezTo>
                    <a:pt x="1376482" y="0"/>
                    <a:pt x="1467458" y="123246"/>
                    <a:pt x="1467458" y="275277"/>
                  </a:cubicBezTo>
                  <a:cubicBezTo>
                    <a:pt x="1467458" y="427308"/>
                    <a:pt x="1376482" y="550554"/>
                    <a:pt x="1264258" y="550554"/>
                  </a:cubicBezTo>
                  <a:lnTo>
                    <a:pt x="203200" y="550554"/>
                  </a:lnTo>
                  <a:cubicBezTo>
                    <a:pt x="90976" y="550554"/>
                    <a:pt x="0" y="427308"/>
                    <a:pt x="0" y="275277"/>
                  </a:cubicBezTo>
                  <a:cubicBezTo>
                    <a:pt x="0" y="123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1467458" cy="579129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3461497" y="2595897"/>
            <a:ext cx="3115986" cy="1455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en-US" sz="3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Autenticación y Control de Accesos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2429995" y="6222225"/>
            <a:ext cx="5082362" cy="1903806"/>
            <a:chOff x="0" y="0"/>
            <a:chExt cx="1467458" cy="54969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467458" cy="549696"/>
            </a:xfrm>
            <a:custGeom>
              <a:avLst/>
              <a:gdLst/>
              <a:ahLst/>
              <a:cxnLst/>
              <a:rect l="l" t="t" r="r" b="b"/>
              <a:pathLst>
                <a:path w="1467458" h="549696">
                  <a:moveTo>
                    <a:pt x="1264258" y="0"/>
                  </a:moveTo>
                  <a:cubicBezTo>
                    <a:pt x="1376482" y="0"/>
                    <a:pt x="1467458" y="123054"/>
                    <a:pt x="1467458" y="274848"/>
                  </a:cubicBezTo>
                  <a:cubicBezTo>
                    <a:pt x="1467458" y="426642"/>
                    <a:pt x="1376482" y="549696"/>
                    <a:pt x="1264258" y="549696"/>
                  </a:cubicBezTo>
                  <a:lnTo>
                    <a:pt x="203200" y="549696"/>
                  </a:lnTo>
                  <a:cubicBezTo>
                    <a:pt x="90976" y="549696"/>
                    <a:pt x="0" y="426642"/>
                    <a:pt x="0" y="274848"/>
                  </a:cubicBezTo>
                  <a:cubicBezTo>
                    <a:pt x="0" y="12305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28575"/>
              <a:ext cx="1467458" cy="578271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3360364" y="6432130"/>
            <a:ext cx="3318251" cy="1455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en-US" sz="3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Gestión de Contratos y Asuntos Legales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775643" y="6222225"/>
            <a:ext cx="5082362" cy="1903806"/>
            <a:chOff x="0" y="0"/>
            <a:chExt cx="1467458" cy="54969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467458" cy="549696"/>
            </a:xfrm>
            <a:custGeom>
              <a:avLst/>
              <a:gdLst/>
              <a:ahLst/>
              <a:cxnLst/>
              <a:rect l="l" t="t" r="r" b="b"/>
              <a:pathLst>
                <a:path w="1467458" h="549696">
                  <a:moveTo>
                    <a:pt x="1264258" y="0"/>
                  </a:moveTo>
                  <a:cubicBezTo>
                    <a:pt x="1376482" y="0"/>
                    <a:pt x="1467458" y="123054"/>
                    <a:pt x="1467458" y="274848"/>
                  </a:cubicBezTo>
                  <a:cubicBezTo>
                    <a:pt x="1467458" y="426642"/>
                    <a:pt x="1376482" y="549696"/>
                    <a:pt x="1264258" y="549696"/>
                  </a:cubicBezTo>
                  <a:lnTo>
                    <a:pt x="203200" y="549696"/>
                  </a:lnTo>
                  <a:cubicBezTo>
                    <a:pt x="90976" y="549696"/>
                    <a:pt x="0" y="426642"/>
                    <a:pt x="0" y="274848"/>
                  </a:cubicBezTo>
                  <a:cubicBezTo>
                    <a:pt x="0" y="12305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28575"/>
              <a:ext cx="1467458" cy="578271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543517" y="6475331"/>
            <a:ext cx="3546615" cy="1455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en-US" sz="3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Gestión de Trabajadores y Personal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651193" y="4418029"/>
            <a:ext cx="3919191" cy="1438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0"/>
              </a:lnSpc>
            </a:pPr>
            <a:r>
              <a:rPr lang="en-US" sz="2000" spc="6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Vista de galería de proyectos terminados y en desarrollo, filtros de búsqueda, ficha técnica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1147652" y="4475179"/>
            <a:ext cx="363682" cy="363682"/>
            <a:chOff x="0" y="0"/>
            <a:chExt cx="812800" cy="812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B9A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2"/>
                </a:lnSpc>
              </a:pPr>
              <a:endParaRPr/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3691315" y="701003"/>
            <a:ext cx="10905369" cy="1109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37"/>
              </a:lnSpc>
              <a:spcBef>
                <a:spcPct val="0"/>
              </a:spcBef>
            </a:pPr>
            <a:r>
              <a:rPr lang="en-US" sz="5519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Épicas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272668" y="2838784"/>
            <a:ext cx="3876015" cy="969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en-US" sz="3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Captación de clientes y contacto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505866" y="4418029"/>
            <a:ext cx="4177451" cy="1438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0"/>
              </a:lnSpc>
            </a:pPr>
            <a:r>
              <a:rPr lang="en-US" sz="2000" spc="6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Personas buscando empleo o cotizar con la empresa, recibidas por el administrador desde su portal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6999309" y="4475179"/>
            <a:ext cx="363682" cy="363682"/>
            <a:chOff x="0" y="0"/>
            <a:chExt cx="812800" cy="8128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B9A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2"/>
                </a:lnSpc>
              </a:pPr>
              <a:endParaRPr/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3360364" y="4418029"/>
            <a:ext cx="3697007" cy="1438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0"/>
              </a:lnSpc>
            </a:pPr>
            <a:r>
              <a:rPr lang="en-US" sz="2000" spc="6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Garantizar que solo el personal autorizado acceda a la información confidencial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12853807" y="4475179"/>
            <a:ext cx="363682" cy="363682"/>
            <a:chOff x="0" y="0"/>
            <a:chExt cx="812800" cy="8128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B9A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2"/>
                </a:lnSpc>
              </a:pPr>
              <a:endParaRPr/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1532240" y="8278431"/>
            <a:ext cx="4325765" cy="180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0"/>
              </a:lnSpc>
            </a:pPr>
            <a:r>
              <a:rPr lang="en-US" sz="2000" spc="6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Administración del registro histórico de trabajadores, control del libro diario de asistencias y cálculo de remuneraciones.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1028700" y="8335581"/>
            <a:ext cx="363682" cy="363682"/>
            <a:chOff x="0" y="0"/>
            <a:chExt cx="812800" cy="8128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B9A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2"/>
                </a:lnSpc>
              </a:pPr>
              <a:endParaRPr/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7465897" y="8278431"/>
            <a:ext cx="3919191" cy="180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0"/>
              </a:lnSpc>
            </a:pPr>
            <a:r>
              <a:rPr lang="en-US" sz="2000" spc="6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Microservicio inteligente para estimar costos, plazos y cubicaciones de futuros proyectos a partir del historial de la empresa.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6962356" y="8335581"/>
            <a:ext cx="363682" cy="363682"/>
            <a:chOff x="0" y="0"/>
            <a:chExt cx="812800" cy="8128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B9A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2"/>
                </a:lnSpc>
              </a:pPr>
              <a:endParaRPr/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13320394" y="8278431"/>
            <a:ext cx="3700023" cy="180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0"/>
              </a:lnSpc>
            </a:pPr>
            <a:r>
              <a:rPr lang="en-US" sz="2000" spc="6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Repositorio centralizado en la nube para contratos, finiquitos normativos (DT) y certificados de faena (F30).</a:t>
            </a:r>
          </a:p>
        </p:txBody>
      </p:sp>
      <p:grpSp>
        <p:nvGrpSpPr>
          <p:cNvPr id="61" name="Group 61"/>
          <p:cNvGrpSpPr/>
          <p:nvPr/>
        </p:nvGrpSpPr>
        <p:grpSpPr>
          <a:xfrm>
            <a:off x="12816854" y="8335581"/>
            <a:ext cx="363682" cy="363682"/>
            <a:chOff x="0" y="0"/>
            <a:chExt cx="812800" cy="8128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B9A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2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B9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6687567" y="1984664"/>
            <a:ext cx="4912866" cy="0"/>
          </a:xfrm>
          <a:prstGeom prst="line">
            <a:avLst/>
          </a:prstGeom>
          <a:ln w="190500" cap="flat">
            <a:solidFill>
              <a:srgbClr val="0F7D7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8780318" y="1480705"/>
            <a:ext cx="727364" cy="727364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7D7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2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859629" y="16581"/>
            <a:ext cx="6568743" cy="1015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59"/>
              </a:lnSpc>
              <a:spcBef>
                <a:spcPct val="0"/>
              </a:spcBef>
            </a:pPr>
            <a:r>
              <a:rPr lang="en-US" sz="5064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Historias de Usuario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976035" y="1340514"/>
            <a:ext cx="354979" cy="807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  <a:spcBef>
                <a:spcPct val="0"/>
              </a:spcBef>
            </a:pPr>
            <a:r>
              <a:rPr lang="en-US" sz="3999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2</a:t>
            </a:r>
          </a:p>
        </p:txBody>
      </p:sp>
      <p:sp>
        <p:nvSpPr>
          <p:cNvPr id="8" name="AutoShape 8"/>
          <p:cNvSpPr/>
          <p:nvPr/>
        </p:nvSpPr>
        <p:spPr>
          <a:xfrm flipV="1">
            <a:off x="730113" y="1984664"/>
            <a:ext cx="4912866" cy="0"/>
          </a:xfrm>
          <a:prstGeom prst="line">
            <a:avLst/>
          </a:prstGeom>
          <a:ln w="190500" cap="flat">
            <a:solidFill>
              <a:srgbClr val="0F7D7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9" name="Group 9"/>
          <p:cNvGrpSpPr/>
          <p:nvPr/>
        </p:nvGrpSpPr>
        <p:grpSpPr>
          <a:xfrm>
            <a:off x="2822864" y="1480705"/>
            <a:ext cx="727364" cy="727364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7D7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2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078751" y="1340514"/>
            <a:ext cx="177490" cy="807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  <a:spcBef>
                <a:spcPct val="0"/>
              </a:spcBef>
            </a:pPr>
            <a:r>
              <a:rPr lang="en-US" sz="3999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1</a:t>
            </a:r>
          </a:p>
        </p:txBody>
      </p:sp>
      <p:sp>
        <p:nvSpPr>
          <p:cNvPr id="13" name="AutoShape 13"/>
          <p:cNvSpPr/>
          <p:nvPr/>
        </p:nvSpPr>
        <p:spPr>
          <a:xfrm flipV="1">
            <a:off x="12648183" y="1984664"/>
            <a:ext cx="4912866" cy="0"/>
          </a:xfrm>
          <a:prstGeom prst="line">
            <a:avLst/>
          </a:prstGeom>
          <a:ln w="190500" cap="flat">
            <a:solidFill>
              <a:srgbClr val="0F7D7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14" name="Group 14"/>
          <p:cNvGrpSpPr/>
          <p:nvPr/>
        </p:nvGrpSpPr>
        <p:grpSpPr>
          <a:xfrm>
            <a:off x="14740934" y="1480705"/>
            <a:ext cx="727364" cy="727364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7D7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2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4943708" y="1350039"/>
            <a:ext cx="354979" cy="807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  <a:spcBef>
                <a:spcPct val="0"/>
              </a:spcBef>
            </a:pPr>
            <a:r>
              <a:rPr lang="en-US" sz="3999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30113" y="2498148"/>
            <a:ext cx="4989325" cy="605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0"/>
              </a:lnSpc>
              <a:spcBef>
                <a:spcPct val="0"/>
              </a:spcBef>
            </a:pPr>
            <a:r>
              <a:rPr lang="en-US" sz="3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Cliente (Usuario Público)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30113" y="3380163"/>
            <a:ext cx="4989325" cy="5118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3420"/>
              </a:lnSpc>
              <a:buFont typeface="Arial"/>
              <a:buChar char="•"/>
            </a:pPr>
            <a:r>
              <a:rPr lang="en-US" sz="2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Necesito</a:t>
            </a:r>
            <a:r>
              <a:rPr lang="en-US" sz="200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visualizar el portafolio de obras, experiencia histórica, maquinaria pesada y afiliaciones, </a:t>
            </a:r>
            <a:r>
              <a:rPr lang="en-US" sz="2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con la finalidad de</a:t>
            </a:r>
            <a:r>
              <a:rPr lang="en-US" sz="200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validar la capacidad técnica de la empresa y adjudicarle contratos de construcción.</a:t>
            </a:r>
          </a:p>
          <a:p>
            <a:pPr marL="431801" lvl="1" indent="-215900" algn="l">
              <a:lnSpc>
                <a:spcPts val="3420"/>
              </a:lnSpc>
              <a:buFont typeface="Arial"/>
              <a:buChar char="•"/>
            </a:pPr>
            <a:r>
              <a:rPr lang="en-US" sz="2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Necesito</a:t>
            </a:r>
            <a:r>
              <a:rPr lang="en-US" sz="200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enviar formularios de contacto y solicitudes de presupuesto, </a:t>
            </a:r>
            <a:r>
              <a:rPr lang="en-US" sz="2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con la finalidad de</a:t>
            </a:r>
            <a:r>
              <a:rPr lang="en-US" sz="200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cotizar partidas de enfierradura y excavación de forma directa.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35882" y="2498148"/>
            <a:ext cx="5571216" cy="605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0"/>
              </a:lnSpc>
              <a:spcBef>
                <a:spcPct val="0"/>
              </a:spcBef>
            </a:pPr>
            <a:r>
              <a:rPr lang="en-US" sz="3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Postulante (Usuario Público)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35882" y="3380163"/>
            <a:ext cx="4989325" cy="2975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3420"/>
              </a:lnSpc>
              <a:buFont typeface="Arial"/>
              <a:buChar char="•"/>
            </a:pPr>
            <a:r>
              <a:rPr lang="en-US" sz="2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Necesito</a:t>
            </a:r>
            <a:r>
              <a:rPr lang="en-US" sz="200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completar un formulario digital de postulación ("Trabaja con nosotros") ingresando mi experiencia y especialidad técnica, </a:t>
            </a:r>
            <a:r>
              <a:rPr lang="en-US" sz="2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con la finalidad de</a:t>
            </a:r>
            <a:r>
              <a:rPr lang="en-US" sz="200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ser considerado en la nómina de contratación para nuevos proyectos en faena.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649044" y="2498148"/>
            <a:ext cx="2911143" cy="605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0"/>
              </a:lnSpc>
              <a:spcBef>
                <a:spcPct val="0"/>
              </a:spcBef>
            </a:pPr>
            <a:r>
              <a:rPr lang="en-US" sz="3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Administrador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151292" y="3380163"/>
            <a:ext cx="6022408" cy="6404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3420"/>
              </a:lnSpc>
              <a:buFont typeface="Arial"/>
              <a:buChar char="•"/>
            </a:pPr>
            <a:r>
              <a:rPr lang="en-US" sz="2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Necesito</a:t>
            </a:r>
            <a:r>
              <a:rPr lang="en-US" sz="200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ingresar novedades diarias en el libro digital de asistencia (atrasos, faltas, licencias), </a:t>
            </a:r>
            <a:r>
              <a:rPr lang="en-US" sz="2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con la finalidad de</a:t>
            </a:r>
            <a:r>
              <a:rPr lang="en-US" sz="200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generar automáticamente las liquidaciones mensuales y finiquitos bajo normativa de la DT.</a:t>
            </a:r>
          </a:p>
          <a:p>
            <a:pPr marL="431801" lvl="1" indent="-215900" algn="l">
              <a:lnSpc>
                <a:spcPts val="3420"/>
              </a:lnSpc>
              <a:buFont typeface="Arial"/>
              <a:buChar char="•"/>
            </a:pPr>
            <a:r>
              <a:rPr lang="en-US" sz="2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Necesito</a:t>
            </a:r>
            <a:r>
              <a:rPr lang="en-US" sz="200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emitir la Ficha de Ingreso formal de cada trabajador contratado, </a:t>
            </a:r>
            <a:r>
              <a:rPr lang="en-US" sz="2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con la finalidad de</a:t>
            </a:r>
            <a:r>
              <a:rPr lang="en-US" sz="200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presentar la nómina exigida por las empresas mandantes para autorizar el acceso a la obra.</a:t>
            </a:r>
          </a:p>
          <a:p>
            <a:pPr marL="431801" lvl="1" indent="-215900" algn="l">
              <a:lnSpc>
                <a:spcPts val="3420"/>
              </a:lnSpc>
              <a:buFont typeface="Arial"/>
              <a:buChar char="•"/>
            </a:pPr>
            <a:r>
              <a:rPr lang="en-US" sz="2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Necesito</a:t>
            </a:r>
            <a:r>
              <a:rPr lang="en-US" sz="200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mantener un repositorio unificado para contratos, finiquitos y certificados </a:t>
            </a:r>
            <a:r>
              <a:rPr lang="en-US" sz="2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con la finalidad de</a:t>
            </a:r>
            <a:r>
              <a:rPr lang="en-US" sz="200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eliminar la dispersión de documentos en múltiples dispositivos.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13531" y="1237291"/>
            <a:ext cx="13860939" cy="10232908"/>
          </a:xfrm>
          <a:custGeom>
            <a:avLst/>
            <a:gdLst/>
            <a:ahLst/>
            <a:cxnLst/>
            <a:rect l="l" t="t" r="r" b="b"/>
            <a:pathLst>
              <a:path w="13860939" h="10232908">
                <a:moveTo>
                  <a:pt x="0" y="0"/>
                </a:moveTo>
                <a:lnTo>
                  <a:pt x="13860938" y="0"/>
                </a:lnTo>
                <a:lnTo>
                  <a:pt x="13860938" y="10232907"/>
                </a:lnTo>
                <a:lnTo>
                  <a:pt x="0" y="102329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3655265" y="-135948"/>
            <a:ext cx="10977471" cy="1373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60"/>
              </a:lnSpc>
              <a:spcBef>
                <a:spcPct val="0"/>
              </a:spcBef>
            </a:pPr>
            <a:r>
              <a:rPr lang="en-US" sz="6877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Arquitectura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77728" y="12585975"/>
            <a:ext cx="2932542" cy="233980"/>
            <a:chOff x="0" y="0"/>
            <a:chExt cx="3910057" cy="311974"/>
          </a:xfrm>
        </p:grpSpPr>
        <p:grpSp>
          <p:nvGrpSpPr>
            <p:cNvPr id="3" name="Group 3"/>
            <p:cNvGrpSpPr/>
            <p:nvPr/>
          </p:nvGrpSpPr>
          <p:grpSpPr>
            <a:xfrm>
              <a:off x="1387893" y="0"/>
              <a:ext cx="2522163" cy="311974"/>
              <a:chOff x="0" y="0"/>
              <a:chExt cx="498205" cy="61624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98205" cy="61624"/>
              </a:xfrm>
              <a:custGeom>
                <a:avLst/>
                <a:gdLst/>
                <a:ahLst/>
                <a:cxnLst/>
                <a:rect l="l" t="t" r="r" b="b"/>
                <a:pathLst>
                  <a:path w="498205" h="61624">
                    <a:moveTo>
                      <a:pt x="30812" y="0"/>
                    </a:moveTo>
                    <a:lnTo>
                      <a:pt x="467393" y="0"/>
                    </a:lnTo>
                    <a:cubicBezTo>
                      <a:pt x="484410" y="0"/>
                      <a:pt x="498205" y="13795"/>
                      <a:pt x="498205" y="30812"/>
                    </a:cubicBezTo>
                    <a:lnTo>
                      <a:pt x="498205" y="30812"/>
                    </a:lnTo>
                    <a:cubicBezTo>
                      <a:pt x="498205" y="38984"/>
                      <a:pt x="494959" y="46821"/>
                      <a:pt x="489180" y="52600"/>
                    </a:cubicBezTo>
                    <a:cubicBezTo>
                      <a:pt x="483402" y="58378"/>
                      <a:pt x="475565" y="61624"/>
                      <a:pt x="467393" y="61624"/>
                    </a:cubicBezTo>
                    <a:lnTo>
                      <a:pt x="30812" y="61624"/>
                    </a:lnTo>
                    <a:cubicBezTo>
                      <a:pt x="22640" y="61624"/>
                      <a:pt x="14803" y="58378"/>
                      <a:pt x="9025" y="52600"/>
                    </a:cubicBezTo>
                    <a:cubicBezTo>
                      <a:pt x="3246" y="46821"/>
                      <a:pt x="0" y="38984"/>
                      <a:pt x="0" y="30812"/>
                    </a:cubicBezTo>
                    <a:lnTo>
                      <a:pt x="0" y="30812"/>
                    </a:lnTo>
                    <a:cubicBezTo>
                      <a:pt x="0" y="22640"/>
                      <a:pt x="3246" y="14803"/>
                      <a:pt x="9025" y="9025"/>
                    </a:cubicBezTo>
                    <a:cubicBezTo>
                      <a:pt x="14803" y="3246"/>
                      <a:pt x="22640" y="0"/>
                      <a:pt x="30812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114300"/>
                <a:ext cx="498205" cy="175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2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921480" y="0"/>
              <a:ext cx="308340" cy="311974"/>
              <a:chOff x="0" y="0"/>
              <a:chExt cx="60907" cy="61624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0907" cy="61624"/>
              </a:xfrm>
              <a:custGeom>
                <a:avLst/>
                <a:gdLst/>
                <a:ahLst/>
                <a:cxnLst/>
                <a:rect l="l" t="t" r="r" b="b"/>
                <a:pathLst>
                  <a:path w="60907" h="61624">
                    <a:moveTo>
                      <a:pt x="30453" y="0"/>
                    </a:moveTo>
                    <a:lnTo>
                      <a:pt x="30453" y="0"/>
                    </a:lnTo>
                    <a:cubicBezTo>
                      <a:pt x="38530" y="0"/>
                      <a:pt x="46276" y="3208"/>
                      <a:pt x="51987" y="8920"/>
                    </a:cubicBezTo>
                    <a:cubicBezTo>
                      <a:pt x="57698" y="14631"/>
                      <a:pt x="60907" y="22377"/>
                      <a:pt x="60907" y="30453"/>
                    </a:cubicBezTo>
                    <a:lnTo>
                      <a:pt x="60907" y="31171"/>
                    </a:lnTo>
                    <a:cubicBezTo>
                      <a:pt x="60907" y="39248"/>
                      <a:pt x="57698" y="46994"/>
                      <a:pt x="51987" y="52705"/>
                    </a:cubicBezTo>
                    <a:cubicBezTo>
                      <a:pt x="46276" y="58416"/>
                      <a:pt x="38530" y="61624"/>
                      <a:pt x="30453" y="61624"/>
                    </a:cubicBezTo>
                    <a:lnTo>
                      <a:pt x="30453" y="61624"/>
                    </a:lnTo>
                    <a:cubicBezTo>
                      <a:pt x="22377" y="61624"/>
                      <a:pt x="14631" y="58416"/>
                      <a:pt x="8920" y="52705"/>
                    </a:cubicBezTo>
                    <a:cubicBezTo>
                      <a:pt x="3208" y="46994"/>
                      <a:pt x="0" y="39248"/>
                      <a:pt x="0" y="31171"/>
                    </a:cubicBezTo>
                    <a:lnTo>
                      <a:pt x="0" y="30453"/>
                    </a:lnTo>
                    <a:cubicBezTo>
                      <a:pt x="0" y="22377"/>
                      <a:pt x="3208" y="14631"/>
                      <a:pt x="8920" y="8920"/>
                    </a:cubicBezTo>
                    <a:cubicBezTo>
                      <a:pt x="14631" y="3208"/>
                      <a:pt x="22377" y="0"/>
                      <a:pt x="30453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114300"/>
                <a:ext cx="60907" cy="175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2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460740" y="0"/>
              <a:ext cx="308340" cy="311974"/>
              <a:chOff x="0" y="0"/>
              <a:chExt cx="60907" cy="6162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0907" cy="61624"/>
              </a:xfrm>
              <a:custGeom>
                <a:avLst/>
                <a:gdLst/>
                <a:ahLst/>
                <a:cxnLst/>
                <a:rect l="l" t="t" r="r" b="b"/>
                <a:pathLst>
                  <a:path w="60907" h="61624">
                    <a:moveTo>
                      <a:pt x="30453" y="0"/>
                    </a:moveTo>
                    <a:lnTo>
                      <a:pt x="30453" y="0"/>
                    </a:lnTo>
                    <a:cubicBezTo>
                      <a:pt x="38530" y="0"/>
                      <a:pt x="46276" y="3208"/>
                      <a:pt x="51987" y="8920"/>
                    </a:cubicBezTo>
                    <a:cubicBezTo>
                      <a:pt x="57698" y="14631"/>
                      <a:pt x="60907" y="22377"/>
                      <a:pt x="60907" y="30453"/>
                    </a:cubicBezTo>
                    <a:lnTo>
                      <a:pt x="60907" y="31171"/>
                    </a:lnTo>
                    <a:cubicBezTo>
                      <a:pt x="60907" y="39248"/>
                      <a:pt x="57698" y="46994"/>
                      <a:pt x="51987" y="52705"/>
                    </a:cubicBezTo>
                    <a:cubicBezTo>
                      <a:pt x="46276" y="58416"/>
                      <a:pt x="38530" y="61624"/>
                      <a:pt x="30453" y="61624"/>
                    </a:cubicBezTo>
                    <a:lnTo>
                      <a:pt x="30453" y="61624"/>
                    </a:lnTo>
                    <a:cubicBezTo>
                      <a:pt x="22377" y="61624"/>
                      <a:pt x="14631" y="58416"/>
                      <a:pt x="8920" y="52705"/>
                    </a:cubicBezTo>
                    <a:cubicBezTo>
                      <a:pt x="3208" y="46994"/>
                      <a:pt x="0" y="39248"/>
                      <a:pt x="0" y="31171"/>
                    </a:cubicBezTo>
                    <a:lnTo>
                      <a:pt x="0" y="30453"/>
                    </a:lnTo>
                    <a:cubicBezTo>
                      <a:pt x="0" y="22377"/>
                      <a:pt x="3208" y="14631"/>
                      <a:pt x="8920" y="8920"/>
                    </a:cubicBezTo>
                    <a:cubicBezTo>
                      <a:pt x="14631" y="3208"/>
                      <a:pt x="22377" y="0"/>
                      <a:pt x="30453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114300"/>
                <a:ext cx="60907" cy="175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2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0" y="0"/>
              <a:ext cx="308340" cy="311974"/>
              <a:chOff x="0" y="0"/>
              <a:chExt cx="60907" cy="6162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60907" cy="61624"/>
              </a:xfrm>
              <a:custGeom>
                <a:avLst/>
                <a:gdLst/>
                <a:ahLst/>
                <a:cxnLst/>
                <a:rect l="l" t="t" r="r" b="b"/>
                <a:pathLst>
                  <a:path w="60907" h="61624">
                    <a:moveTo>
                      <a:pt x="30453" y="0"/>
                    </a:moveTo>
                    <a:lnTo>
                      <a:pt x="30453" y="0"/>
                    </a:lnTo>
                    <a:cubicBezTo>
                      <a:pt x="38530" y="0"/>
                      <a:pt x="46276" y="3208"/>
                      <a:pt x="51987" y="8920"/>
                    </a:cubicBezTo>
                    <a:cubicBezTo>
                      <a:pt x="57698" y="14631"/>
                      <a:pt x="60907" y="22377"/>
                      <a:pt x="60907" y="30453"/>
                    </a:cubicBezTo>
                    <a:lnTo>
                      <a:pt x="60907" y="31171"/>
                    </a:lnTo>
                    <a:cubicBezTo>
                      <a:pt x="60907" y="39248"/>
                      <a:pt x="57698" y="46994"/>
                      <a:pt x="51987" y="52705"/>
                    </a:cubicBezTo>
                    <a:cubicBezTo>
                      <a:pt x="46276" y="58416"/>
                      <a:pt x="38530" y="61624"/>
                      <a:pt x="30453" y="61624"/>
                    </a:cubicBezTo>
                    <a:lnTo>
                      <a:pt x="30453" y="61624"/>
                    </a:lnTo>
                    <a:cubicBezTo>
                      <a:pt x="22377" y="61624"/>
                      <a:pt x="14631" y="58416"/>
                      <a:pt x="8920" y="52705"/>
                    </a:cubicBezTo>
                    <a:cubicBezTo>
                      <a:pt x="3208" y="46994"/>
                      <a:pt x="0" y="39248"/>
                      <a:pt x="0" y="31171"/>
                    </a:cubicBezTo>
                    <a:lnTo>
                      <a:pt x="0" y="30453"/>
                    </a:lnTo>
                    <a:cubicBezTo>
                      <a:pt x="0" y="22377"/>
                      <a:pt x="3208" y="14631"/>
                      <a:pt x="8920" y="8920"/>
                    </a:cubicBezTo>
                    <a:cubicBezTo>
                      <a:pt x="14631" y="3208"/>
                      <a:pt x="22377" y="0"/>
                      <a:pt x="30453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114300"/>
                <a:ext cx="60907" cy="175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2"/>
                  </a:lnSpc>
                </a:pPr>
                <a:endParaRPr/>
              </a:p>
            </p:txBody>
          </p:sp>
        </p:grpSp>
      </p:grpSp>
      <p:sp>
        <p:nvSpPr>
          <p:cNvPr id="16" name="TextBox 16"/>
          <p:cNvSpPr txBox="1"/>
          <p:nvPr/>
        </p:nvSpPr>
        <p:spPr>
          <a:xfrm>
            <a:off x="5225278" y="224195"/>
            <a:ext cx="7837441" cy="112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557"/>
              </a:lnSpc>
              <a:spcBef>
                <a:spcPct val="0"/>
              </a:spcBef>
            </a:pPr>
            <a:r>
              <a:rPr lang="en-US" sz="5589" b="1" dirty="0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Base de </a:t>
            </a:r>
            <a:r>
              <a:rPr lang="en-US" sz="5589" b="1" dirty="0" err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datos</a:t>
            </a:r>
            <a:endParaRPr lang="en-US" sz="5589" b="1" dirty="0">
              <a:solidFill>
                <a:srgbClr val="45B9AD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6E35DA0C-901F-1B00-9AB6-33533682BD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766" y="1479580"/>
            <a:ext cx="17484467" cy="86213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77728" y="12585975"/>
            <a:ext cx="2932542" cy="233980"/>
            <a:chOff x="0" y="0"/>
            <a:chExt cx="3910057" cy="311974"/>
          </a:xfrm>
        </p:grpSpPr>
        <p:grpSp>
          <p:nvGrpSpPr>
            <p:cNvPr id="3" name="Group 3"/>
            <p:cNvGrpSpPr/>
            <p:nvPr/>
          </p:nvGrpSpPr>
          <p:grpSpPr>
            <a:xfrm>
              <a:off x="1387893" y="0"/>
              <a:ext cx="2522163" cy="311974"/>
              <a:chOff x="0" y="0"/>
              <a:chExt cx="498205" cy="61624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98205" cy="61624"/>
              </a:xfrm>
              <a:custGeom>
                <a:avLst/>
                <a:gdLst/>
                <a:ahLst/>
                <a:cxnLst/>
                <a:rect l="l" t="t" r="r" b="b"/>
                <a:pathLst>
                  <a:path w="498205" h="61624">
                    <a:moveTo>
                      <a:pt x="30812" y="0"/>
                    </a:moveTo>
                    <a:lnTo>
                      <a:pt x="467393" y="0"/>
                    </a:lnTo>
                    <a:cubicBezTo>
                      <a:pt x="484410" y="0"/>
                      <a:pt x="498205" y="13795"/>
                      <a:pt x="498205" y="30812"/>
                    </a:cubicBezTo>
                    <a:lnTo>
                      <a:pt x="498205" y="30812"/>
                    </a:lnTo>
                    <a:cubicBezTo>
                      <a:pt x="498205" y="38984"/>
                      <a:pt x="494959" y="46821"/>
                      <a:pt x="489180" y="52600"/>
                    </a:cubicBezTo>
                    <a:cubicBezTo>
                      <a:pt x="483402" y="58378"/>
                      <a:pt x="475565" y="61624"/>
                      <a:pt x="467393" y="61624"/>
                    </a:cubicBezTo>
                    <a:lnTo>
                      <a:pt x="30812" y="61624"/>
                    </a:lnTo>
                    <a:cubicBezTo>
                      <a:pt x="22640" y="61624"/>
                      <a:pt x="14803" y="58378"/>
                      <a:pt x="9025" y="52600"/>
                    </a:cubicBezTo>
                    <a:cubicBezTo>
                      <a:pt x="3246" y="46821"/>
                      <a:pt x="0" y="38984"/>
                      <a:pt x="0" y="30812"/>
                    </a:cubicBezTo>
                    <a:lnTo>
                      <a:pt x="0" y="30812"/>
                    </a:lnTo>
                    <a:cubicBezTo>
                      <a:pt x="0" y="22640"/>
                      <a:pt x="3246" y="14803"/>
                      <a:pt x="9025" y="9025"/>
                    </a:cubicBezTo>
                    <a:cubicBezTo>
                      <a:pt x="14803" y="3246"/>
                      <a:pt x="22640" y="0"/>
                      <a:pt x="30812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114300"/>
                <a:ext cx="498205" cy="175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2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921480" y="0"/>
              <a:ext cx="308340" cy="311974"/>
              <a:chOff x="0" y="0"/>
              <a:chExt cx="60907" cy="61624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0907" cy="61624"/>
              </a:xfrm>
              <a:custGeom>
                <a:avLst/>
                <a:gdLst/>
                <a:ahLst/>
                <a:cxnLst/>
                <a:rect l="l" t="t" r="r" b="b"/>
                <a:pathLst>
                  <a:path w="60907" h="61624">
                    <a:moveTo>
                      <a:pt x="30453" y="0"/>
                    </a:moveTo>
                    <a:lnTo>
                      <a:pt x="30453" y="0"/>
                    </a:lnTo>
                    <a:cubicBezTo>
                      <a:pt x="38530" y="0"/>
                      <a:pt x="46276" y="3208"/>
                      <a:pt x="51987" y="8920"/>
                    </a:cubicBezTo>
                    <a:cubicBezTo>
                      <a:pt x="57698" y="14631"/>
                      <a:pt x="60907" y="22377"/>
                      <a:pt x="60907" y="30453"/>
                    </a:cubicBezTo>
                    <a:lnTo>
                      <a:pt x="60907" y="31171"/>
                    </a:lnTo>
                    <a:cubicBezTo>
                      <a:pt x="60907" y="39248"/>
                      <a:pt x="57698" y="46994"/>
                      <a:pt x="51987" y="52705"/>
                    </a:cubicBezTo>
                    <a:cubicBezTo>
                      <a:pt x="46276" y="58416"/>
                      <a:pt x="38530" y="61624"/>
                      <a:pt x="30453" y="61624"/>
                    </a:cubicBezTo>
                    <a:lnTo>
                      <a:pt x="30453" y="61624"/>
                    </a:lnTo>
                    <a:cubicBezTo>
                      <a:pt x="22377" y="61624"/>
                      <a:pt x="14631" y="58416"/>
                      <a:pt x="8920" y="52705"/>
                    </a:cubicBezTo>
                    <a:cubicBezTo>
                      <a:pt x="3208" y="46994"/>
                      <a:pt x="0" y="39248"/>
                      <a:pt x="0" y="31171"/>
                    </a:cubicBezTo>
                    <a:lnTo>
                      <a:pt x="0" y="30453"/>
                    </a:lnTo>
                    <a:cubicBezTo>
                      <a:pt x="0" y="22377"/>
                      <a:pt x="3208" y="14631"/>
                      <a:pt x="8920" y="8920"/>
                    </a:cubicBezTo>
                    <a:cubicBezTo>
                      <a:pt x="14631" y="3208"/>
                      <a:pt x="22377" y="0"/>
                      <a:pt x="30453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114300"/>
                <a:ext cx="60907" cy="175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2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460740" y="0"/>
              <a:ext cx="308340" cy="311974"/>
              <a:chOff x="0" y="0"/>
              <a:chExt cx="60907" cy="6162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0907" cy="61624"/>
              </a:xfrm>
              <a:custGeom>
                <a:avLst/>
                <a:gdLst/>
                <a:ahLst/>
                <a:cxnLst/>
                <a:rect l="l" t="t" r="r" b="b"/>
                <a:pathLst>
                  <a:path w="60907" h="61624">
                    <a:moveTo>
                      <a:pt x="30453" y="0"/>
                    </a:moveTo>
                    <a:lnTo>
                      <a:pt x="30453" y="0"/>
                    </a:lnTo>
                    <a:cubicBezTo>
                      <a:pt x="38530" y="0"/>
                      <a:pt x="46276" y="3208"/>
                      <a:pt x="51987" y="8920"/>
                    </a:cubicBezTo>
                    <a:cubicBezTo>
                      <a:pt x="57698" y="14631"/>
                      <a:pt x="60907" y="22377"/>
                      <a:pt x="60907" y="30453"/>
                    </a:cubicBezTo>
                    <a:lnTo>
                      <a:pt x="60907" y="31171"/>
                    </a:lnTo>
                    <a:cubicBezTo>
                      <a:pt x="60907" y="39248"/>
                      <a:pt x="57698" y="46994"/>
                      <a:pt x="51987" y="52705"/>
                    </a:cubicBezTo>
                    <a:cubicBezTo>
                      <a:pt x="46276" y="58416"/>
                      <a:pt x="38530" y="61624"/>
                      <a:pt x="30453" y="61624"/>
                    </a:cubicBezTo>
                    <a:lnTo>
                      <a:pt x="30453" y="61624"/>
                    </a:lnTo>
                    <a:cubicBezTo>
                      <a:pt x="22377" y="61624"/>
                      <a:pt x="14631" y="58416"/>
                      <a:pt x="8920" y="52705"/>
                    </a:cubicBezTo>
                    <a:cubicBezTo>
                      <a:pt x="3208" y="46994"/>
                      <a:pt x="0" y="39248"/>
                      <a:pt x="0" y="31171"/>
                    </a:cubicBezTo>
                    <a:lnTo>
                      <a:pt x="0" y="30453"/>
                    </a:lnTo>
                    <a:cubicBezTo>
                      <a:pt x="0" y="22377"/>
                      <a:pt x="3208" y="14631"/>
                      <a:pt x="8920" y="8920"/>
                    </a:cubicBezTo>
                    <a:cubicBezTo>
                      <a:pt x="14631" y="3208"/>
                      <a:pt x="22377" y="0"/>
                      <a:pt x="30453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114300"/>
                <a:ext cx="60907" cy="175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2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0" y="0"/>
              <a:ext cx="308340" cy="311974"/>
              <a:chOff x="0" y="0"/>
              <a:chExt cx="60907" cy="6162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60907" cy="61624"/>
              </a:xfrm>
              <a:custGeom>
                <a:avLst/>
                <a:gdLst/>
                <a:ahLst/>
                <a:cxnLst/>
                <a:rect l="l" t="t" r="r" b="b"/>
                <a:pathLst>
                  <a:path w="60907" h="61624">
                    <a:moveTo>
                      <a:pt x="30453" y="0"/>
                    </a:moveTo>
                    <a:lnTo>
                      <a:pt x="30453" y="0"/>
                    </a:lnTo>
                    <a:cubicBezTo>
                      <a:pt x="38530" y="0"/>
                      <a:pt x="46276" y="3208"/>
                      <a:pt x="51987" y="8920"/>
                    </a:cubicBezTo>
                    <a:cubicBezTo>
                      <a:pt x="57698" y="14631"/>
                      <a:pt x="60907" y="22377"/>
                      <a:pt x="60907" y="30453"/>
                    </a:cubicBezTo>
                    <a:lnTo>
                      <a:pt x="60907" y="31171"/>
                    </a:lnTo>
                    <a:cubicBezTo>
                      <a:pt x="60907" y="39248"/>
                      <a:pt x="57698" y="46994"/>
                      <a:pt x="51987" y="52705"/>
                    </a:cubicBezTo>
                    <a:cubicBezTo>
                      <a:pt x="46276" y="58416"/>
                      <a:pt x="38530" y="61624"/>
                      <a:pt x="30453" y="61624"/>
                    </a:cubicBezTo>
                    <a:lnTo>
                      <a:pt x="30453" y="61624"/>
                    </a:lnTo>
                    <a:cubicBezTo>
                      <a:pt x="22377" y="61624"/>
                      <a:pt x="14631" y="58416"/>
                      <a:pt x="8920" y="52705"/>
                    </a:cubicBezTo>
                    <a:cubicBezTo>
                      <a:pt x="3208" y="46994"/>
                      <a:pt x="0" y="39248"/>
                      <a:pt x="0" y="31171"/>
                    </a:cubicBezTo>
                    <a:lnTo>
                      <a:pt x="0" y="30453"/>
                    </a:lnTo>
                    <a:cubicBezTo>
                      <a:pt x="0" y="22377"/>
                      <a:pt x="3208" y="14631"/>
                      <a:pt x="8920" y="8920"/>
                    </a:cubicBezTo>
                    <a:cubicBezTo>
                      <a:pt x="14631" y="3208"/>
                      <a:pt x="22377" y="0"/>
                      <a:pt x="30453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114300"/>
                <a:ext cx="60907" cy="175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2"/>
                  </a:lnSpc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5130896" y="1251348"/>
            <a:ext cx="8026206" cy="7916473"/>
          </a:xfrm>
          <a:custGeom>
            <a:avLst/>
            <a:gdLst/>
            <a:ahLst/>
            <a:cxnLst/>
            <a:rect l="l" t="t" r="r" b="b"/>
            <a:pathLst>
              <a:path w="8026206" h="7916473">
                <a:moveTo>
                  <a:pt x="0" y="0"/>
                </a:moveTo>
                <a:lnTo>
                  <a:pt x="8026206" y="0"/>
                </a:lnTo>
                <a:lnTo>
                  <a:pt x="8026206" y="7916473"/>
                </a:lnTo>
                <a:lnTo>
                  <a:pt x="0" y="79164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6" name="TextBox 16"/>
          <p:cNvSpPr txBox="1"/>
          <p:nvPr/>
        </p:nvSpPr>
        <p:spPr>
          <a:xfrm>
            <a:off x="5507196" y="128432"/>
            <a:ext cx="7996204" cy="1122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57"/>
              </a:lnSpc>
              <a:spcBef>
                <a:spcPct val="0"/>
              </a:spcBef>
            </a:pPr>
            <a:r>
              <a:rPr lang="en-US" sz="5589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Metodología SCRUM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0" y="2605375"/>
            <a:ext cx="5945015" cy="988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8"/>
              </a:lnSpc>
              <a:spcBef>
                <a:spcPct val="0"/>
              </a:spcBef>
            </a:pPr>
            <a:r>
              <a:rPr lang="en-US" sz="2084" b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Definición de los objetivos de la iteración y selección de tareas desde el Product Backlog.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96463" y="1957246"/>
            <a:ext cx="2752090" cy="447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4"/>
              </a:lnSpc>
              <a:spcBef>
                <a:spcPct val="0"/>
              </a:spcBef>
            </a:pPr>
            <a:r>
              <a:rPr lang="en-US" sz="2784" b="1" dirty="0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Sprint Planning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344807" y="1409701"/>
            <a:ext cx="2495393" cy="893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64"/>
              </a:lnSpc>
              <a:spcBef>
                <a:spcPct val="0"/>
              </a:spcBef>
            </a:pPr>
            <a:r>
              <a:rPr lang="en-US" sz="2784" b="1" dirty="0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Sprint Review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928834" y="2438687"/>
            <a:ext cx="5316702" cy="1321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8"/>
              </a:lnSpc>
              <a:spcBef>
                <a:spcPct val="0"/>
              </a:spcBef>
            </a:pPr>
            <a:r>
              <a:rPr lang="en-US" sz="2084" b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Demostración de los módulos 100% funcionales ante la gerencia de la empresa para recibir retroalimentación directa y validación.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740446" y="6286501"/>
            <a:ext cx="3404554" cy="893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64"/>
              </a:lnSpc>
              <a:spcBef>
                <a:spcPct val="0"/>
              </a:spcBef>
            </a:pPr>
            <a:r>
              <a:rPr lang="en-US" sz="2784" b="1" dirty="0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Sprint Retrospective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774893" y="7284926"/>
            <a:ext cx="5316702" cy="1321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8"/>
              </a:lnSpc>
              <a:spcBef>
                <a:spcPct val="0"/>
              </a:spcBef>
            </a:pPr>
            <a:r>
              <a:rPr lang="en-US" sz="2084" b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Análisis interno del equipo para evaluar el proceso, identificar oportunidades de mejora y optimizar la metodología de trabajo.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36379" y="6819901"/>
            <a:ext cx="5316702" cy="893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64"/>
              </a:lnSpc>
              <a:spcBef>
                <a:spcPct val="0"/>
              </a:spcBef>
            </a:pPr>
            <a:r>
              <a:rPr lang="en-US" sz="2784" b="1" dirty="0" err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Incremento</a:t>
            </a:r>
            <a:r>
              <a:rPr lang="en-US" sz="2784" b="1" dirty="0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 y Entrega Continua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36378" y="7767321"/>
            <a:ext cx="5316702" cy="1321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8"/>
              </a:lnSpc>
              <a:spcBef>
                <a:spcPct val="0"/>
              </a:spcBef>
            </a:pPr>
            <a:r>
              <a:rPr lang="en-US" sz="2084" b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Entrega de versiones operativas del sistema (MVP) que se adaptan rápidamente a los requerimientos de la constructora aportando valor real.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B9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82125" y="9629775"/>
            <a:ext cx="4912866" cy="0"/>
          </a:xfrm>
          <a:prstGeom prst="line">
            <a:avLst/>
          </a:prstGeom>
          <a:ln w="190500" cap="flat">
            <a:solidFill>
              <a:srgbClr val="0F7D7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3" name="AutoShape 3"/>
          <p:cNvSpPr/>
          <p:nvPr/>
        </p:nvSpPr>
        <p:spPr>
          <a:xfrm flipV="1">
            <a:off x="12760361" y="9610725"/>
            <a:ext cx="4912866" cy="0"/>
          </a:xfrm>
          <a:prstGeom prst="line">
            <a:avLst/>
          </a:prstGeom>
          <a:ln w="190500" cap="flat">
            <a:solidFill>
              <a:srgbClr val="0F7D7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4" name="AutoShape 4"/>
          <p:cNvSpPr/>
          <p:nvPr/>
        </p:nvSpPr>
        <p:spPr>
          <a:xfrm>
            <a:off x="569487" y="9658350"/>
            <a:ext cx="4912866" cy="0"/>
          </a:xfrm>
          <a:prstGeom prst="line">
            <a:avLst/>
          </a:prstGeom>
          <a:ln w="190500" cap="flat">
            <a:solidFill>
              <a:srgbClr val="0F7D7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5" name="Group 5"/>
          <p:cNvGrpSpPr/>
          <p:nvPr/>
        </p:nvGrpSpPr>
        <p:grpSpPr>
          <a:xfrm>
            <a:off x="1007269" y="1593792"/>
            <a:ext cx="2929197" cy="292919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t="-12848" b="-103660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317526" y="1593792"/>
            <a:ext cx="2929197" cy="292919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831164" y="1593792"/>
            <a:ext cx="2929197" cy="2929197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4341511" y="1593792"/>
            <a:ext cx="2929197" cy="292919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4966010" y="16581"/>
            <a:ext cx="8355979" cy="1015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59"/>
              </a:lnSpc>
              <a:spcBef>
                <a:spcPct val="0"/>
              </a:spcBef>
            </a:pPr>
            <a:r>
              <a:rPr lang="en-US" sz="5064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Equipo de Trabajo Scrum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4341" y="4665865"/>
            <a:ext cx="3015052" cy="605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0"/>
              </a:lnSpc>
              <a:spcBef>
                <a:spcPct val="0"/>
              </a:spcBef>
            </a:pPr>
            <a:r>
              <a:rPr lang="en-US" sz="3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Product Owner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9487" y="6437394"/>
            <a:ext cx="4116488" cy="1867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1"/>
              </a:lnSpc>
            </a:pPr>
            <a:r>
              <a:rPr lang="en-US" sz="2199" b="1" dirty="0" err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Responsable</a:t>
            </a:r>
            <a:r>
              <a:rPr lang="en-US" sz="2199" dirty="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de la </a:t>
            </a:r>
            <a:r>
              <a:rPr lang="en-US" sz="2199" dirty="0" err="1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visión</a:t>
            </a:r>
            <a:r>
              <a:rPr lang="en-US" sz="2199" dirty="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del </a:t>
            </a:r>
            <a:r>
              <a:rPr lang="en-US" sz="2199" dirty="0" err="1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negocio</a:t>
            </a:r>
            <a:r>
              <a:rPr lang="en-US" sz="2199" dirty="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, </a:t>
            </a:r>
            <a:r>
              <a:rPr lang="en-US" sz="2199" dirty="0" err="1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definición</a:t>
            </a:r>
            <a:r>
              <a:rPr lang="en-US" sz="2199" dirty="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de </a:t>
            </a:r>
            <a:r>
              <a:rPr lang="en-US" sz="2199" dirty="0" err="1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requerimientos</a:t>
            </a:r>
            <a:r>
              <a:rPr lang="en-US" sz="2199" dirty="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y </a:t>
            </a:r>
            <a:r>
              <a:rPr lang="en-US" sz="2199" dirty="0" err="1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priorización</a:t>
            </a:r>
            <a:r>
              <a:rPr lang="en-US" sz="2199" dirty="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del backlog.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461115" y="4665865"/>
            <a:ext cx="2785608" cy="605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0"/>
              </a:lnSpc>
              <a:spcBef>
                <a:spcPct val="0"/>
              </a:spcBef>
            </a:pPr>
            <a:r>
              <a:rPr lang="en-US" sz="3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Scrum Master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89074" y="4665865"/>
            <a:ext cx="3971016" cy="605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0"/>
              </a:lnSpc>
              <a:spcBef>
                <a:spcPct val="0"/>
              </a:spcBef>
            </a:pPr>
            <a:r>
              <a:rPr lang="en-US" sz="3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Development Team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941829" y="4665865"/>
            <a:ext cx="3971016" cy="605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0"/>
              </a:lnSpc>
              <a:spcBef>
                <a:spcPct val="0"/>
              </a:spcBef>
            </a:pPr>
            <a:r>
              <a:rPr lang="en-US" sz="3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Development Team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086516" y="6437394"/>
            <a:ext cx="4177990" cy="1867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1"/>
              </a:lnSpc>
            </a:pPr>
            <a:r>
              <a:rPr lang="en-US" sz="2199" b="1" dirty="0" err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Responsable</a:t>
            </a:r>
            <a:r>
              <a:rPr lang="en-US" sz="2199" dirty="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de la </a:t>
            </a:r>
            <a:r>
              <a:rPr lang="en-US" sz="2199" dirty="0" err="1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coordinación</a:t>
            </a:r>
            <a:r>
              <a:rPr lang="en-US" sz="2199" dirty="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2199" dirty="0" err="1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ágil</a:t>
            </a:r>
            <a:r>
              <a:rPr lang="en-US" sz="2199" dirty="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, </a:t>
            </a:r>
            <a:r>
              <a:rPr lang="en-US" sz="2199" dirty="0" err="1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diseño</a:t>
            </a:r>
            <a:r>
              <a:rPr lang="en-US" sz="2199" dirty="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de la </a:t>
            </a:r>
            <a:r>
              <a:rPr lang="en-US" sz="2199" dirty="0" err="1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infraestructura</a:t>
            </a:r>
            <a:r>
              <a:rPr lang="en-US" sz="2199" dirty="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y </a:t>
            </a:r>
            <a:r>
              <a:rPr lang="en-US" sz="2199" dirty="0" err="1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arquitectura</a:t>
            </a:r>
            <a:r>
              <a:rPr lang="en-US" sz="2199" dirty="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cloud.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665048" y="6392049"/>
            <a:ext cx="4059886" cy="1391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1"/>
              </a:lnSpc>
            </a:pPr>
            <a:r>
              <a:rPr lang="en-US" sz="2199" b="1" dirty="0" err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Responsable</a:t>
            </a:r>
            <a:r>
              <a:rPr lang="en-US" sz="2199" b="1" dirty="0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 </a:t>
            </a:r>
            <a:r>
              <a:rPr lang="en-US" sz="2199" dirty="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del </a:t>
            </a:r>
            <a:r>
              <a:rPr lang="en-US" sz="2199" dirty="0" err="1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desarrollo</a:t>
            </a:r>
            <a:r>
              <a:rPr lang="en-US" sz="2199" dirty="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frontend, interfaces de </a:t>
            </a:r>
            <a:r>
              <a:rPr lang="en-US" sz="2199" dirty="0" err="1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usuario</a:t>
            </a:r>
            <a:r>
              <a:rPr lang="en-US" sz="2199" dirty="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y </a:t>
            </a:r>
            <a:r>
              <a:rPr lang="en-US" sz="2199" dirty="0" err="1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diseño</a:t>
            </a:r>
            <a:r>
              <a:rPr lang="en-US" sz="2199" dirty="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2199" dirty="0" err="1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responsivo</a:t>
            </a:r>
            <a:r>
              <a:rPr lang="en-US" sz="2199" dirty="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024956" y="6349677"/>
            <a:ext cx="3804761" cy="2343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1"/>
              </a:lnSpc>
            </a:pPr>
            <a:r>
              <a:rPr lang="en-US" sz="2199" b="1" dirty="0" err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Responsable</a:t>
            </a:r>
            <a:r>
              <a:rPr lang="en-US" sz="2199" b="1" dirty="0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 </a:t>
            </a:r>
            <a:r>
              <a:rPr lang="en-US" sz="2199" dirty="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del </a:t>
            </a:r>
            <a:r>
              <a:rPr lang="en-US" sz="2199" dirty="0" err="1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desarrollo</a:t>
            </a:r>
            <a:r>
              <a:rPr lang="en-US" sz="2199" dirty="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Backend, </a:t>
            </a:r>
            <a:r>
              <a:rPr lang="en-US" sz="2199" dirty="0" err="1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creación</a:t>
            </a:r>
            <a:r>
              <a:rPr lang="en-US" sz="2199" dirty="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de APIs, </a:t>
            </a:r>
            <a:r>
              <a:rPr lang="en-US" sz="2199" dirty="0" err="1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integración</a:t>
            </a:r>
            <a:r>
              <a:rPr lang="en-US" sz="2199" dirty="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con la base de </a:t>
            </a:r>
            <a:r>
              <a:rPr lang="en-US" sz="2199" dirty="0" err="1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datos</a:t>
            </a:r>
            <a:r>
              <a:rPr lang="en-US" sz="2199" dirty="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y </a:t>
            </a:r>
            <a:r>
              <a:rPr lang="en-US" sz="2199" dirty="0" err="1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modelado</a:t>
            </a:r>
            <a:r>
              <a:rPr lang="en-US" sz="2199" dirty="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del motor </a:t>
            </a:r>
            <a:r>
              <a:rPr lang="en-US" sz="2199" dirty="0" err="1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predictivo</a:t>
            </a:r>
            <a:r>
              <a:rPr lang="en-US" sz="2199" dirty="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6523" y="5289839"/>
            <a:ext cx="3617725" cy="605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0"/>
              </a:lnSpc>
              <a:spcBef>
                <a:spcPct val="0"/>
              </a:spcBef>
            </a:pPr>
            <a:r>
              <a:rPr lang="en-US" sz="3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Sebastián Álvarez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059529" y="5289839"/>
            <a:ext cx="3617725" cy="605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0"/>
              </a:lnSpc>
              <a:spcBef>
                <a:spcPct val="0"/>
              </a:spcBef>
            </a:pPr>
            <a:r>
              <a:rPr lang="en-US" sz="3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Jesús Bustamante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486900" y="5289839"/>
            <a:ext cx="3617725" cy="605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0"/>
              </a:lnSpc>
              <a:spcBef>
                <a:spcPct val="0"/>
              </a:spcBef>
            </a:pPr>
            <a:r>
              <a:rPr lang="en-US" sz="3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Antonia Sanhueza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433665" y="5289839"/>
            <a:ext cx="2744888" cy="605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0"/>
              </a:lnSpc>
              <a:spcBef>
                <a:spcPct val="0"/>
              </a:spcBef>
            </a:pPr>
            <a:r>
              <a:rPr lang="en-US" sz="3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Juakin Fredes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431425" y="3020839"/>
            <a:ext cx="5394148" cy="5394148"/>
          </a:xfrm>
          <a:custGeom>
            <a:avLst/>
            <a:gdLst/>
            <a:ahLst/>
            <a:cxnLst/>
            <a:rect l="l" t="t" r="r" b="b"/>
            <a:pathLst>
              <a:path w="5394148" h="5394148">
                <a:moveTo>
                  <a:pt x="0" y="0"/>
                </a:moveTo>
                <a:lnTo>
                  <a:pt x="5394149" y="0"/>
                </a:lnTo>
                <a:lnTo>
                  <a:pt x="5394149" y="5394148"/>
                </a:lnTo>
                <a:lnTo>
                  <a:pt x="0" y="53941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6833735" y="3429896"/>
            <a:ext cx="4582781" cy="4582781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BEE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algn="ctr">
                <a:lnSpc>
                  <a:spcPts val="1616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463149" y="4625858"/>
            <a:ext cx="447669" cy="447669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  <a:ln w="85725" cap="sq">
              <a:solidFill>
                <a:srgbClr val="45B9AD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13003" y="3138481"/>
            <a:ext cx="447669" cy="447669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  <a:ln w="85725" cap="sq">
              <a:solidFill>
                <a:srgbClr val="45B9AD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08838" y="7853458"/>
            <a:ext cx="447669" cy="447669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  <a:ln w="85725" cap="sq">
              <a:solidFill>
                <a:srgbClr val="45B9AD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346946" y="4643852"/>
            <a:ext cx="447669" cy="447669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  <a:ln w="85725" cap="sq">
              <a:solidFill>
                <a:srgbClr val="45B9AD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346946" y="6439069"/>
            <a:ext cx="447669" cy="447669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  <a:ln w="85725" cap="sq">
              <a:solidFill>
                <a:srgbClr val="45B9AD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076942" y="2304111"/>
            <a:ext cx="5082362" cy="1567119"/>
            <a:chOff x="0" y="0"/>
            <a:chExt cx="1467458" cy="45248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67458" cy="452483"/>
            </a:xfrm>
            <a:custGeom>
              <a:avLst/>
              <a:gdLst/>
              <a:ahLst/>
              <a:cxnLst/>
              <a:rect l="l" t="t" r="r" b="b"/>
              <a:pathLst>
                <a:path w="1467458" h="452483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1467458" cy="481058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585523" y="3154759"/>
            <a:ext cx="447669" cy="447669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  <a:ln w="85725" cap="sq">
              <a:solidFill>
                <a:srgbClr val="45B9AD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585523" y="7827075"/>
            <a:ext cx="447669" cy="447669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  <a:ln w="85725" cap="sq">
              <a:solidFill>
                <a:srgbClr val="45B9AD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463149" y="6439069"/>
            <a:ext cx="447669" cy="447669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  <a:ln w="85725" cap="sq">
              <a:solidFill>
                <a:srgbClr val="45B9AD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3" name="Freeform 33"/>
          <p:cNvSpPr/>
          <p:nvPr/>
        </p:nvSpPr>
        <p:spPr>
          <a:xfrm>
            <a:off x="6378264" y="2745445"/>
            <a:ext cx="455471" cy="684451"/>
          </a:xfrm>
          <a:custGeom>
            <a:avLst/>
            <a:gdLst/>
            <a:ahLst/>
            <a:cxnLst/>
            <a:rect l="l" t="t" r="r" b="b"/>
            <a:pathLst>
              <a:path w="455471" h="684451">
                <a:moveTo>
                  <a:pt x="0" y="0"/>
                </a:moveTo>
                <a:lnTo>
                  <a:pt x="455471" y="0"/>
                </a:lnTo>
                <a:lnTo>
                  <a:pt x="455471" y="684451"/>
                </a:lnTo>
                <a:lnTo>
                  <a:pt x="0" y="6844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grpSp>
        <p:nvGrpSpPr>
          <p:cNvPr id="34" name="Group 34"/>
          <p:cNvGrpSpPr/>
          <p:nvPr/>
        </p:nvGrpSpPr>
        <p:grpSpPr>
          <a:xfrm>
            <a:off x="759759" y="4984596"/>
            <a:ext cx="5082362" cy="1567119"/>
            <a:chOff x="0" y="0"/>
            <a:chExt cx="1467458" cy="452483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467458" cy="452483"/>
            </a:xfrm>
            <a:custGeom>
              <a:avLst/>
              <a:gdLst/>
              <a:ahLst/>
              <a:cxnLst/>
              <a:rect l="l" t="t" r="r" b="b"/>
              <a:pathLst>
                <a:path w="1467458" h="452483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9525"/>
              <a:ext cx="1467458" cy="462008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l">
                <a:lnSpc>
                  <a:spcPts val="228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2211497" y="7665081"/>
            <a:ext cx="5082362" cy="1567119"/>
            <a:chOff x="0" y="0"/>
            <a:chExt cx="1467458" cy="452483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467458" cy="452483"/>
            </a:xfrm>
            <a:custGeom>
              <a:avLst/>
              <a:gdLst/>
              <a:ahLst/>
              <a:cxnLst/>
              <a:rect l="l" t="t" r="r" b="b"/>
              <a:pathLst>
                <a:path w="1467458" h="452483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28575"/>
              <a:ext cx="1467458" cy="481058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1117091" y="2304111"/>
            <a:ext cx="5082362" cy="1567119"/>
            <a:chOff x="0" y="0"/>
            <a:chExt cx="1467458" cy="452483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467458" cy="452483"/>
            </a:xfrm>
            <a:custGeom>
              <a:avLst/>
              <a:gdLst/>
              <a:ahLst/>
              <a:cxnLst/>
              <a:rect l="l" t="t" r="r" b="b"/>
              <a:pathLst>
                <a:path w="1467458" h="452483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28575"/>
              <a:ext cx="1467458" cy="481058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1160451" y="7691181"/>
            <a:ext cx="5082362" cy="1567119"/>
            <a:chOff x="0" y="0"/>
            <a:chExt cx="1467458" cy="452483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467458" cy="452483"/>
            </a:xfrm>
            <a:custGeom>
              <a:avLst/>
              <a:gdLst/>
              <a:ahLst/>
              <a:cxnLst/>
              <a:rect l="l" t="t" r="r" b="b"/>
              <a:pathLst>
                <a:path w="1467458" h="452483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28575"/>
              <a:ext cx="1467458" cy="481058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6" name="Freeform 46"/>
          <p:cNvSpPr/>
          <p:nvPr/>
        </p:nvSpPr>
        <p:spPr>
          <a:xfrm>
            <a:off x="11338847" y="8197443"/>
            <a:ext cx="629121" cy="629121"/>
          </a:xfrm>
          <a:custGeom>
            <a:avLst/>
            <a:gdLst/>
            <a:ahLst/>
            <a:cxnLst/>
            <a:rect l="l" t="t" r="r" b="b"/>
            <a:pathLst>
              <a:path w="629121" h="629121">
                <a:moveTo>
                  <a:pt x="0" y="0"/>
                </a:moveTo>
                <a:lnTo>
                  <a:pt x="629121" y="0"/>
                </a:lnTo>
                <a:lnTo>
                  <a:pt x="629121" y="629122"/>
                </a:lnTo>
                <a:lnTo>
                  <a:pt x="0" y="629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47" name="Freeform 47"/>
          <p:cNvSpPr/>
          <p:nvPr/>
        </p:nvSpPr>
        <p:spPr>
          <a:xfrm>
            <a:off x="5004072" y="5463181"/>
            <a:ext cx="563278" cy="556237"/>
          </a:xfrm>
          <a:custGeom>
            <a:avLst/>
            <a:gdLst/>
            <a:ahLst/>
            <a:cxnLst/>
            <a:rect l="l" t="t" r="r" b="b"/>
            <a:pathLst>
              <a:path w="563278" h="556237">
                <a:moveTo>
                  <a:pt x="0" y="0"/>
                </a:moveTo>
                <a:lnTo>
                  <a:pt x="563278" y="0"/>
                </a:lnTo>
                <a:lnTo>
                  <a:pt x="563278" y="556237"/>
                </a:lnTo>
                <a:lnTo>
                  <a:pt x="0" y="5562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48" name="Freeform 48"/>
          <p:cNvSpPr/>
          <p:nvPr/>
        </p:nvSpPr>
        <p:spPr>
          <a:xfrm>
            <a:off x="11277102" y="2858716"/>
            <a:ext cx="690866" cy="519877"/>
          </a:xfrm>
          <a:custGeom>
            <a:avLst/>
            <a:gdLst/>
            <a:ahLst/>
            <a:cxnLst/>
            <a:rect l="l" t="t" r="r" b="b"/>
            <a:pathLst>
              <a:path w="690866" h="519877">
                <a:moveTo>
                  <a:pt x="0" y="0"/>
                </a:moveTo>
                <a:lnTo>
                  <a:pt x="690866" y="0"/>
                </a:lnTo>
                <a:lnTo>
                  <a:pt x="690866" y="519877"/>
                </a:lnTo>
                <a:lnTo>
                  <a:pt x="0" y="519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49" name="Freeform 49"/>
          <p:cNvSpPr/>
          <p:nvPr/>
        </p:nvSpPr>
        <p:spPr>
          <a:xfrm>
            <a:off x="8091206" y="4465976"/>
            <a:ext cx="2067839" cy="2510621"/>
          </a:xfrm>
          <a:custGeom>
            <a:avLst/>
            <a:gdLst/>
            <a:ahLst/>
            <a:cxnLst/>
            <a:rect l="l" t="t" r="r" b="b"/>
            <a:pathLst>
              <a:path w="2067839" h="2510621">
                <a:moveTo>
                  <a:pt x="0" y="0"/>
                </a:moveTo>
                <a:lnTo>
                  <a:pt x="2067839" y="0"/>
                </a:lnTo>
                <a:lnTo>
                  <a:pt x="2067839" y="2510621"/>
                </a:lnTo>
                <a:lnTo>
                  <a:pt x="0" y="25106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50" name="Group 50"/>
          <p:cNvGrpSpPr/>
          <p:nvPr/>
        </p:nvGrpSpPr>
        <p:grpSpPr>
          <a:xfrm>
            <a:off x="7677728" y="12585975"/>
            <a:ext cx="2932542" cy="233980"/>
            <a:chOff x="0" y="0"/>
            <a:chExt cx="3910057" cy="311974"/>
          </a:xfrm>
        </p:grpSpPr>
        <p:grpSp>
          <p:nvGrpSpPr>
            <p:cNvPr id="51" name="Group 51"/>
            <p:cNvGrpSpPr/>
            <p:nvPr/>
          </p:nvGrpSpPr>
          <p:grpSpPr>
            <a:xfrm>
              <a:off x="1387893" y="0"/>
              <a:ext cx="2522163" cy="311974"/>
              <a:chOff x="0" y="0"/>
              <a:chExt cx="498205" cy="61624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498205" cy="61624"/>
              </a:xfrm>
              <a:custGeom>
                <a:avLst/>
                <a:gdLst/>
                <a:ahLst/>
                <a:cxnLst/>
                <a:rect l="l" t="t" r="r" b="b"/>
                <a:pathLst>
                  <a:path w="498205" h="61624">
                    <a:moveTo>
                      <a:pt x="30812" y="0"/>
                    </a:moveTo>
                    <a:lnTo>
                      <a:pt x="467393" y="0"/>
                    </a:lnTo>
                    <a:cubicBezTo>
                      <a:pt x="484410" y="0"/>
                      <a:pt x="498205" y="13795"/>
                      <a:pt x="498205" y="30812"/>
                    </a:cubicBezTo>
                    <a:lnTo>
                      <a:pt x="498205" y="30812"/>
                    </a:lnTo>
                    <a:cubicBezTo>
                      <a:pt x="498205" y="38984"/>
                      <a:pt x="494959" y="46821"/>
                      <a:pt x="489180" y="52600"/>
                    </a:cubicBezTo>
                    <a:cubicBezTo>
                      <a:pt x="483402" y="58378"/>
                      <a:pt x="475565" y="61624"/>
                      <a:pt x="467393" y="61624"/>
                    </a:cubicBezTo>
                    <a:lnTo>
                      <a:pt x="30812" y="61624"/>
                    </a:lnTo>
                    <a:cubicBezTo>
                      <a:pt x="22640" y="61624"/>
                      <a:pt x="14803" y="58378"/>
                      <a:pt x="9025" y="52600"/>
                    </a:cubicBezTo>
                    <a:cubicBezTo>
                      <a:pt x="3246" y="46821"/>
                      <a:pt x="0" y="38984"/>
                      <a:pt x="0" y="30812"/>
                    </a:cubicBezTo>
                    <a:lnTo>
                      <a:pt x="0" y="30812"/>
                    </a:lnTo>
                    <a:cubicBezTo>
                      <a:pt x="0" y="22640"/>
                      <a:pt x="3246" y="14803"/>
                      <a:pt x="9025" y="9025"/>
                    </a:cubicBezTo>
                    <a:cubicBezTo>
                      <a:pt x="14803" y="3246"/>
                      <a:pt x="22640" y="0"/>
                      <a:pt x="30812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0" y="-114300"/>
                <a:ext cx="498205" cy="175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2"/>
                  </a:lnSpc>
                </a:pPr>
                <a:endParaRPr/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921480" y="0"/>
              <a:ext cx="308340" cy="311974"/>
              <a:chOff x="0" y="0"/>
              <a:chExt cx="60907" cy="61624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60907" cy="61624"/>
              </a:xfrm>
              <a:custGeom>
                <a:avLst/>
                <a:gdLst/>
                <a:ahLst/>
                <a:cxnLst/>
                <a:rect l="l" t="t" r="r" b="b"/>
                <a:pathLst>
                  <a:path w="60907" h="61624">
                    <a:moveTo>
                      <a:pt x="30453" y="0"/>
                    </a:moveTo>
                    <a:lnTo>
                      <a:pt x="30453" y="0"/>
                    </a:lnTo>
                    <a:cubicBezTo>
                      <a:pt x="38530" y="0"/>
                      <a:pt x="46276" y="3208"/>
                      <a:pt x="51987" y="8920"/>
                    </a:cubicBezTo>
                    <a:cubicBezTo>
                      <a:pt x="57698" y="14631"/>
                      <a:pt x="60907" y="22377"/>
                      <a:pt x="60907" y="30453"/>
                    </a:cubicBezTo>
                    <a:lnTo>
                      <a:pt x="60907" y="31171"/>
                    </a:lnTo>
                    <a:cubicBezTo>
                      <a:pt x="60907" y="39248"/>
                      <a:pt x="57698" y="46994"/>
                      <a:pt x="51987" y="52705"/>
                    </a:cubicBezTo>
                    <a:cubicBezTo>
                      <a:pt x="46276" y="58416"/>
                      <a:pt x="38530" y="61624"/>
                      <a:pt x="30453" y="61624"/>
                    </a:cubicBezTo>
                    <a:lnTo>
                      <a:pt x="30453" y="61624"/>
                    </a:lnTo>
                    <a:cubicBezTo>
                      <a:pt x="22377" y="61624"/>
                      <a:pt x="14631" y="58416"/>
                      <a:pt x="8920" y="52705"/>
                    </a:cubicBezTo>
                    <a:cubicBezTo>
                      <a:pt x="3208" y="46994"/>
                      <a:pt x="0" y="39248"/>
                      <a:pt x="0" y="31171"/>
                    </a:cubicBezTo>
                    <a:lnTo>
                      <a:pt x="0" y="30453"/>
                    </a:lnTo>
                    <a:cubicBezTo>
                      <a:pt x="0" y="22377"/>
                      <a:pt x="3208" y="14631"/>
                      <a:pt x="8920" y="8920"/>
                    </a:cubicBezTo>
                    <a:cubicBezTo>
                      <a:pt x="14631" y="3208"/>
                      <a:pt x="22377" y="0"/>
                      <a:pt x="30453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0" y="-114300"/>
                <a:ext cx="60907" cy="175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2"/>
                  </a:lnSpc>
                </a:pPr>
                <a:endParaRPr/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460740" y="0"/>
              <a:ext cx="308340" cy="311974"/>
              <a:chOff x="0" y="0"/>
              <a:chExt cx="60907" cy="61624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60907" cy="61624"/>
              </a:xfrm>
              <a:custGeom>
                <a:avLst/>
                <a:gdLst/>
                <a:ahLst/>
                <a:cxnLst/>
                <a:rect l="l" t="t" r="r" b="b"/>
                <a:pathLst>
                  <a:path w="60907" h="61624">
                    <a:moveTo>
                      <a:pt x="30453" y="0"/>
                    </a:moveTo>
                    <a:lnTo>
                      <a:pt x="30453" y="0"/>
                    </a:lnTo>
                    <a:cubicBezTo>
                      <a:pt x="38530" y="0"/>
                      <a:pt x="46276" y="3208"/>
                      <a:pt x="51987" y="8920"/>
                    </a:cubicBezTo>
                    <a:cubicBezTo>
                      <a:pt x="57698" y="14631"/>
                      <a:pt x="60907" y="22377"/>
                      <a:pt x="60907" y="30453"/>
                    </a:cubicBezTo>
                    <a:lnTo>
                      <a:pt x="60907" y="31171"/>
                    </a:lnTo>
                    <a:cubicBezTo>
                      <a:pt x="60907" y="39248"/>
                      <a:pt x="57698" y="46994"/>
                      <a:pt x="51987" y="52705"/>
                    </a:cubicBezTo>
                    <a:cubicBezTo>
                      <a:pt x="46276" y="58416"/>
                      <a:pt x="38530" y="61624"/>
                      <a:pt x="30453" y="61624"/>
                    </a:cubicBezTo>
                    <a:lnTo>
                      <a:pt x="30453" y="61624"/>
                    </a:lnTo>
                    <a:cubicBezTo>
                      <a:pt x="22377" y="61624"/>
                      <a:pt x="14631" y="58416"/>
                      <a:pt x="8920" y="52705"/>
                    </a:cubicBezTo>
                    <a:cubicBezTo>
                      <a:pt x="3208" y="46994"/>
                      <a:pt x="0" y="39248"/>
                      <a:pt x="0" y="31171"/>
                    </a:cubicBezTo>
                    <a:lnTo>
                      <a:pt x="0" y="30453"/>
                    </a:lnTo>
                    <a:cubicBezTo>
                      <a:pt x="0" y="22377"/>
                      <a:pt x="3208" y="14631"/>
                      <a:pt x="8920" y="8920"/>
                    </a:cubicBezTo>
                    <a:cubicBezTo>
                      <a:pt x="14631" y="3208"/>
                      <a:pt x="22377" y="0"/>
                      <a:pt x="30453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0" y="-114300"/>
                <a:ext cx="60907" cy="175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2"/>
                  </a:lnSpc>
                </a:pPr>
                <a:endParaRPr/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0" y="0"/>
              <a:ext cx="308340" cy="311974"/>
              <a:chOff x="0" y="0"/>
              <a:chExt cx="60907" cy="61624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60907" cy="61624"/>
              </a:xfrm>
              <a:custGeom>
                <a:avLst/>
                <a:gdLst/>
                <a:ahLst/>
                <a:cxnLst/>
                <a:rect l="l" t="t" r="r" b="b"/>
                <a:pathLst>
                  <a:path w="60907" h="61624">
                    <a:moveTo>
                      <a:pt x="30453" y="0"/>
                    </a:moveTo>
                    <a:lnTo>
                      <a:pt x="30453" y="0"/>
                    </a:lnTo>
                    <a:cubicBezTo>
                      <a:pt x="38530" y="0"/>
                      <a:pt x="46276" y="3208"/>
                      <a:pt x="51987" y="8920"/>
                    </a:cubicBezTo>
                    <a:cubicBezTo>
                      <a:pt x="57698" y="14631"/>
                      <a:pt x="60907" y="22377"/>
                      <a:pt x="60907" y="30453"/>
                    </a:cubicBezTo>
                    <a:lnTo>
                      <a:pt x="60907" y="31171"/>
                    </a:lnTo>
                    <a:cubicBezTo>
                      <a:pt x="60907" y="39248"/>
                      <a:pt x="57698" y="46994"/>
                      <a:pt x="51987" y="52705"/>
                    </a:cubicBezTo>
                    <a:cubicBezTo>
                      <a:pt x="46276" y="58416"/>
                      <a:pt x="38530" y="61624"/>
                      <a:pt x="30453" y="61624"/>
                    </a:cubicBezTo>
                    <a:lnTo>
                      <a:pt x="30453" y="61624"/>
                    </a:lnTo>
                    <a:cubicBezTo>
                      <a:pt x="22377" y="61624"/>
                      <a:pt x="14631" y="58416"/>
                      <a:pt x="8920" y="52705"/>
                    </a:cubicBezTo>
                    <a:cubicBezTo>
                      <a:pt x="3208" y="46994"/>
                      <a:pt x="0" y="39248"/>
                      <a:pt x="0" y="31171"/>
                    </a:cubicBezTo>
                    <a:lnTo>
                      <a:pt x="0" y="30453"/>
                    </a:lnTo>
                    <a:cubicBezTo>
                      <a:pt x="0" y="22377"/>
                      <a:pt x="3208" y="14631"/>
                      <a:pt x="8920" y="8920"/>
                    </a:cubicBezTo>
                    <a:cubicBezTo>
                      <a:pt x="14631" y="3208"/>
                      <a:pt x="22377" y="0"/>
                      <a:pt x="30453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0" y="-114300"/>
                <a:ext cx="60907" cy="175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2"/>
                  </a:lnSpc>
                </a:pPr>
                <a:endParaRPr/>
              </a:p>
            </p:txBody>
          </p:sp>
        </p:grpSp>
      </p:grpSp>
      <p:sp>
        <p:nvSpPr>
          <p:cNvPr id="63" name="Freeform 63"/>
          <p:cNvSpPr/>
          <p:nvPr/>
        </p:nvSpPr>
        <p:spPr>
          <a:xfrm>
            <a:off x="6124756" y="8077293"/>
            <a:ext cx="774967" cy="774967"/>
          </a:xfrm>
          <a:custGeom>
            <a:avLst/>
            <a:gdLst/>
            <a:ahLst/>
            <a:cxnLst/>
            <a:rect l="l" t="t" r="r" b="b"/>
            <a:pathLst>
              <a:path w="774967" h="774967">
                <a:moveTo>
                  <a:pt x="0" y="0"/>
                </a:moveTo>
                <a:lnTo>
                  <a:pt x="774967" y="0"/>
                </a:lnTo>
                <a:lnTo>
                  <a:pt x="774967" y="774967"/>
                </a:lnTo>
                <a:lnTo>
                  <a:pt x="0" y="7749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4" name="TextBox 64"/>
          <p:cNvSpPr txBox="1"/>
          <p:nvPr/>
        </p:nvSpPr>
        <p:spPr>
          <a:xfrm>
            <a:off x="7052854" y="409670"/>
            <a:ext cx="4182291" cy="1122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57"/>
              </a:lnSpc>
              <a:spcBef>
                <a:spcPct val="0"/>
              </a:spcBef>
            </a:pPr>
            <a:r>
              <a:rPr lang="en-US" sz="5589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Evidencias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2626022" y="2950547"/>
            <a:ext cx="3542692" cy="762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74"/>
              </a:lnSpc>
              <a:spcBef>
                <a:spcPct val="0"/>
              </a:spcBef>
            </a:pPr>
            <a:r>
              <a:rPr lang="en-US" sz="1481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D</a:t>
            </a:r>
            <a:r>
              <a:rPr lang="en-US" sz="1481" u="none" strike="noStrike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ocumento formalizado con el backlog inicial, historias de usuario, estimaciones de esfuerzo.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2626022" y="2581571"/>
            <a:ext cx="2466196" cy="277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4"/>
              </a:lnSpc>
              <a:spcBef>
                <a:spcPct val="0"/>
              </a:spcBef>
            </a:pPr>
            <a:r>
              <a:rPr lang="en-US" sz="1784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Backlog e Historias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308839" y="5480691"/>
            <a:ext cx="3695233" cy="1019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74"/>
              </a:lnSpc>
              <a:spcBef>
                <a:spcPct val="0"/>
              </a:spcBef>
            </a:pPr>
            <a:r>
              <a:rPr lang="en-US" sz="1481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D</a:t>
            </a:r>
            <a:r>
              <a:rPr lang="en-US" sz="1481" u="none" strike="noStrike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efinición oficial del alcance, los objetivos estratégicos y el valor tecnológico entregado a la empresa contratista.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308839" y="5188316"/>
            <a:ext cx="3407019" cy="27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4"/>
              </a:lnSpc>
              <a:spcBef>
                <a:spcPct val="0"/>
              </a:spcBef>
            </a:pPr>
            <a:r>
              <a:rPr lang="en-US" sz="1784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Des</a:t>
            </a:r>
            <a:r>
              <a:rPr lang="en-US" sz="1784" b="1" u="none" strike="noStrike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cripción de Proyecto</a:t>
            </a:r>
          </a:p>
        </p:txBody>
      </p:sp>
      <p:grpSp>
        <p:nvGrpSpPr>
          <p:cNvPr id="69" name="Group 69"/>
          <p:cNvGrpSpPr/>
          <p:nvPr/>
        </p:nvGrpSpPr>
        <p:grpSpPr>
          <a:xfrm>
            <a:off x="12415643" y="4867686"/>
            <a:ext cx="5082362" cy="1571383"/>
            <a:chOff x="0" y="0"/>
            <a:chExt cx="1467458" cy="453714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1467458" cy="453714"/>
            </a:xfrm>
            <a:custGeom>
              <a:avLst/>
              <a:gdLst/>
              <a:ahLst/>
              <a:cxnLst/>
              <a:rect l="l" t="t" r="r" b="b"/>
              <a:pathLst>
                <a:path w="1467458" h="453714">
                  <a:moveTo>
                    <a:pt x="1264258" y="0"/>
                  </a:moveTo>
                  <a:cubicBezTo>
                    <a:pt x="1376482" y="0"/>
                    <a:pt x="1467458" y="101567"/>
                    <a:pt x="1467458" y="226857"/>
                  </a:cubicBezTo>
                  <a:cubicBezTo>
                    <a:pt x="1467458" y="352146"/>
                    <a:pt x="1376482" y="453714"/>
                    <a:pt x="1264258" y="453714"/>
                  </a:cubicBezTo>
                  <a:lnTo>
                    <a:pt x="203200" y="453714"/>
                  </a:lnTo>
                  <a:cubicBezTo>
                    <a:pt x="90976" y="453714"/>
                    <a:pt x="0" y="352146"/>
                    <a:pt x="0" y="226857"/>
                  </a:cubicBezTo>
                  <a:cubicBezTo>
                    <a:pt x="0" y="101567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28575"/>
              <a:ext cx="1467458" cy="482289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2" name="Freeform 72"/>
          <p:cNvSpPr/>
          <p:nvPr/>
        </p:nvSpPr>
        <p:spPr>
          <a:xfrm>
            <a:off x="12730449" y="5405338"/>
            <a:ext cx="625150" cy="625150"/>
          </a:xfrm>
          <a:custGeom>
            <a:avLst/>
            <a:gdLst/>
            <a:ahLst/>
            <a:cxnLst/>
            <a:rect l="l" t="t" r="r" b="b"/>
            <a:pathLst>
              <a:path w="625150" h="625150">
                <a:moveTo>
                  <a:pt x="0" y="0"/>
                </a:moveTo>
                <a:lnTo>
                  <a:pt x="625150" y="0"/>
                </a:lnTo>
                <a:lnTo>
                  <a:pt x="625150" y="625150"/>
                </a:lnTo>
                <a:lnTo>
                  <a:pt x="0" y="6251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73" name="TextBox 73"/>
          <p:cNvSpPr txBox="1"/>
          <p:nvPr/>
        </p:nvSpPr>
        <p:spPr>
          <a:xfrm>
            <a:off x="2760577" y="8143665"/>
            <a:ext cx="3403921" cy="1019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74"/>
              </a:lnSpc>
              <a:spcBef>
                <a:spcPct val="0"/>
              </a:spcBef>
            </a:pPr>
            <a:r>
              <a:rPr lang="en-US" sz="1481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E</a:t>
            </a:r>
            <a:r>
              <a:rPr lang="en-US" sz="1481" u="none" strike="noStrike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squema relacional en PostgreSQL diseñado para centralizar obras históricas, usuarios y el inventario de maquinaria.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2760577" y="7868800"/>
            <a:ext cx="3265471" cy="27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4"/>
              </a:lnSpc>
              <a:spcBef>
                <a:spcPct val="0"/>
              </a:spcBef>
            </a:pPr>
            <a:r>
              <a:rPr lang="en-US" sz="1784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M</a:t>
            </a:r>
            <a:r>
              <a:rPr lang="en-US" sz="1784" b="1" u="none" strike="noStrike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odelo de Base de Datos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2177518" y="2830141"/>
            <a:ext cx="3403921" cy="762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74"/>
              </a:lnSpc>
              <a:spcBef>
                <a:spcPct val="0"/>
              </a:spcBef>
            </a:pPr>
            <a:r>
              <a:rPr lang="en-US" sz="1481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C</a:t>
            </a:r>
            <a:r>
              <a:rPr lang="en-US" sz="1481" u="none" strike="noStrike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ronograma detallado con la planificación estratégica de los Sprints.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2173203" y="2507831"/>
            <a:ext cx="3123923" cy="27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4"/>
              </a:lnSpc>
              <a:spcBef>
                <a:spcPct val="0"/>
              </a:spcBef>
            </a:pPr>
            <a:r>
              <a:rPr lang="en-US" sz="1784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Ca</a:t>
            </a:r>
            <a:r>
              <a:rPr lang="en-US" sz="1784" b="1" u="none" strike="noStrike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rta Gantt del Proyecto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2216564" y="8189793"/>
            <a:ext cx="3403921" cy="1019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74"/>
              </a:lnSpc>
              <a:spcBef>
                <a:spcPct val="0"/>
              </a:spcBef>
            </a:pPr>
            <a:r>
              <a:rPr lang="en-US" sz="1481" dirty="0" err="1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Ent</a:t>
            </a:r>
            <a:r>
              <a:rPr lang="en-US" sz="1481" u="none" strike="noStrike" dirty="0" err="1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regas</a:t>
            </a:r>
            <a:r>
              <a:rPr lang="en-US" sz="1481" u="none" strike="noStrike" dirty="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481" u="none" strike="noStrike" dirty="0" err="1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iterativas</a:t>
            </a:r>
            <a:r>
              <a:rPr lang="en-US" sz="1481" u="none" strike="noStrike" dirty="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y 100% </a:t>
            </a:r>
            <a:r>
              <a:rPr lang="en-US" sz="1481" u="none" strike="noStrike" dirty="0" err="1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funcionales</a:t>
            </a:r>
            <a:r>
              <a:rPr lang="en-US" sz="1481" u="none" strike="noStrike" dirty="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(MVP) </a:t>
            </a:r>
            <a:r>
              <a:rPr lang="en-US" sz="1481" u="none" strike="noStrike" dirty="0" err="1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desplegadas</a:t>
            </a:r>
            <a:r>
              <a:rPr lang="en-US" sz="1481" u="none" strike="noStrike" dirty="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481" u="none" strike="noStrike" dirty="0" err="1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en</a:t>
            </a:r>
            <a:r>
              <a:rPr lang="en-US" sz="1481" u="none" strike="noStrike" dirty="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un </a:t>
            </a:r>
            <a:r>
              <a:rPr lang="en-US" sz="1481" u="none" strike="noStrike" dirty="0" err="1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ambiente</a:t>
            </a:r>
            <a:r>
              <a:rPr lang="en-US" sz="1481" u="none" strike="noStrike" dirty="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de </a:t>
            </a:r>
            <a:r>
              <a:rPr lang="en-US" sz="1481" u="none" strike="noStrike" dirty="0" err="1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pruebas</a:t>
            </a:r>
            <a:r>
              <a:rPr lang="en-US" sz="1481" u="none" strike="noStrike" dirty="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para </a:t>
            </a:r>
            <a:r>
              <a:rPr lang="en-US" sz="1481" u="none" strike="noStrike" dirty="0" err="1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su</a:t>
            </a:r>
            <a:r>
              <a:rPr lang="en-US" sz="1481" u="none" strike="noStrike" dirty="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481" u="none" strike="noStrike" dirty="0" err="1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revisión</a:t>
            </a:r>
            <a:r>
              <a:rPr lang="en-US" sz="1481" u="none" strike="noStrike" dirty="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481" u="none" strike="noStrike" dirty="0" err="1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constante</a:t>
            </a:r>
            <a:r>
              <a:rPr lang="en-US" sz="1481" u="none" strike="noStrike" dirty="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.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2216564" y="7894901"/>
            <a:ext cx="3237162" cy="27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4"/>
              </a:lnSpc>
              <a:spcBef>
                <a:spcPct val="0"/>
              </a:spcBef>
            </a:pPr>
            <a:r>
              <a:rPr lang="en-US" sz="1784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Inc</a:t>
            </a:r>
            <a:r>
              <a:rPr lang="en-US" sz="1784" b="1" u="none" strike="noStrike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rementos de Software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3476070" y="5333586"/>
            <a:ext cx="3503091" cy="10554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074"/>
              </a:lnSpc>
              <a:spcBef>
                <a:spcPct val="0"/>
              </a:spcBef>
            </a:pPr>
            <a:r>
              <a:rPr lang="en-US" sz="1481" dirty="0" err="1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Diseñ</a:t>
            </a:r>
            <a:r>
              <a:rPr lang="en-US" sz="1481" u="none" strike="noStrike" dirty="0" err="1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o</a:t>
            </a:r>
            <a:r>
              <a:rPr lang="en-US" sz="1481" u="none" strike="noStrike" dirty="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481" u="none" strike="noStrike" dirty="0" err="1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técnico</a:t>
            </a:r>
            <a:r>
              <a:rPr lang="en-US" sz="1481" u="none" strike="noStrike" dirty="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del </a:t>
            </a:r>
            <a:r>
              <a:rPr lang="en-US" sz="1481" u="none" strike="noStrike" dirty="0" err="1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entorno</a:t>
            </a:r>
            <a:r>
              <a:rPr lang="en-US" sz="1481" u="none" strike="noStrike" dirty="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481" u="none" strike="noStrike" dirty="0" err="1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desacoplado</a:t>
            </a:r>
            <a:r>
              <a:rPr lang="en-US" sz="1481" u="none" strike="noStrike" dirty="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481" u="none" strike="noStrike" dirty="0" err="1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usando</a:t>
            </a:r>
            <a:r>
              <a:rPr lang="en-US" sz="1481" u="none" strike="noStrike" dirty="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Next.js y Node.js para </a:t>
            </a:r>
            <a:r>
              <a:rPr lang="en-US" sz="1481" u="none" strike="noStrike" dirty="0" err="1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asegurar</a:t>
            </a:r>
            <a:r>
              <a:rPr lang="en-US" sz="1481" u="none" strike="noStrike" dirty="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un </a:t>
            </a:r>
            <a:r>
              <a:rPr lang="en-US" sz="1481" u="none" strike="noStrike" dirty="0" err="1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rendimiento</a:t>
            </a:r>
            <a:r>
              <a:rPr lang="en-US" sz="1481" u="none" strike="noStrike" dirty="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481" u="none" strike="noStrike" dirty="0" err="1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óptimo</a:t>
            </a:r>
            <a:r>
              <a:rPr lang="en-US" sz="1481" u="none" strike="noStrike" dirty="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y </a:t>
            </a:r>
            <a:r>
              <a:rPr lang="en-US" sz="1481" u="none" strike="noStrike" dirty="0" err="1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responsivo</a:t>
            </a:r>
            <a:r>
              <a:rPr lang="en-US" sz="1481" u="none" strike="noStrike" dirty="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.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3476070" y="5032746"/>
            <a:ext cx="3123923" cy="27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4"/>
              </a:lnSpc>
              <a:spcBef>
                <a:spcPct val="0"/>
              </a:spcBef>
            </a:pPr>
            <a:r>
              <a:rPr lang="en-US" sz="1784" b="1" dirty="0" err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A</a:t>
            </a:r>
            <a:r>
              <a:rPr lang="en-US" sz="1784" b="1" u="none" strike="noStrike" dirty="0" err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rquitectura</a:t>
            </a:r>
            <a:r>
              <a:rPr lang="en-US" sz="1784" b="1" u="none" strike="noStrike" dirty="0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 del Sistema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5643" y="2890080"/>
            <a:ext cx="5082362" cy="1567119"/>
            <a:chOff x="0" y="0"/>
            <a:chExt cx="1467458" cy="4524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7458" cy="452483"/>
            </a:xfrm>
            <a:custGeom>
              <a:avLst/>
              <a:gdLst/>
              <a:ahLst/>
              <a:cxnLst/>
              <a:rect l="l" t="t" r="r" b="b"/>
              <a:pathLst>
                <a:path w="1467458" h="452483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467458" cy="481058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677728" y="12585975"/>
            <a:ext cx="2932542" cy="233980"/>
            <a:chOff x="0" y="0"/>
            <a:chExt cx="3910057" cy="311974"/>
          </a:xfrm>
        </p:grpSpPr>
        <p:grpSp>
          <p:nvGrpSpPr>
            <p:cNvPr id="6" name="Group 6"/>
            <p:cNvGrpSpPr/>
            <p:nvPr/>
          </p:nvGrpSpPr>
          <p:grpSpPr>
            <a:xfrm>
              <a:off x="1387893" y="0"/>
              <a:ext cx="2522163" cy="311974"/>
              <a:chOff x="0" y="0"/>
              <a:chExt cx="498205" cy="61624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98205" cy="61624"/>
              </a:xfrm>
              <a:custGeom>
                <a:avLst/>
                <a:gdLst/>
                <a:ahLst/>
                <a:cxnLst/>
                <a:rect l="l" t="t" r="r" b="b"/>
                <a:pathLst>
                  <a:path w="498205" h="61624">
                    <a:moveTo>
                      <a:pt x="30812" y="0"/>
                    </a:moveTo>
                    <a:lnTo>
                      <a:pt x="467393" y="0"/>
                    </a:lnTo>
                    <a:cubicBezTo>
                      <a:pt x="484410" y="0"/>
                      <a:pt x="498205" y="13795"/>
                      <a:pt x="498205" y="30812"/>
                    </a:cubicBezTo>
                    <a:lnTo>
                      <a:pt x="498205" y="30812"/>
                    </a:lnTo>
                    <a:cubicBezTo>
                      <a:pt x="498205" y="38984"/>
                      <a:pt x="494959" y="46821"/>
                      <a:pt x="489180" y="52600"/>
                    </a:cubicBezTo>
                    <a:cubicBezTo>
                      <a:pt x="483402" y="58378"/>
                      <a:pt x="475565" y="61624"/>
                      <a:pt x="467393" y="61624"/>
                    </a:cubicBezTo>
                    <a:lnTo>
                      <a:pt x="30812" y="61624"/>
                    </a:lnTo>
                    <a:cubicBezTo>
                      <a:pt x="22640" y="61624"/>
                      <a:pt x="14803" y="58378"/>
                      <a:pt x="9025" y="52600"/>
                    </a:cubicBezTo>
                    <a:cubicBezTo>
                      <a:pt x="3246" y="46821"/>
                      <a:pt x="0" y="38984"/>
                      <a:pt x="0" y="30812"/>
                    </a:cubicBezTo>
                    <a:lnTo>
                      <a:pt x="0" y="30812"/>
                    </a:lnTo>
                    <a:cubicBezTo>
                      <a:pt x="0" y="22640"/>
                      <a:pt x="3246" y="14803"/>
                      <a:pt x="9025" y="9025"/>
                    </a:cubicBezTo>
                    <a:cubicBezTo>
                      <a:pt x="14803" y="3246"/>
                      <a:pt x="22640" y="0"/>
                      <a:pt x="30812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114300"/>
                <a:ext cx="498205" cy="175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2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921480" y="0"/>
              <a:ext cx="308340" cy="311974"/>
              <a:chOff x="0" y="0"/>
              <a:chExt cx="60907" cy="6162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0907" cy="61624"/>
              </a:xfrm>
              <a:custGeom>
                <a:avLst/>
                <a:gdLst/>
                <a:ahLst/>
                <a:cxnLst/>
                <a:rect l="l" t="t" r="r" b="b"/>
                <a:pathLst>
                  <a:path w="60907" h="61624">
                    <a:moveTo>
                      <a:pt x="30453" y="0"/>
                    </a:moveTo>
                    <a:lnTo>
                      <a:pt x="30453" y="0"/>
                    </a:lnTo>
                    <a:cubicBezTo>
                      <a:pt x="38530" y="0"/>
                      <a:pt x="46276" y="3208"/>
                      <a:pt x="51987" y="8920"/>
                    </a:cubicBezTo>
                    <a:cubicBezTo>
                      <a:pt x="57698" y="14631"/>
                      <a:pt x="60907" y="22377"/>
                      <a:pt x="60907" y="30453"/>
                    </a:cubicBezTo>
                    <a:lnTo>
                      <a:pt x="60907" y="31171"/>
                    </a:lnTo>
                    <a:cubicBezTo>
                      <a:pt x="60907" y="39248"/>
                      <a:pt x="57698" y="46994"/>
                      <a:pt x="51987" y="52705"/>
                    </a:cubicBezTo>
                    <a:cubicBezTo>
                      <a:pt x="46276" y="58416"/>
                      <a:pt x="38530" y="61624"/>
                      <a:pt x="30453" y="61624"/>
                    </a:cubicBezTo>
                    <a:lnTo>
                      <a:pt x="30453" y="61624"/>
                    </a:lnTo>
                    <a:cubicBezTo>
                      <a:pt x="22377" y="61624"/>
                      <a:pt x="14631" y="58416"/>
                      <a:pt x="8920" y="52705"/>
                    </a:cubicBezTo>
                    <a:cubicBezTo>
                      <a:pt x="3208" y="46994"/>
                      <a:pt x="0" y="39248"/>
                      <a:pt x="0" y="31171"/>
                    </a:cubicBezTo>
                    <a:lnTo>
                      <a:pt x="0" y="30453"/>
                    </a:lnTo>
                    <a:cubicBezTo>
                      <a:pt x="0" y="22377"/>
                      <a:pt x="3208" y="14631"/>
                      <a:pt x="8920" y="8920"/>
                    </a:cubicBezTo>
                    <a:cubicBezTo>
                      <a:pt x="14631" y="3208"/>
                      <a:pt x="22377" y="0"/>
                      <a:pt x="30453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114300"/>
                <a:ext cx="60907" cy="175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2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460740" y="0"/>
              <a:ext cx="308340" cy="311974"/>
              <a:chOff x="0" y="0"/>
              <a:chExt cx="60907" cy="6162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60907" cy="61624"/>
              </a:xfrm>
              <a:custGeom>
                <a:avLst/>
                <a:gdLst/>
                <a:ahLst/>
                <a:cxnLst/>
                <a:rect l="l" t="t" r="r" b="b"/>
                <a:pathLst>
                  <a:path w="60907" h="61624">
                    <a:moveTo>
                      <a:pt x="30453" y="0"/>
                    </a:moveTo>
                    <a:lnTo>
                      <a:pt x="30453" y="0"/>
                    </a:lnTo>
                    <a:cubicBezTo>
                      <a:pt x="38530" y="0"/>
                      <a:pt x="46276" y="3208"/>
                      <a:pt x="51987" y="8920"/>
                    </a:cubicBezTo>
                    <a:cubicBezTo>
                      <a:pt x="57698" y="14631"/>
                      <a:pt x="60907" y="22377"/>
                      <a:pt x="60907" y="30453"/>
                    </a:cubicBezTo>
                    <a:lnTo>
                      <a:pt x="60907" y="31171"/>
                    </a:lnTo>
                    <a:cubicBezTo>
                      <a:pt x="60907" y="39248"/>
                      <a:pt x="57698" y="46994"/>
                      <a:pt x="51987" y="52705"/>
                    </a:cubicBezTo>
                    <a:cubicBezTo>
                      <a:pt x="46276" y="58416"/>
                      <a:pt x="38530" y="61624"/>
                      <a:pt x="30453" y="61624"/>
                    </a:cubicBezTo>
                    <a:lnTo>
                      <a:pt x="30453" y="61624"/>
                    </a:lnTo>
                    <a:cubicBezTo>
                      <a:pt x="22377" y="61624"/>
                      <a:pt x="14631" y="58416"/>
                      <a:pt x="8920" y="52705"/>
                    </a:cubicBezTo>
                    <a:cubicBezTo>
                      <a:pt x="3208" y="46994"/>
                      <a:pt x="0" y="39248"/>
                      <a:pt x="0" y="31171"/>
                    </a:cubicBezTo>
                    <a:lnTo>
                      <a:pt x="0" y="30453"/>
                    </a:lnTo>
                    <a:cubicBezTo>
                      <a:pt x="0" y="22377"/>
                      <a:pt x="3208" y="14631"/>
                      <a:pt x="8920" y="8920"/>
                    </a:cubicBezTo>
                    <a:cubicBezTo>
                      <a:pt x="14631" y="3208"/>
                      <a:pt x="22377" y="0"/>
                      <a:pt x="30453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114300"/>
                <a:ext cx="60907" cy="175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2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0"/>
              <a:ext cx="308340" cy="311974"/>
              <a:chOff x="0" y="0"/>
              <a:chExt cx="60907" cy="6162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60907" cy="61624"/>
              </a:xfrm>
              <a:custGeom>
                <a:avLst/>
                <a:gdLst/>
                <a:ahLst/>
                <a:cxnLst/>
                <a:rect l="l" t="t" r="r" b="b"/>
                <a:pathLst>
                  <a:path w="60907" h="61624">
                    <a:moveTo>
                      <a:pt x="30453" y="0"/>
                    </a:moveTo>
                    <a:lnTo>
                      <a:pt x="30453" y="0"/>
                    </a:lnTo>
                    <a:cubicBezTo>
                      <a:pt x="38530" y="0"/>
                      <a:pt x="46276" y="3208"/>
                      <a:pt x="51987" y="8920"/>
                    </a:cubicBezTo>
                    <a:cubicBezTo>
                      <a:pt x="57698" y="14631"/>
                      <a:pt x="60907" y="22377"/>
                      <a:pt x="60907" y="30453"/>
                    </a:cubicBezTo>
                    <a:lnTo>
                      <a:pt x="60907" y="31171"/>
                    </a:lnTo>
                    <a:cubicBezTo>
                      <a:pt x="60907" y="39248"/>
                      <a:pt x="57698" y="46994"/>
                      <a:pt x="51987" y="52705"/>
                    </a:cubicBezTo>
                    <a:cubicBezTo>
                      <a:pt x="46276" y="58416"/>
                      <a:pt x="38530" y="61624"/>
                      <a:pt x="30453" y="61624"/>
                    </a:cubicBezTo>
                    <a:lnTo>
                      <a:pt x="30453" y="61624"/>
                    </a:lnTo>
                    <a:cubicBezTo>
                      <a:pt x="22377" y="61624"/>
                      <a:pt x="14631" y="58416"/>
                      <a:pt x="8920" y="52705"/>
                    </a:cubicBezTo>
                    <a:cubicBezTo>
                      <a:pt x="3208" y="46994"/>
                      <a:pt x="0" y="39248"/>
                      <a:pt x="0" y="31171"/>
                    </a:cubicBezTo>
                    <a:lnTo>
                      <a:pt x="0" y="30453"/>
                    </a:lnTo>
                    <a:cubicBezTo>
                      <a:pt x="0" y="22377"/>
                      <a:pt x="3208" y="14631"/>
                      <a:pt x="8920" y="8920"/>
                    </a:cubicBezTo>
                    <a:cubicBezTo>
                      <a:pt x="14631" y="3208"/>
                      <a:pt x="22377" y="0"/>
                      <a:pt x="30453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114300"/>
                <a:ext cx="60907" cy="175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2"/>
                  </a:lnSpc>
                </a:pPr>
                <a:endParaRPr/>
              </a:p>
            </p:txBody>
          </p:sp>
        </p:grpSp>
      </p:grpSp>
      <p:sp>
        <p:nvSpPr>
          <p:cNvPr id="18" name="TextBox 18"/>
          <p:cNvSpPr txBox="1"/>
          <p:nvPr/>
        </p:nvSpPr>
        <p:spPr>
          <a:xfrm>
            <a:off x="5225280" y="409670"/>
            <a:ext cx="7837441" cy="1122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57"/>
              </a:lnSpc>
              <a:spcBef>
                <a:spcPct val="0"/>
              </a:spcBef>
            </a:pPr>
            <a:r>
              <a:rPr lang="en-US" sz="5589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Evidencias por Sprint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07711" y="3417417"/>
            <a:ext cx="2902615" cy="48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3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Sprint Backlog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6602819" y="2890080"/>
            <a:ext cx="5082362" cy="1567119"/>
            <a:chOff x="0" y="0"/>
            <a:chExt cx="1467458" cy="45248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67458" cy="452483"/>
            </a:xfrm>
            <a:custGeom>
              <a:avLst/>
              <a:gdLst/>
              <a:ahLst/>
              <a:cxnLst/>
              <a:rect l="l" t="t" r="r" b="b"/>
              <a:pathLst>
                <a:path w="1467458" h="452483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1467458" cy="481058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7761231" y="3417417"/>
            <a:ext cx="2902615" cy="48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3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Sprint Review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6637088" y="4945909"/>
            <a:ext cx="5082362" cy="1567119"/>
            <a:chOff x="0" y="0"/>
            <a:chExt cx="1467458" cy="45248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467458" cy="452483"/>
            </a:xfrm>
            <a:custGeom>
              <a:avLst/>
              <a:gdLst/>
              <a:ahLst/>
              <a:cxnLst/>
              <a:rect l="l" t="t" r="r" b="b"/>
              <a:pathLst>
                <a:path w="1467458" h="452483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28575"/>
              <a:ext cx="1467458" cy="481058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7176244" y="5469784"/>
            <a:ext cx="4004051" cy="48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3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Sprint Retrospective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2429995" y="2890080"/>
            <a:ext cx="5082362" cy="1567119"/>
            <a:chOff x="0" y="0"/>
            <a:chExt cx="1467458" cy="452483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467458" cy="452483"/>
            </a:xfrm>
            <a:custGeom>
              <a:avLst/>
              <a:gdLst/>
              <a:ahLst/>
              <a:cxnLst/>
              <a:rect l="l" t="t" r="r" b="b"/>
              <a:pathLst>
                <a:path w="1467458" h="452483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28575"/>
              <a:ext cx="1467458" cy="481058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3810814" y="3417417"/>
            <a:ext cx="2320724" cy="48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3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Incremento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2429995" y="4945909"/>
            <a:ext cx="5082362" cy="1567119"/>
            <a:chOff x="0" y="0"/>
            <a:chExt cx="1467458" cy="45248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467458" cy="452483"/>
            </a:xfrm>
            <a:custGeom>
              <a:avLst/>
              <a:gdLst/>
              <a:ahLst/>
              <a:cxnLst/>
              <a:rect l="l" t="t" r="r" b="b"/>
              <a:pathLst>
                <a:path w="1467458" h="452483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28575"/>
              <a:ext cx="1467458" cy="481058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3308323" y="5473246"/>
            <a:ext cx="3318251" cy="48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3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Burndown Chart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775643" y="5087316"/>
            <a:ext cx="5082362" cy="1567119"/>
            <a:chOff x="0" y="0"/>
            <a:chExt cx="1467458" cy="452483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467458" cy="452483"/>
            </a:xfrm>
            <a:custGeom>
              <a:avLst/>
              <a:gdLst/>
              <a:ahLst/>
              <a:cxnLst/>
              <a:rect l="l" t="t" r="r" b="b"/>
              <a:pathLst>
                <a:path w="1467458" h="452483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28575"/>
              <a:ext cx="1467458" cy="481058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2063574" y="5614653"/>
            <a:ext cx="2590887" cy="48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3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Scrum Board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775643" y="7281091"/>
            <a:ext cx="5082362" cy="1567119"/>
            <a:chOff x="0" y="0"/>
            <a:chExt cx="1467458" cy="452483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467458" cy="452483"/>
            </a:xfrm>
            <a:custGeom>
              <a:avLst/>
              <a:gdLst/>
              <a:ahLst/>
              <a:cxnLst/>
              <a:rect l="l" t="t" r="r" b="b"/>
              <a:pathLst>
                <a:path w="1467458" h="452483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28575"/>
              <a:ext cx="1467458" cy="481058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741456" y="7808428"/>
            <a:ext cx="3235124" cy="48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3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Impediment Log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2426268" y="7284553"/>
            <a:ext cx="5082362" cy="1567119"/>
            <a:chOff x="0" y="0"/>
            <a:chExt cx="1467458" cy="452483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467458" cy="452483"/>
            </a:xfrm>
            <a:custGeom>
              <a:avLst/>
              <a:gdLst/>
              <a:ahLst/>
              <a:cxnLst/>
              <a:rect l="l" t="t" r="r" b="b"/>
              <a:pathLst>
                <a:path w="1467458" h="452483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28575"/>
              <a:ext cx="1467458" cy="481058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4507005" y="7811890"/>
            <a:ext cx="928342" cy="48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3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MVP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09328" y="7660693"/>
            <a:ext cx="15435293" cy="2151294"/>
          </a:xfrm>
          <a:custGeom>
            <a:avLst/>
            <a:gdLst/>
            <a:ahLst/>
            <a:cxnLst/>
            <a:rect l="l" t="t" r="r" b="b"/>
            <a:pathLst>
              <a:path w="15435293" h="2151294">
                <a:moveTo>
                  <a:pt x="0" y="0"/>
                </a:moveTo>
                <a:lnTo>
                  <a:pt x="15435293" y="0"/>
                </a:lnTo>
                <a:lnTo>
                  <a:pt x="15435293" y="2151294"/>
                </a:lnTo>
                <a:lnTo>
                  <a:pt x="0" y="21512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3245426" y="1224023"/>
            <a:ext cx="11363098" cy="6137476"/>
          </a:xfrm>
          <a:custGeom>
            <a:avLst/>
            <a:gdLst/>
            <a:ahLst/>
            <a:cxnLst/>
            <a:rect l="l" t="t" r="r" b="b"/>
            <a:pathLst>
              <a:path w="11363098" h="6137476">
                <a:moveTo>
                  <a:pt x="0" y="0"/>
                </a:moveTo>
                <a:lnTo>
                  <a:pt x="11363097" y="0"/>
                </a:lnTo>
                <a:lnTo>
                  <a:pt x="11363097" y="6137475"/>
                </a:lnTo>
                <a:lnTo>
                  <a:pt x="0" y="61374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515830" y="101107"/>
            <a:ext cx="7837441" cy="1122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57"/>
              </a:lnSpc>
              <a:spcBef>
                <a:spcPct val="0"/>
              </a:spcBef>
            </a:pPr>
            <a:r>
              <a:rPr lang="en-US" sz="5589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Sprint 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901511" y="-715221"/>
            <a:ext cx="9129298" cy="12559654"/>
          </a:xfrm>
          <a:custGeom>
            <a:avLst/>
            <a:gdLst/>
            <a:ahLst/>
            <a:cxnLst/>
            <a:rect l="l" t="t" r="r" b="b"/>
            <a:pathLst>
              <a:path w="9129298" h="12559654">
                <a:moveTo>
                  <a:pt x="0" y="0"/>
                </a:moveTo>
                <a:lnTo>
                  <a:pt x="9129298" y="0"/>
                </a:lnTo>
                <a:lnTo>
                  <a:pt x="9129298" y="12559654"/>
                </a:lnTo>
                <a:lnTo>
                  <a:pt x="0" y="12559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515830" y="101107"/>
            <a:ext cx="7837441" cy="1122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57"/>
              </a:lnSpc>
              <a:spcBef>
                <a:spcPct val="0"/>
              </a:spcBef>
            </a:pPr>
            <a:r>
              <a:rPr lang="en-US" sz="5589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Sprint 1</a:t>
            </a:r>
          </a:p>
        </p:txBody>
      </p:sp>
      <p:sp>
        <p:nvSpPr>
          <p:cNvPr id="4" name="Freeform 4"/>
          <p:cNvSpPr/>
          <p:nvPr/>
        </p:nvSpPr>
        <p:spPr>
          <a:xfrm>
            <a:off x="1721996" y="2343874"/>
            <a:ext cx="5425109" cy="5908189"/>
          </a:xfrm>
          <a:custGeom>
            <a:avLst/>
            <a:gdLst/>
            <a:ahLst/>
            <a:cxnLst/>
            <a:rect l="l" t="t" r="r" b="b"/>
            <a:pathLst>
              <a:path w="5425109" h="5908189">
                <a:moveTo>
                  <a:pt x="0" y="0"/>
                </a:moveTo>
                <a:lnTo>
                  <a:pt x="5425109" y="0"/>
                </a:lnTo>
                <a:lnTo>
                  <a:pt x="5425109" y="5908189"/>
                </a:lnTo>
                <a:lnTo>
                  <a:pt x="0" y="59081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1275" t="-29210" r="-130782" b="-10000"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25193" y="1476849"/>
            <a:ext cx="12037613" cy="2040273"/>
          </a:xfrm>
          <a:custGeom>
            <a:avLst/>
            <a:gdLst/>
            <a:ahLst/>
            <a:cxnLst/>
            <a:rect l="l" t="t" r="r" b="b"/>
            <a:pathLst>
              <a:path w="12037613" h="2040273">
                <a:moveTo>
                  <a:pt x="0" y="0"/>
                </a:moveTo>
                <a:lnTo>
                  <a:pt x="12037614" y="0"/>
                </a:lnTo>
                <a:lnTo>
                  <a:pt x="12037614" y="2040274"/>
                </a:lnTo>
                <a:lnTo>
                  <a:pt x="0" y="20402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515830" y="101107"/>
            <a:ext cx="7837441" cy="1122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57"/>
              </a:lnSpc>
              <a:spcBef>
                <a:spcPct val="0"/>
              </a:spcBef>
            </a:pPr>
            <a:r>
              <a:rPr lang="en-US" sz="5589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Sprint 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6103" y="7224726"/>
            <a:ext cx="15235795" cy="2666264"/>
          </a:xfrm>
          <a:custGeom>
            <a:avLst/>
            <a:gdLst/>
            <a:ahLst/>
            <a:cxnLst/>
            <a:rect l="l" t="t" r="r" b="b"/>
            <a:pathLst>
              <a:path w="15235795" h="2666264">
                <a:moveTo>
                  <a:pt x="0" y="0"/>
                </a:moveTo>
                <a:lnTo>
                  <a:pt x="15235794" y="0"/>
                </a:lnTo>
                <a:lnTo>
                  <a:pt x="15235794" y="2666265"/>
                </a:lnTo>
                <a:lnTo>
                  <a:pt x="0" y="26662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3571694" y="880048"/>
            <a:ext cx="11375072" cy="6115126"/>
          </a:xfrm>
          <a:custGeom>
            <a:avLst/>
            <a:gdLst/>
            <a:ahLst/>
            <a:cxnLst/>
            <a:rect l="l" t="t" r="r" b="b"/>
            <a:pathLst>
              <a:path w="11375072" h="6115126">
                <a:moveTo>
                  <a:pt x="0" y="0"/>
                </a:moveTo>
                <a:lnTo>
                  <a:pt x="11375072" y="0"/>
                </a:lnTo>
                <a:lnTo>
                  <a:pt x="11375072" y="6115126"/>
                </a:lnTo>
                <a:lnTo>
                  <a:pt x="0" y="61151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515830" y="101107"/>
            <a:ext cx="7837441" cy="1122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57"/>
              </a:lnSpc>
              <a:spcBef>
                <a:spcPct val="0"/>
              </a:spcBef>
            </a:pPr>
            <a:r>
              <a:rPr lang="en-US" sz="5589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Sprint 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95887" y="2157232"/>
            <a:ext cx="5121797" cy="5903088"/>
          </a:xfrm>
          <a:custGeom>
            <a:avLst/>
            <a:gdLst/>
            <a:ahLst/>
            <a:cxnLst/>
            <a:rect l="l" t="t" r="r" b="b"/>
            <a:pathLst>
              <a:path w="5121797" h="5903088">
                <a:moveTo>
                  <a:pt x="0" y="0"/>
                </a:moveTo>
                <a:lnTo>
                  <a:pt x="5121798" y="0"/>
                </a:lnTo>
                <a:lnTo>
                  <a:pt x="5121798" y="5903088"/>
                </a:lnTo>
                <a:lnTo>
                  <a:pt x="0" y="59030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9758" t="-21566" r="-130549" b="-8702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7367696" y="-801584"/>
            <a:ext cx="9061775" cy="12466759"/>
          </a:xfrm>
          <a:custGeom>
            <a:avLst/>
            <a:gdLst/>
            <a:ahLst/>
            <a:cxnLst/>
            <a:rect l="l" t="t" r="r" b="b"/>
            <a:pathLst>
              <a:path w="9061775" h="12466759">
                <a:moveTo>
                  <a:pt x="0" y="0"/>
                </a:moveTo>
                <a:lnTo>
                  <a:pt x="9061775" y="0"/>
                </a:lnTo>
                <a:lnTo>
                  <a:pt x="9061775" y="12466758"/>
                </a:lnTo>
                <a:lnTo>
                  <a:pt x="0" y="124667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515830" y="101107"/>
            <a:ext cx="7837441" cy="1122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57"/>
              </a:lnSpc>
              <a:spcBef>
                <a:spcPct val="0"/>
              </a:spcBef>
            </a:pPr>
            <a:r>
              <a:rPr lang="en-US" sz="5589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Sprint 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36476" y="1704534"/>
            <a:ext cx="12015048" cy="1837059"/>
          </a:xfrm>
          <a:custGeom>
            <a:avLst/>
            <a:gdLst/>
            <a:ahLst/>
            <a:cxnLst/>
            <a:rect l="l" t="t" r="r" b="b"/>
            <a:pathLst>
              <a:path w="12015048" h="1837059">
                <a:moveTo>
                  <a:pt x="0" y="0"/>
                </a:moveTo>
                <a:lnTo>
                  <a:pt x="12015048" y="0"/>
                </a:lnTo>
                <a:lnTo>
                  <a:pt x="12015048" y="1837059"/>
                </a:lnTo>
                <a:lnTo>
                  <a:pt x="0" y="18370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515830" y="101107"/>
            <a:ext cx="7837441" cy="1122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57"/>
              </a:lnSpc>
              <a:spcBef>
                <a:spcPct val="0"/>
              </a:spcBef>
            </a:pPr>
            <a:r>
              <a:rPr lang="en-US" sz="5589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Sprint 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46835" y="6395308"/>
            <a:ext cx="14794330" cy="3383491"/>
          </a:xfrm>
          <a:custGeom>
            <a:avLst/>
            <a:gdLst/>
            <a:ahLst/>
            <a:cxnLst/>
            <a:rect l="l" t="t" r="r" b="b"/>
            <a:pathLst>
              <a:path w="14794330" h="3383491">
                <a:moveTo>
                  <a:pt x="0" y="0"/>
                </a:moveTo>
                <a:lnTo>
                  <a:pt x="14794330" y="0"/>
                </a:lnTo>
                <a:lnTo>
                  <a:pt x="14794330" y="3383491"/>
                </a:lnTo>
                <a:lnTo>
                  <a:pt x="0" y="33834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0952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7249015" y="943552"/>
            <a:ext cx="10010285" cy="5451755"/>
          </a:xfrm>
          <a:custGeom>
            <a:avLst/>
            <a:gdLst/>
            <a:ahLst/>
            <a:cxnLst/>
            <a:rect l="l" t="t" r="r" b="b"/>
            <a:pathLst>
              <a:path w="10010285" h="5451755">
                <a:moveTo>
                  <a:pt x="0" y="0"/>
                </a:moveTo>
                <a:lnTo>
                  <a:pt x="10010285" y="0"/>
                </a:lnTo>
                <a:lnTo>
                  <a:pt x="10010285" y="5451756"/>
                </a:lnTo>
                <a:lnTo>
                  <a:pt x="0" y="54517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515830" y="101107"/>
            <a:ext cx="7837441" cy="1122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57"/>
              </a:lnSpc>
              <a:spcBef>
                <a:spcPct val="0"/>
              </a:spcBef>
            </a:pPr>
            <a:r>
              <a:rPr lang="en-US" sz="5589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Sprint 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10833" y="2469386"/>
            <a:ext cx="5665388" cy="4737958"/>
          </a:xfrm>
          <a:custGeom>
            <a:avLst/>
            <a:gdLst/>
            <a:ahLst/>
            <a:cxnLst/>
            <a:rect l="l" t="t" r="r" b="b"/>
            <a:pathLst>
              <a:path w="5665388" h="4737958">
                <a:moveTo>
                  <a:pt x="0" y="0"/>
                </a:moveTo>
                <a:lnTo>
                  <a:pt x="5665388" y="0"/>
                </a:lnTo>
                <a:lnTo>
                  <a:pt x="5665388" y="4737958"/>
                </a:lnTo>
                <a:lnTo>
                  <a:pt x="0" y="4737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1050" t="-33139" r="-59650" b="-3047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7577848" y="-621207"/>
            <a:ext cx="9173423" cy="12172499"/>
          </a:xfrm>
          <a:custGeom>
            <a:avLst/>
            <a:gdLst/>
            <a:ahLst/>
            <a:cxnLst/>
            <a:rect l="l" t="t" r="r" b="b"/>
            <a:pathLst>
              <a:path w="9173423" h="12172499">
                <a:moveTo>
                  <a:pt x="0" y="0"/>
                </a:moveTo>
                <a:lnTo>
                  <a:pt x="9173424" y="0"/>
                </a:lnTo>
                <a:lnTo>
                  <a:pt x="9173424" y="12172499"/>
                </a:lnTo>
                <a:lnTo>
                  <a:pt x="0" y="121724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839" b="-1839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515830" y="101107"/>
            <a:ext cx="7837441" cy="1122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57"/>
              </a:lnSpc>
              <a:spcBef>
                <a:spcPct val="0"/>
              </a:spcBef>
            </a:pPr>
            <a:r>
              <a:rPr lang="en-US" sz="5589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Sprint 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92584" y="1572229"/>
            <a:ext cx="11902831" cy="6941443"/>
          </a:xfrm>
          <a:custGeom>
            <a:avLst/>
            <a:gdLst/>
            <a:ahLst/>
            <a:cxnLst/>
            <a:rect l="l" t="t" r="r" b="b"/>
            <a:pathLst>
              <a:path w="11902831" h="6941443">
                <a:moveTo>
                  <a:pt x="0" y="0"/>
                </a:moveTo>
                <a:lnTo>
                  <a:pt x="11902832" y="0"/>
                </a:lnTo>
                <a:lnTo>
                  <a:pt x="11902832" y="6941444"/>
                </a:lnTo>
                <a:lnTo>
                  <a:pt x="0" y="69414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515830" y="101107"/>
            <a:ext cx="7837441" cy="1122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57"/>
              </a:lnSpc>
              <a:spcBef>
                <a:spcPct val="0"/>
              </a:spcBef>
            </a:pPr>
            <a:r>
              <a:rPr lang="en-US" sz="5589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Sprint 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09469" y="1471560"/>
            <a:ext cx="3455870" cy="4677200"/>
          </a:xfrm>
          <a:custGeom>
            <a:avLst/>
            <a:gdLst/>
            <a:ahLst/>
            <a:cxnLst/>
            <a:rect l="l" t="t" r="r" b="b"/>
            <a:pathLst>
              <a:path w="3455870" h="4677200">
                <a:moveTo>
                  <a:pt x="0" y="0"/>
                </a:moveTo>
                <a:lnTo>
                  <a:pt x="3455871" y="0"/>
                </a:lnTo>
                <a:lnTo>
                  <a:pt x="3455871" y="4677200"/>
                </a:lnTo>
                <a:lnTo>
                  <a:pt x="0" y="467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27429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2265468" y="6486970"/>
            <a:ext cx="13084230" cy="3614519"/>
          </a:xfrm>
          <a:custGeom>
            <a:avLst/>
            <a:gdLst/>
            <a:ahLst/>
            <a:cxnLst/>
            <a:rect l="l" t="t" r="r" b="b"/>
            <a:pathLst>
              <a:path w="13084230" h="3614519">
                <a:moveTo>
                  <a:pt x="0" y="0"/>
                </a:moveTo>
                <a:lnTo>
                  <a:pt x="13084230" y="0"/>
                </a:lnTo>
                <a:lnTo>
                  <a:pt x="13084230" y="3614519"/>
                </a:lnTo>
                <a:lnTo>
                  <a:pt x="0" y="36145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6545674" y="800677"/>
            <a:ext cx="10149360" cy="5438643"/>
          </a:xfrm>
          <a:custGeom>
            <a:avLst/>
            <a:gdLst/>
            <a:ahLst/>
            <a:cxnLst/>
            <a:rect l="l" t="t" r="r" b="b"/>
            <a:pathLst>
              <a:path w="10149360" h="5438643">
                <a:moveTo>
                  <a:pt x="0" y="0"/>
                </a:moveTo>
                <a:lnTo>
                  <a:pt x="10149360" y="0"/>
                </a:lnTo>
                <a:lnTo>
                  <a:pt x="10149360" y="5438643"/>
                </a:lnTo>
                <a:lnTo>
                  <a:pt x="0" y="5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TextBox 5"/>
          <p:cNvSpPr txBox="1"/>
          <p:nvPr/>
        </p:nvSpPr>
        <p:spPr>
          <a:xfrm>
            <a:off x="515830" y="101107"/>
            <a:ext cx="7837441" cy="1122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57"/>
              </a:lnSpc>
              <a:spcBef>
                <a:spcPct val="0"/>
              </a:spcBef>
            </a:pPr>
            <a:r>
              <a:rPr lang="en-US" sz="5589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Sprint 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7D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61098" y="1298716"/>
            <a:ext cx="12365805" cy="8455251"/>
          </a:xfrm>
          <a:custGeom>
            <a:avLst/>
            <a:gdLst/>
            <a:ahLst/>
            <a:cxnLst/>
            <a:rect l="l" t="t" r="r" b="b"/>
            <a:pathLst>
              <a:path w="12365805" h="8455251">
                <a:moveTo>
                  <a:pt x="0" y="0"/>
                </a:moveTo>
                <a:lnTo>
                  <a:pt x="12365804" y="0"/>
                </a:lnTo>
                <a:lnTo>
                  <a:pt x="12365804" y="8455251"/>
                </a:lnTo>
                <a:lnTo>
                  <a:pt x="0" y="84552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4685456" y="16581"/>
            <a:ext cx="8917088" cy="1012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59"/>
              </a:lnSpc>
              <a:spcBef>
                <a:spcPct val="0"/>
              </a:spcBef>
            </a:pPr>
            <a:r>
              <a:rPr lang="en-US" sz="5064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Cronograma Carta Gantt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7D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87639" y="2454426"/>
            <a:ext cx="14112723" cy="5723410"/>
          </a:xfrm>
          <a:custGeom>
            <a:avLst/>
            <a:gdLst/>
            <a:ahLst/>
            <a:cxnLst/>
            <a:rect l="l" t="t" r="r" b="b"/>
            <a:pathLst>
              <a:path w="14112723" h="5723410">
                <a:moveTo>
                  <a:pt x="0" y="0"/>
                </a:moveTo>
                <a:lnTo>
                  <a:pt x="14112722" y="0"/>
                </a:lnTo>
                <a:lnTo>
                  <a:pt x="14112722" y="5723410"/>
                </a:lnTo>
                <a:lnTo>
                  <a:pt x="0" y="57234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4685456" y="16581"/>
            <a:ext cx="8917088" cy="1012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59"/>
              </a:lnSpc>
              <a:spcBef>
                <a:spcPct val="0"/>
              </a:spcBef>
            </a:pPr>
            <a:r>
              <a:rPr lang="en-US" sz="5064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Cronograma Carta Gantt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321742"/>
            <a:chOff x="0" y="0"/>
            <a:chExt cx="3458436" cy="19519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58436" cy="1951940"/>
            </a:xfrm>
            <a:custGeom>
              <a:avLst/>
              <a:gdLst/>
              <a:ahLst/>
              <a:cxnLst/>
              <a:rect l="l" t="t" r="r" b="b"/>
              <a:pathLst>
                <a:path w="3458436" h="1951940">
                  <a:moveTo>
                    <a:pt x="0" y="0"/>
                  </a:moveTo>
                  <a:lnTo>
                    <a:pt x="3458436" y="0"/>
                  </a:lnTo>
                  <a:lnTo>
                    <a:pt x="3458436" y="1951940"/>
                  </a:lnTo>
                  <a:lnTo>
                    <a:pt x="0" y="1951940"/>
                  </a:lnTo>
                  <a:close/>
                </a:path>
              </a:pathLst>
            </a:custGeom>
            <a:solidFill>
              <a:srgbClr val="45B9AD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19121" y="20871"/>
            <a:ext cx="18288000" cy="10321742"/>
            <a:chOff x="0" y="0"/>
            <a:chExt cx="3458436" cy="19519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458436" cy="1951940"/>
            </a:xfrm>
            <a:custGeom>
              <a:avLst/>
              <a:gdLst/>
              <a:ahLst/>
              <a:cxnLst/>
              <a:rect l="l" t="t" r="r" b="b"/>
              <a:pathLst>
                <a:path w="3458436" h="1951940">
                  <a:moveTo>
                    <a:pt x="0" y="0"/>
                  </a:moveTo>
                  <a:lnTo>
                    <a:pt x="3458436" y="0"/>
                  </a:lnTo>
                  <a:lnTo>
                    <a:pt x="3458436" y="1951940"/>
                  </a:lnTo>
                  <a:lnTo>
                    <a:pt x="0" y="1951940"/>
                  </a:lnTo>
                  <a:close/>
                </a:path>
              </a:pathLst>
            </a:custGeom>
            <a:blipFill>
              <a:blip r:embed="rId2">
                <a:alphaModFix amt="39000"/>
              </a:blip>
              <a:stretch>
                <a:fillRect t="-5368" b="-5368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256502" y="4066385"/>
            <a:ext cx="13774995" cy="157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04"/>
              </a:lnSpc>
              <a:spcBef>
                <a:spcPct val="0"/>
              </a:spcBef>
            </a:pPr>
            <a:r>
              <a:rPr lang="en-US" sz="7780" b="1">
                <a:solidFill>
                  <a:srgbClr val="FEFFFF"/>
                </a:solidFill>
                <a:latin typeface="Gotham Bold"/>
                <a:ea typeface="Gotham Bold"/>
                <a:cs typeface="Gotham Bold"/>
                <a:sym typeface="Gotham Bold"/>
              </a:rPr>
              <a:t>DEMOSTRACIÓN TÉCNICA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6707" y="-297999"/>
            <a:ext cx="3307479" cy="10584999"/>
            <a:chOff x="0" y="0"/>
            <a:chExt cx="871106" cy="27878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71106" cy="2787819"/>
            </a:xfrm>
            <a:custGeom>
              <a:avLst/>
              <a:gdLst/>
              <a:ahLst/>
              <a:cxnLst/>
              <a:rect l="l" t="t" r="r" b="b"/>
              <a:pathLst>
                <a:path w="871106" h="2787819">
                  <a:moveTo>
                    <a:pt x="0" y="0"/>
                  </a:moveTo>
                  <a:lnTo>
                    <a:pt x="871106" y="0"/>
                  </a:lnTo>
                  <a:lnTo>
                    <a:pt x="871106" y="2787819"/>
                  </a:lnTo>
                  <a:lnTo>
                    <a:pt x="0" y="2787819"/>
                  </a:lnTo>
                  <a:close/>
                </a:path>
              </a:pathLst>
            </a:custGeom>
            <a:solidFill>
              <a:srgbClr val="E7E9E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14300"/>
              <a:ext cx="871106" cy="29021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300607" y="3527406"/>
            <a:ext cx="1673745" cy="5730894"/>
            <a:chOff x="0" y="0"/>
            <a:chExt cx="440822" cy="15093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0822" cy="1509371"/>
            </a:xfrm>
            <a:custGeom>
              <a:avLst/>
              <a:gdLst/>
              <a:ahLst/>
              <a:cxnLst/>
              <a:rect l="l" t="t" r="r" b="b"/>
              <a:pathLst>
                <a:path w="440822" h="1509371">
                  <a:moveTo>
                    <a:pt x="124889" y="0"/>
                  </a:moveTo>
                  <a:lnTo>
                    <a:pt x="315933" y="0"/>
                  </a:lnTo>
                  <a:cubicBezTo>
                    <a:pt x="384907" y="0"/>
                    <a:pt x="440822" y="55915"/>
                    <a:pt x="440822" y="124889"/>
                  </a:cubicBezTo>
                  <a:lnTo>
                    <a:pt x="440822" y="1384483"/>
                  </a:lnTo>
                  <a:cubicBezTo>
                    <a:pt x="440822" y="1453457"/>
                    <a:pt x="384907" y="1509371"/>
                    <a:pt x="315933" y="1509371"/>
                  </a:cubicBezTo>
                  <a:lnTo>
                    <a:pt x="124889" y="1509371"/>
                  </a:lnTo>
                  <a:cubicBezTo>
                    <a:pt x="55915" y="1509371"/>
                    <a:pt x="0" y="1453457"/>
                    <a:pt x="0" y="1384483"/>
                  </a:cubicBezTo>
                  <a:lnTo>
                    <a:pt x="0" y="124889"/>
                  </a:lnTo>
                  <a:cubicBezTo>
                    <a:pt x="0" y="55915"/>
                    <a:pt x="55915" y="0"/>
                    <a:pt x="124889" y="0"/>
                  </a:cubicBezTo>
                  <a:close/>
                </a:path>
              </a:pathLst>
            </a:custGeom>
            <a:solidFill>
              <a:srgbClr val="45B9AD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40822" cy="15474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3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2716095" y="3943279"/>
            <a:ext cx="842767" cy="877882"/>
          </a:xfrm>
          <a:custGeom>
            <a:avLst/>
            <a:gdLst/>
            <a:ahLst/>
            <a:cxnLst/>
            <a:rect l="l" t="t" r="r" b="b"/>
            <a:pathLst>
              <a:path w="842767" h="877882">
                <a:moveTo>
                  <a:pt x="0" y="0"/>
                </a:moveTo>
                <a:lnTo>
                  <a:pt x="842767" y="0"/>
                </a:lnTo>
                <a:lnTo>
                  <a:pt x="842767" y="877882"/>
                </a:lnTo>
                <a:lnTo>
                  <a:pt x="0" y="8778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>
            <a:off x="2672926" y="5710369"/>
            <a:ext cx="885936" cy="877882"/>
          </a:xfrm>
          <a:custGeom>
            <a:avLst/>
            <a:gdLst/>
            <a:ahLst/>
            <a:cxnLst/>
            <a:rect l="l" t="t" r="r" b="b"/>
            <a:pathLst>
              <a:path w="885936" h="877882">
                <a:moveTo>
                  <a:pt x="0" y="0"/>
                </a:moveTo>
                <a:lnTo>
                  <a:pt x="885936" y="0"/>
                </a:lnTo>
                <a:lnTo>
                  <a:pt x="885936" y="877882"/>
                </a:lnTo>
                <a:lnTo>
                  <a:pt x="0" y="8778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TextBox 10"/>
          <p:cNvSpPr txBox="1"/>
          <p:nvPr/>
        </p:nvSpPr>
        <p:spPr>
          <a:xfrm>
            <a:off x="3558862" y="1979570"/>
            <a:ext cx="4984265" cy="112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49"/>
              </a:lnSpc>
              <a:spcBef>
                <a:spcPct val="0"/>
              </a:spcBef>
            </a:pPr>
            <a:r>
              <a:rPr lang="en-US" sz="5584" b="1" u="none" strike="noStrike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Conclusiones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292722" y="3754345"/>
            <a:ext cx="13378625" cy="119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7"/>
              </a:lnSpc>
            </a:pPr>
            <a:r>
              <a:rPr lang="en-US" sz="2244" spc="67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La plataforma elimina la dependencia de registros manuales y dispersos, consolidando la gestión de faenas, personal y documentación en un entorno seguro y centralizado que optimiza los tiempos de administración.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292722" y="5521435"/>
            <a:ext cx="13378625" cy="119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7"/>
              </a:lnSpc>
            </a:pPr>
            <a:r>
              <a:rPr lang="en-US" sz="2244" spc="67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La digitalización del po</a:t>
            </a:r>
            <a:r>
              <a:rPr lang="en-US" sz="2244" u="none" strike="noStrike" spc="67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rtafolio técnico y la futura incorporación de análisis de datos modernizan la imagen corporativa, posicionando a la empresa como un contratista sólido y preparado para adjudicarse proyectos de mayor envergadura.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292722" y="7422440"/>
            <a:ext cx="13378625" cy="119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7"/>
              </a:lnSpc>
            </a:pPr>
            <a:r>
              <a:rPr lang="en-US" sz="2244" spc="67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La estandarización de los p</a:t>
            </a:r>
            <a:r>
              <a:rPr lang="en-US" sz="2244" u="none" strike="noStrike" spc="67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rocesos laborales y administrativos asegura precisión en el control diario y en las obligaciones normativas, brindando respaldo confiable ante auditorías y entidades fiscalizadoras.</a:t>
            </a:r>
          </a:p>
        </p:txBody>
      </p:sp>
      <p:sp>
        <p:nvSpPr>
          <p:cNvPr id="14" name="Freeform 14"/>
          <p:cNvSpPr/>
          <p:nvPr/>
        </p:nvSpPr>
        <p:spPr>
          <a:xfrm>
            <a:off x="2696407" y="7609243"/>
            <a:ext cx="882144" cy="882144"/>
          </a:xfrm>
          <a:custGeom>
            <a:avLst/>
            <a:gdLst/>
            <a:ahLst/>
            <a:cxnLst/>
            <a:rect l="l" t="t" r="r" b="b"/>
            <a:pathLst>
              <a:path w="882144" h="882144">
                <a:moveTo>
                  <a:pt x="0" y="0"/>
                </a:moveTo>
                <a:lnTo>
                  <a:pt x="882144" y="0"/>
                </a:lnTo>
                <a:lnTo>
                  <a:pt x="882144" y="882144"/>
                </a:lnTo>
                <a:lnTo>
                  <a:pt x="0" y="8821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524910"/>
            <a:ext cx="785484" cy="747963"/>
          </a:xfrm>
          <a:custGeom>
            <a:avLst/>
            <a:gdLst/>
            <a:ahLst/>
            <a:cxnLst/>
            <a:rect l="l" t="t" r="r" b="b"/>
            <a:pathLst>
              <a:path w="785484" h="747963">
                <a:moveTo>
                  <a:pt x="0" y="0"/>
                </a:moveTo>
                <a:lnTo>
                  <a:pt x="785484" y="0"/>
                </a:lnTo>
                <a:lnTo>
                  <a:pt x="785484" y="747964"/>
                </a:lnTo>
                <a:lnTo>
                  <a:pt x="0" y="7479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833290" cy="15937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33290" cy="1593725"/>
            </a:xfrm>
            <a:custGeom>
              <a:avLst/>
              <a:gdLst/>
              <a:ahLst/>
              <a:cxnLst/>
              <a:rect l="l" t="t" r="r" b="b"/>
              <a:pathLst>
                <a:path w="2833290" h="1593725">
                  <a:moveTo>
                    <a:pt x="0" y="0"/>
                  </a:moveTo>
                  <a:lnTo>
                    <a:pt x="2833290" y="0"/>
                  </a:lnTo>
                  <a:lnTo>
                    <a:pt x="2833290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3">
                <a:alphaModFix amt="31000"/>
              </a:blip>
              <a:stretch>
                <a:fillRect t="-9259" b="-9259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824710" y="3600450"/>
            <a:ext cx="10182828" cy="3086100"/>
            <a:chOff x="0" y="0"/>
            <a:chExt cx="2681897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81897" cy="812800"/>
            </a:xfrm>
            <a:custGeom>
              <a:avLst/>
              <a:gdLst/>
              <a:ahLst/>
              <a:cxnLst/>
              <a:rect l="l" t="t" r="r" b="b"/>
              <a:pathLst>
                <a:path w="2681897" h="812800">
                  <a:moveTo>
                    <a:pt x="0" y="0"/>
                  </a:moveTo>
                  <a:lnTo>
                    <a:pt x="2681897" y="0"/>
                  </a:lnTo>
                  <a:lnTo>
                    <a:pt x="268189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E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681897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4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053849" y="4161989"/>
            <a:ext cx="10180302" cy="157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04"/>
              </a:lnSpc>
              <a:spcBef>
                <a:spcPct val="0"/>
              </a:spcBef>
            </a:pPr>
            <a:r>
              <a:rPr lang="en-US" sz="7780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PRÓXIMOS PASOS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9709155"/>
            <a:ext cx="2536026" cy="0"/>
          </a:xfrm>
          <a:prstGeom prst="line">
            <a:avLst/>
          </a:prstGeom>
          <a:ln w="47625" cap="flat">
            <a:solidFill>
              <a:srgbClr val="45B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3" name="AutoShape 3"/>
          <p:cNvSpPr/>
          <p:nvPr/>
        </p:nvSpPr>
        <p:spPr>
          <a:xfrm>
            <a:off x="7748321" y="9685343"/>
            <a:ext cx="2791357" cy="0"/>
          </a:xfrm>
          <a:prstGeom prst="line">
            <a:avLst/>
          </a:prstGeom>
          <a:ln w="47625" cap="flat">
            <a:solidFill>
              <a:srgbClr val="45B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4" name="Group 4"/>
          <p:cNvGrpSpPr/>
          <p:nvPr/>
        </p:nvGrpSpPr>
        <p:grpSpPr>
          <a:xfrm>
            <a:off x="6977091" y="2909582"/>
            <a:ext cx="4333817" cy="5292181"/>
            <a:chOff x="0" y="0"/>
            <a:chExt cx="1141417" cy="13938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41417" cy="1393825"/>
            </a:xfrm>
            <a:custGeom>
              <a:avLst/>
              <a:gdLst/>
              <a:ahLst/>
              <a:cxnLst/>
              <a:rect l="l" t="t" r="r" b="b"/>
              <a:pathLst>
                <a:path w="1141417" h="1393825">
                  <a:moveTo>
                    <a:pt x="48233" y="0"/>
                  </a:moveTo>
                  <a:lnTo>
                    <a:pt x="1093184" y="0"/>
                  </a:lnTo>
                  <a:cubicBezTo>
                    <a:pt x="1119822" y="0"/>
                    <a:pt x="1141417" y="21595"/>
                    <a:pt x="1141417" y="48233"/>
                  </a:cubicBezTo>
                  <a:lnTo>
                    <a:pt x="1141417" y="1345593"/>
                  </a:lnTo>
                  <a:cubicBezTo>
                    <a:pt x="1141417" y="1372231"/>
                    <a:pt x="1119822" y="1393825"/>
                    <a:pt x="1093184" y="1393825"/>
                  </a:cubicBezTo>
                  <a:lnTo>
                    <a:pt x="48233" y="1393825"/>
                  </a:lnTo>
                  <a:cubicBezTo>
                    <a:pt x="21595" y="1393825"/>
                    <a:pt x="0" y="1372231"/>
                    <a:pt x="0" y="1345593"/>
                  </a:cubicBezTo>
                  <a:lnTo>
                    <a:pt x="0" y="48233"/>
                  </a:lnTo>
                  <a:cubicBezTo>
                    <a:pt x="0" y="21595"/>
                    <a:pt x="21595" y="0"/>
                    <a:pt x="48233" y="0"/>
                  </a:cubicBezTo>
                  <a:close/>
                </a:path>
              </a:pathLst>
            </a:custGeom>
            <a:solidFill>
              <a:srgbClr val="45B9AD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141417" cy="1431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3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006715" y="2068438"/>
            <a:ext cx="2274570" cy="2274570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9" name="AutoShape 9"/>
          <p:cNvSpPr/>
          <p:nvPr/>
        </p:nvSpPr>
        <p:spPr>
          <a:xfrm flipV="1">
            <a:off x="14467943" y="9709155"/>
            <a:ext cx="2791357" cy="0"/>
          </a:xfrm>
          <a:prstGeom prst="line">
            <a:avLst/>
          </a:prstGeom>
          <a:ln w="47625" cap="flat">
            <a:solidFill>
              <a:srgbClr val="45B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10" name="Group 10"/>
          <p:cNvGrpSpPr/>
          <p:nvPr/>
        </p:nvGrpSpPr>
        <p:grpSpPr>
          <a:xfrm>
            <a:off x="1028700" y="2909582"/>
            <a:ext cx="4333817" cy="5292181"/>
            <a:chOff x="0" y="0"/>
            <a:chExt cx="1141417" cy="139382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41417" cy="1393825"/>
            </a:xfrm>
            <a:custGeom>
              <a:avLst/>
              <a:gdLst/>
              <a:ahLst/>
              <a:cxnLst/>
              <a:rect l="l" t="t" r="r" b="b"/>
              <a:pathLst>
                <a:path w="1141417" h="1393825">
                  <a:moveTo>
                    <a:pt x="48233" y="0"/>
                  </a:moveTo>
                  <a:lnTo>
                    <a:pt x="1093184" y="0"/>
                  </a:lnTo>
                  <a:cubicBezTo>
                    <a:pt x="1119822" y="0"/>
                    <a:pt x="1141417" y="21595"/>
                    <a:pt x="1141417" y="48233"/>
                  </a:cubicBezTo>
                  <a:lnTo>
                    <a:pt x="1141417" y="1345593"/>
                  </a:lnTo>
                  <a:cubicBezTo>
                    <a:pt x="1141417" y="1372231"/>
                    <a:pt x="1119822" y="1393825"/>
                    <a:pt x="1093184" y="1393825"/>
                  </a:cubicBezTo>
                  <a:lnTo>
                    <a:pt x="48233" y="1393825"/>
                  </a:lnTo>
                  <a:cubicBezTo>
                    <a:pt x="21595" y="1393825"/>
                    <a:pt x="0" y="1372231"/>
                    <a:pt x="0" y="1345593"/>
                  </a:cubicBezTo>
                  <a:lnTo>
                    <a:pt x="0" y="48233"/>
                  </a:lnTo>
                  <a:cubicBezTo>
                    <a:pt x="0" y="21595"/>
                    <a:pt x="21595" y="0"/>
                    <a:pt x="48233" y="0"/>
                  </a:cubicBezTo>
                  <a:close/>
                </a:path>
              </a:pathLst>
            </a:custGeom>
            <a:solidFill>
              <a:srgbClr val="45B9AD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141417" cy="1431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3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058324" y="2068438"/>
            <a:ext cx="2274570" cy="2274570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920691" y="2909582"/>
            <a:ext cx="4333817" cy="5292181"/>
            <a:chOff x="0" y="0"/>
            <a:chExt cx="1141417" cy="139382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41417" cy="1393825"/>
            </a:xfrm>
            <a:custGeom>
              <a:avLst/>
              <a:gdLst/>
              <a:ahLst/>
              <a:cxnLst/>
              <a:rect l="l" t="t" r="r" b="b"/>
              <a:pathLst>
                <a:path w="1141417" h="1393825">
                  <a:moveTo>
                    <a:pt x="48233" y="0"/>
                  </a:moveTo>
                  <a:lnTo>
                    <a:pt x="1093184" y="0"/>
                  </a:lnTo>
                  <a:cubicBezTo>
                    <a:pt x="1119822" y="0"/>
                    <a:pt x="1141417" y="21595"/>
                    <a:pt x="1141417" y="48233"/>
                  </a:cubicBezTo>
                  <a:lnTo>
                    <a:pt x="1141417" y="1345593"/>
                  </a:lnTo>
                  <a:cubicBezTo>
                    <a:pt x="1141417" y="1372231"/>
                    <a:pt x="1119822" y="1393825"/>
                    <a:pt x="1093184" y="1393825"/>
                  </a:cubicBezTo>
                  <a:lnTo>
                    <a:pt x="48233" y="1393825"/>
                  </a:lnTo>
                  <a:cubicBezTo>
                    <a:pt x="21595" y="1393825"/>
                    <a:pt x="0" y="1372231"/>
                    <a:pt x="0" y="1345593"/>
                  </a:cubicBezTo>
                  <a:lnTo>
                    <a:pt x="0" y="48233"/>
                  </a:lnTo>
                  <a:cubicBezTo>
                    <a:pt x="0" y="21595"/>
                    <a:pt x="21595" y="0"/>
                    <a:pt x="48233" y="0"/>
                  </a:cubicBezTo>
                  <a:close/>
                </a:path>
              </a:pathLst>
            </a:custGeom>
            <a:solidFill>
              <a:srgbClr val="45B9AD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141417" cy="1431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3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958859" y="2068438"/>
            <a:ext cx="2274570" cy="2274570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25396" y="575040"/>
            <a:ext cx="4226084" cy="859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91"/>
              </a:lnSpc>
              <a:spcBef>
                <a:spcPct val="0"/>
              </a:spcBef>
            </a:pPr>
            <a:r>
              <a:rPr lang="en-US" sz="5384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Reflexiones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42020" y="4525899"/>
            <a:ext cx="3107178" cy="421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28"/>
              </a:lnSpc>
              <a:spcBef>
                <a:spcPct val="0"/>
              </a:spcBef>
            </a:pPr>
            <a:r>
              <a:rPr lang="en-US" sz="26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Jesús Bustamante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626648" y="4525899"/>
            <a:ext cx="3107178" cy="421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28"/>
              </a:lnSpc>
              <a:spcBef>
                <a:spcPct val="0"/>
              </a:spcBef>
            </a:pPr>
            <a:r>
              <a:rPr lang="en-US" sz="26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Juakin Fredes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534011" y="4525899"/>
            <a:ext cx="3107178" cy="421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28"/>
              </a:lnSpc>
              <a:spcBef>
                <a:spcPct val="0"/>
              </a:spcBef>
            </a:pPr>
            <a:r>
              <a:rPr lang="en-US" sz="26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Antonia Sanhueza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135623" y="5118608"/>
            <a:ext cx="4011962" cy="245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1">
                <a:solidFill>
                  <a:srgbClr val="F8F8F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Considero que la solución propuesta entrega un gran valor al negocio, ya que le permite abrirse al mundo digital, agilizando sus procesos internos y mejorando su visibilidad en el mercado.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05345" y="5095875"/>
            <a:ext cx="3990571" cy="281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FE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Coordinar este proyecto bajo metodología ágil ha demostrado la importancia de alinear una arquitectura cloud  con las normativas del negocio, transformando requerimientos complejos en herramientas estables y confiables.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090163" y="5118608"/>
            <a:ext cx="4011962" cy="2101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1">
                <a:solidFill>
                  <a:srgbClr val="F8F8F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Diseñar esta plataforma me demostró lo importante que es entender el día a día de una constructora para crear herramientas que realmente les faciliten el trabajo.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50884" y="9186579"/>
            <a:ext cx="2536026" cy="0"/>
          </a:xfrm>
          <a:prstGeom prst="line">
            <a:avLst/>
          </a:prstGeom>
          <a:ln w="47625" cap="flat">
            <a:solidFill>
              <a:srgbClr val="45B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3" name="AutoShape 3"/>
          <p:cNvSpPr/>
          <p:nvPr/>
        </p:nvSpPr>
        <p:spPr>
          <a:xfrm flipV="1">
            <a:off x="7364639" y="9186579"/>
            <a:ext cx="2791357" cy="0"/>
          </a:xfrm>
          <a:prstGeom prst="line">
            <a:avLst/>
          </a:prstGeom>
          <a:ln w="47625" cap="flat">
            <a:solidFill>
              <a:srgbClr val="45B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1028700" y="1524910"/>
            <a:ext cx="785484" cy="747963"/>
          </a:xfrm>
          <a:custGeom>
            <a:avLst/>
            <a:gdLst/>
            <a:ahLst/>
            <a:cxnLst/>
            <a:rect l="l" t="t" r="r" b="b"/>
            <a:pathLst>
              <a:path w="785484" h="747963">
                <a:moveTo>
                  <a:pt x="0" y="0"/>
                </a:moveTo>
                <a:lnTo>
                  <a:pt x="785484" y="0"/>
                </a:lnTo>
                <a:lnTo>
                  <a:pt x="785484" y="747964"/>
                </a:lnTo>
                <a:lnTo>
                  <a:pt x="0" y="7479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5" name="Group 5"/>
          <p:cNvGrpSpPr/>
          <p:nvPr/>
        </p:nvGrpSpPr>
        <p:grpSpPr>
          <a:xfrm>
            <a:off x="9973029" y="6603388"/>
            <a:ext cx="648926" cy="648926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660306" y="0"/>
            <a:ext cx="5627694" cy="10287000"/>
            <a:chOff x="0" y="0"/>
            <a:chExt cx="1306207" cy="238764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06207" cy="2387647"/>
            </a:xfrm>
            <a:custGeom>
              <a:avLst/>
              <a:gdLst/>
              <a:ahLst/>
              <a:cxnLst/>
              <a:rect l="l" t="t" r="r" b="b"/>
              <a:pathLst>
                <a:path w="1306207" h="2387647">
                  <a:moveTo>
                    <a:pt x="0" y="0"/>
                  </a:moveTo>
                  <a:lnTo>
                    <a:pt x="1306207" y="0"/>
                  </a:lnTo>
                  <a:lnTo>
                    <a:pt x="1306207" y="2387647"/>
                  </a:lnTo>
                  <a:lnTo>
                    <a:pt x="0" y="2387647"/>
                  </a:lnTo>
                  <a:close/>
                </a:path>
              </a:pathLst>
            </a:custGeom>
            <a:solidFill>
              <a:srgbClr val="45B9A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306207" cy="2425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3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660306" y="0"/>
            <a:ext cx="5627694" cy="10287000"/>
            <a:chOff x="0" y="0"/>
            <a:chExt cx="871877" cy="159372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71877" cy="1593725"/>
            </a:xfrm>
            <a:custGeom>
              <a:avLst/>
              <a:gdLst/>
              <a:ahLst/>
              <a:cxnLst/>
              <a:rect l="l" t="t" r="r" b="b"/>
              <a:pathLst>
                <a:path w="871877" h="1593725">
                  <a:moveTo>
                    <a:pt x="0" y="0"/>
                  </a:moveTo>
                  <a:lnTo>
                    <a:pt x="871877" y="0"/>
                  </a:lnTo>
                  <a:lnTo>
                    <a:pt x="871877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3">
                <a:alphaModFix amt="31000"/>
              </a:blip>
              <a:stretch>
                <a:fillRect l="-26686" r="-147501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843777" y="1524910"/>
            <a:ext cx="7542386" cy="7542386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32024" r="-17975"/>
              </a:stretch>
            </a:blipFill>
            <a:ln w="3810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5" name="Freeform 15"/>
          <p:cNvSpPr/>
          <p:nvPr/>
        </p:nvSpPr>
        <p:spPr>
          <a:xfrm>
            <a:off x="1050884" y="1407459"/>
            <a:ext cx="718572" cy="698509"/>
          </a:xfrm>
          <a:custGeom>
            <a:avLst/>
            <a:gdLst/>
            <a:ahLst/>
            <a:cxnLst/>
            <a:rect l="l" t="t" r="r" b="b"/>
            <a:pathLst>
              <a:path w="718572" h="698509">
                <a:moveTo>
                  <a:pt x="0" y="0"/>
                </a:moveTo>
                <a:lnTo>
                  <a:pt x="718573" y="0"/>
                </a:lnTo>
                <a:lnTo>
                  <a:pt x="718573" y="698509"/>
                </a:lnTo>
                <a:lnTo>
                  <a:pt x="0" y="6985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Box 16"/>
          <p:cNvSpPr txBox="1"/>
          <p:nvPr/>
        </p:nvSpPr>
        <p:spPr>
          <a:xfrm>
            <a:off x="557666" y="4163445"/>
            <a:ext cx="8140264" cy="1569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04"/>
              </a:lnSpc>
              <a:spcBef>
                <a:spcPct val="0"/>
              </a:spcBef>
            </a:pPr>
            <a:r>
              <a:rPr lang="en-US" sz="7780" b="1" u="none" strike="noStrike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Muchas 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1437</Words>
  <Application>Microsoft Office PowerPoint</Application>
  <PresentationFormat>Personalizado</PresentationFormat>
  <Paragraphs>228</Paragraphs>
  <Slides>34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34</vt:i4>
      </vt:variant>
    </vt:vector>
  </HeadingPairs>
  <TitlesOfParts>
    <vt:vector size="41" baseType="lpstr">
      <vt:lpstr>Calibri</vt:lpstr>
      <vt:lpstr>Gotham Bold</vt:lpstr>
      <vt:lpstr>Arial</vt:lpstr>
      <vt:lpstr>Open Sans</vt:lpstr>
      <vt:lpstr>Open Sans Bold</vt:lpstr>
      <vt:lpstr>Gotham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Contratista en Construccion Carlos Álvarez</dc:title>
  <cp:lastModifiedBy>Jesús Ignacio Bustamante Sandoval</cp:lastModifiedBy>
  <cp:revision>3</cp:revision>
  <dcterms:created xsi:type="dcterms:W3CDTF">2006-08-16T00:00:00Z</dcterms:created>
  <dcterms:modified xsi:type="dcterms:W3CDTF">2026-10-20T01:49:50Z</dcterms:modified>
  <dc:identifier>DAHTI6Jq8q0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2026-10-20T01:47:34Z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50fe7fd7-4e4e-4f3b-8eac-fd83215d8129</vt:lpwstr>
  </property>
  <property fmtid="{D5CDD505-2E9C-101B-9397-08002B2CF9AE}" pid="7" name="MSIP_Label_defa4170-0d19-0005-0004-bc88714345d2_ActionId">
    <vt:lpwstr>b902d65b-f658-4e0d-840e-2b4c9241e7da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